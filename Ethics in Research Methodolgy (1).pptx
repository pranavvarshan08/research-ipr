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gNMu8Z5UVRYHwtx4H7MDbyYQEu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864" y="-1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2302234"/>
            <a:ext cx="9144000" cy="1148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9552"/>
              <a:buFont typeface="Times New Roman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6700" dirty="0">
                <a:latin typeface="Times New Roman"/>
                <a:ea typeface="Times New Roman"/>
                <a:cs typeface="Times New Roman"/>
                <a:sym typeface="Times New Roman"/>
              </a:rPr>
              <a:t>Unit </a:t>
            </a:r>
            <a:r>
              <a:rPr lang="en-US" sz="6700" dirty="0" smtClean="0"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-US" sz="670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67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6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63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</a:pPr>
            <a:r>
              <a:rPr lang="en-US" sz="4500">
                <a:latin typeface="Times New Roman"/>
                <a:ea typeface="Times New Roman"/>
                <a:cs typeface="Times New Roman"/>
                <a:sym typeface="Times New Roman"/>
              </a:rPr>
              <a:t>Research Ethics</a:t>
            </a:r>
            <a:endParaRPr sz="4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62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Ethical considerations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Ethical considerations in research are a set of principles that guide your research designs and practices.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Scientists and researchers must always adhere to a certain code of conduct when collecting data from people.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goals of human research often include understanding real-life phenomena, studying effective treatments, investigating behaviors, and improving lives in other ways.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These considerations work to</a:t>
            </a:r>
            <a:endParaRPr/>
          </a:p>
          <a:p>
            <a:pPr marL="855663" lvl="0" indent="-39846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protect the rights of research participants</a:t>
            </a:r>
            <a:endParaRPr/>
          </a:p>
          <a:p>
            <a:pPr marL="855663" lvl="0" indent="-39846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enhance research validity</a:t>
            </a:r>
            <a:endParaRPr/>
          </a:p>
          <a:p>
            <a:pPr marL="855663" lvl="0" indent="-39846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maintain scientific integrity</a:t>
            </a:r>
            <a:endParaRPr/>
          </a:p>
          <a:p>
            <a:pPr marL="228600" lvl="0" indent="-6413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741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Why do research ethics matter?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838200" y="1268361"/>
            <a:ext cx="10515600" cy="4908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Research ethics matter for scientific integrity, human rights and dignity, and collaboration between science and society.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It’s always necessary to prevent permanent or excessive harm to participants, whether inadvertent or not.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Defying research ethics will also lower the credibility of your research because it’s hard for others to trust your data if your methods are morally questionable.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Even if a research idea is valuable to society, it doesn’t justify violating the human rights or dignity of your study participants.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741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Getting ethical approval for your study</a:t>
            </a:r>
            <a:endParaRPr/>
          </a:p>
        </p:txBody>
      </p:sp>
      <p:sp>
        <p:nvSpPr>
          <p:cNvPr id="103" name="Google Shape;103;p4"/>
          <p:cNvSpPr txBox="1">
            <a:spLocks noGrp="1"/>
          </p:cNvSpPr>
          <p:nvPr>
            <p:ph type="body" idx="1"/>
          </p:nvPr>
        </p:nvSpPr>
        <p:spPr>
          <a:xfrm>
            <a:off x="838200" y="1268361"/>
            <a:ext cx="10515600" cy="4908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Before you start any study involving data collection with people, you’ll submit your research proposal to an 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institutional review board (IRB)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An IRB is a committee that checks whether your research aims and research design are ethically acceptable and follow code of conduct. 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They check that your research materials and procedures are up to code.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If successful, you’ll receive IRB approval, and you can begin collecting data according to the approved procedures.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If you want to make any changes to your procedures or materials, you’ll need to submit a modification application to the IRB for approval.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741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Getting ethical approval for your study</a:t>
            </a:r>
            <a:endParaRPr/>
          </a:p>
        </p:txBody>
      </p:sp>
      <p:sp>
        <p:nvSpPr>
          <p:cNvPr id="109" name="Google Shape;109;p5"/>
          <p:cNvSpPr txBox="1">
            <a:spLocks noGrp="1"/>
          </p:cNvSpPr>
          <p:nvPr>
            <p:ph type="body" idx="1"/>
          </p:nvPr>
        </p:nvSpPr>
        <p:spPr>
          <a:xfrm>
            <a:off x="838200" y="1268361"/>
            <a:ext cx="10515600" cy="4908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unsuccessful, you may be asked to re-submit with modifications or your research proposal may receive a rejection. 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get IRB approval, it’s important to explicitly note how you’ll tackle each of the ethical issues that may arise in your study.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741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Types of ethical issues</a:t>
            </a:r>
            <a:endParaRPr/>
          </a:p>
        </p:txBody>
      </p:sp>
      <p:sp>
        <p:nvSpPr>
          <p:cNvPr id="115" name="Google Shape;115;p6"/>
          <p:cNvSpPr txBox="1">
            <a:spLocks noGrp="1"/>
          </p:cNvSpPr>
          <p:nvPr>
            <p:ph type="body" idx="1"/>
          </p:nvPr>
        </p:nvSpPr>
        <p:spPr>
          <a:xfrm>
            <a:off x="838200" y="1268361"/>
            <a:ext cx="10515600" cy="4908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There are several ethical issues you should always pay attention to in your research design, and these issues can overlap with each other.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Various ethical issues in collecting data from participants </a:t>
            </a:r>
            <a:endParaRPr/>
          </a:p>
          <a:p>
            <a:pPr marL="973138" lvl="0" indent="-39846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Voluntary participation</a:t>
            </a:r>
            <a:endParaRPr/>
          </a:p>
          <a:p>
            <a:pPr marL="973138" lvl="0" indent="-39846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Informed consent</a:t>
            </a:r>
            <a:endParaRPr/>
          </a:p>
          <a:p>
            <a:pPr marL="973138" lvl="0" indent="-39846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Anonymity</a:t>
            </a:r>
            <a:endParaRPr/>
          </a:p>
          <a:p>
            <a:pPr marL="973138" lvl="0" indent="-39846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Confidentiality</a:t>
            </a:r>
            <a:endParaRPr/>
          </a:p>
          <a:p>
            <a:pPr marL="973138" lvl="0" indent="-39846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Potential for harm</a:t>
            </a:r>
            <a:endParaRPr/>
          </a:p>
          <a:p>
            <a:pPr marL="973138" lvl="0" indent="-39846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Results communication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741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574675" lvl="0" indent="-39846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Voluntary participation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7"/>
          <p:cNvSpPr txBox="1">
            <a:spLocks noGrp="1"/>
          </p:cNvSpPr>
          <p:nvPr>
            <p:ph type="body" idx="1"/>
          </p:nvPr>
        </p:nvSpPr>
        <p:spPr>
          <a:xfrm>
            <a:off x="838200" y="1268361"/>
            <a:ext cx="10515600" cy="4908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All research subjects are free to choose to participate without any pressure or coercion.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All participants are able to withdraw from, or leave, the study at any point without feeling an obligation to continue. 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Your participants don’t need to provide a reason for leaving the study.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It’s important to make it clear to participants that there are no negative consequences to their refusal to participate.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741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Informed consent</a:t>
            </a:r>
            <a:endParaRPr/>
          </a:p>
        </p:txBody>
      </p:sp>
      <p:sp>
        <p:nvSpPr>
          <p:cNvPr id="127" name="Google Shape;127;p8"/>
          <p:cNvSpPr txBox="1">
            <a:spLocks noGrp="1"/>
          </p:cNvSpPr>
          <p:nvPr>
            <p:ph type="body" idx="1"/>
          </p:nvPr>
        </p:nvSpPr>
        <p:spPr>
          <a:xfrm>
            <a:off x="838200" y="1268361"/>
            <a:ext cx="10515600" cy="4908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Informed consent refers to a situation in which all potential participants receive and understand all the information they need to decide whether they want to participate. 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This includes information about the study’s benefits, risks, funding, and institutional approval.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Usually, you’ll provide participants with a text for them to read and ask them if they have any questions. If they agree to participate, they can sign or initial the consent form. 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If you’re collecting data from people with low literacy, make sure to verbally explain them before they agree to participate.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 research with children, you’ll often need informed permission for their participation from their parents or guardians.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741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/>
              <a:t>Anonymity</a:t>
            </a:r>
            <a:r>
              <a:rPr lang="en-US" sz="2800"/>
              <a:t> </a:t>
            </a:r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body" idx="1"/>
          </p:nvPr>
        </p:nvSpPr>
        <p:spPr>
          <a:xfrm>
            <a:off x="838200" y="1268361"/>
            <a:ext cx="10515600" cy="4908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Anonymity</a:t>
            </a:r>
            <a:r>
              <a:rPr lang="en-US"/>
              <a:t> means that you don’t know who the participants are and you can’t link any individual participant to their data.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You can only guarantee anonymity by </a:t>
            </a:r>
            <a:r>
              <a:rPr lang="en-US" b="1"/>
              <a:t>not</a:t>
            </a:r>
            <a:r>
              <a:rPr lang="en-US"/>
              <a:t> collecting any personally identifying information—for example, names, phone numbers, email addresses, IP addresses, physical characteristics, photos, and videos.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many cases, it may be impossible to truly anonymize data collection. 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example, data collected in person by phone cannot be considered fully anonymous because some personal identifiers (demographic information or phone numbers) are impossible to hide.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741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Confidentiality</a:t>
            </a:r>
            <a:endParaRPr/>
          </a:p>
        </p:txBody>
      </p:sp>
      <p:sp>
        <p:nvSpPr>
          <p:cNvPr id="139" name="Google Shape;139;p10"/>
          <p:cNvSpPr txBox="1">
            <a:spLocks noGrp="1"/>
          </p:cNvSpPr>
          <p:nvPr>
            <p:ph type="body" idx="1"/>
          </p:nvPr>
        </p:nvSpPr>
        <p:spPr>
          <a:xfrm>
            <a:off x="838200" y="1268361"/>
            <a:ext cx="10515600" cy="4908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Confidentiality means that you know who the participants are, but you remove all identifying information from your report.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All participants have a right to privacy, so you should protect their personal data for as long as you store or use it.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Even when you can’t collect data anonymously, you should secure confidentiality whenever you can.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Some research designs aren’t conducive to confidentiality, but it’s important to inform participants of the risks involved.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741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Potential for harm</a:t>
            </a:r>
            <a:endParaRPr/>
          </a:p>
        </p:txBody>
      </p:sp>
      <p:sp>
        <p:nvSpPr>
          <p:cNvPr id="145" name="Google Shape;145;p11"/>
          <p:cNvSpPr txBox="1">
            <a:spLocks noGrp="1"/>
          </p:cNvSpPr>
          <p:nvPr>
            <p:ph type="body" idx="1"/>
          </p:nvPr>
        </p:nvSpPr>
        <p:spPr>
          <a:xfrm>
            <a:off x="838200" y="1268361"/>
            <a:ext cx="10515600" cy="4908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As a researcher, you have to consider all possible sources of harm to participants. Harm can come in many different forms.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b="1"/>
              <a:t>Psychological harm:</a:t>
            </a:r>
            <a:r>
              <a:rPr lang="en-US"/>
              <a:t> 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	Sensitive questions or tasks may trigger negative emotions such as shame or anxiety.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b="1"/>
              <a:t>Social harm:</a:t>
            </a:r>
            <a:r>
              <a:rPr lang="en-US"/>
              <a:t> 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	Participation can involve social risks, public embarrassment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US" b="1"/>
              <a:t>Physical harm:</a:t>
            </a:r>
            <a:r>
              <a:rPr lang="en-US"/>
              <a:t> 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Pain or injury can result from the study procedures.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b="1"/>
              <a:t>Legal harm:</a:t>
            </a:r>
            <a:r>
              <a:rPr lang="en-US"/>
              <a:t> 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	Reporting sensitive data could lead to legal risks or a breach of privacy.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741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Potential for harm</a:t>
            </a:r>
            <a:endParaRPr/>
          </a:p>
        </p:txBody>
      </p:sp>
      <p:sp>
        <p:nvSpPr>
          <p:cNvPr id="151" name="Google Shape;151;p12"/>
          <p:cNvSpPr txBox="1">
            <a:spLocks noGrp="1"/>
          </p:cNvSpPr>
          <p:nvPr>
            <p:ph type="body" idx="1"/>
          </p:nvPr>
        </p:nvSpPr>
        <p:spPr>
          <a:xfrm>
            <a:off x="838200" y="1268361"/>
            <a:ext cx="10515600" cy="4908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It’s best to consider every possible source of harm in your study as well as concrete ways to mitigate them.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Involve your supervisor to discuss steps for harm reduction.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Make sure to disclose all possible risks of harm to participants before the study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741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Results communication</a:t>
            </a:r>
            <a:endParaRPr/>
          </a:p>
        </p:txBody>
      </p:sp>
      <p:sp>
        <p:nvSpPr>
          <p:cNvPr id="157" name="Google Shape;157;p13"/>
          <p:cNvSpPr txBox="1">
            <a:spLocks noGrp="1"/>
          </p:cNvSpPr>
          <p:nvPr>
            <p:ph type="body" idx="1"/>
          </p:nvPr>
        </p:nvSpPr>
        <p:spPr>
          <a:xfrm>
            <a:off x="838200" y="1268361"/>
            <a:ext cx="10515600" cy="4908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way you communicate your research results can sometimes involve ethical issues.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Good science communication is honest, reliable, and credible.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It’s best to make your results as transparent as possible.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Take steps to actively avoid plagiarism and research misconduct wherever possible.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502</Words>
  <PresentationFormat>Custom</PresentationFormat>
  <Paragraphs>73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 Unit 3  </vt:lpstr>
      <vt:lpstr>Ethical considerations</vt:lpstr>
      <vt:lpstr>Why do research ethics matter?</vt:lpstr>
      <vt:lpstr>Getting ethical approval for your study</vt:lpstr>
      <vt:lpstr>Getting ethical approval for your study</vt:lpstr>
      <vt:lpstr>Types of ethical issues</vt:lpstr>
      <vt:lpstr>Voluntary participation</vt:lpstr>
      <vt:lpstr>Informed consent</vt:lpstr>
      <vt:lpstr>Anonymity </vt:lpstr>
      <vt:lpstr>Confidentiality</vt:lpstr>
      <vt:lpstr>Potential for harm</vt:lpstr>
      <vt:lpstr>Potential for harm</vt:lpstr>
      <vt:lpstr>Results communication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Unit 3  </dc:title>
  <dc:creator>ArumugaArun R</dc:creator>
  <cp:lastModifiedBy>A</cp:lastModifiedBy>
  <cp:revision>1</cp:revision>
  <dcterms:created xsi:type="dcterms:W3CDTF">2022-03-22T17:07:01Z</dcterms:created>
  <dcterms:modified xsi:type="dcterms:W3CDTF">2025-10-28T09:50:55Z</dcterms:modified>
</cp:coreProperties>
</file>