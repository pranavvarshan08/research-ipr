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97" r:id="rId2"/>
    <p:sldId id="261" r:id="rId3"/>
    <p:sldId id="262" r:id="rId4"/>
    <p:sldId id="263" r:id="rId5"/>
    <p:sldId id="291" r:id="rId6"/>
    <p:sldId id="292" r:id="rId7"/>
    <p:sldId id="293" r:id="rId8"/>
    <p:sldId id="294" r:id="rId9"/>
    <p:sldId id="295" r:id="rId10"/>
    <p:sldId id="271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273" r:id="rId19"/>
    <p:sldId id="275" r:id="rId20"/>
    <p:sldId id="299" r:id="rId21"/>
    <p:sldId id="276" r:id="rId22"/>
    <p:sldId id="277" r:id="rId23"/>
    <p:sldId id="278" r:id="rId24"/>
    <p:sldId id="280" r:id="rId25"/>
    <p:sldId id="281" r:id="rId26"/>
    <p:sldId id="282" r:id="rId27"/>
    <p:sldId id="300" r:id="rId28"/>
    <p:sldId id="301" r:id="rId29"/>
    <p:sldId id="283" r:id="rId30"/>
    <p:sldId id="284" r:id="rId31"/>
    <p:sldId id="302" r:id="rId32"/>
    <p:sldId id="285" r:id="rId33"/>
    <p:sldId id="286" r:id="rId34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929">
          <p15:clr>
            <a:srgbClr val="A4A3A4"/>
          </p15:clr>
        </p15:guide>
        <p15:guide id="2" pos="510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99B"/>
    <a:srgbClr val="008000"/>
    <a:srgbClr val="9D0A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88" autoAdjust="0"/>
    <p:restoredTop sz="94660"/>
  </p:normalViewPr>
  <p:slideViewPr>
    <p:cSldViewPr>
      <p:cViewPr varScale="1">
        <p:scale>
          <a:sx n="82" d="100"/>
          <a:sy n="82" d="100"/>
        </p:scale>
        <p:origin x="1734" y="96"/>
      </p:cViewPr>
      <p:guideLst>
        <p:guide orient="horz" pos="3929"/>
        <p:guide pos="51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7" d="100"/>
          <a:sy n="77" d="100"/>
        </p:scale>
        <p:origin x="-2094" y="-9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hPercent val="60"/>
      <c:rotY val="20"/>
      <c:depthPercent val="80"/>
      <c:rAngAx val="1"/>
    </c:view3D>
    <c:floor>
      <c:thickness val="0"/>
      <c:spPr>
        <a:solidFill>
          <a:srgbClr val="C0C0C0"/>
        </a:solidFill>
        <a:ln w="3175">
          <a:solidFill>
            <a:schemeClr val="tx1"/>
          </a:solidFill>
          <a:prstDash val="solid"/>
        </a:ln>
      </c:spPr>
    </c:floor>
    <c:sideWall>
      <c:thickness val="0"/>
      <c:spPr>
        <a:scene3d>
          <a:camera prst="orthographicFront"/>
          <a:lightRig rig="threePt" dir="t"/>
        </a:scene3d>
        <a:sp3d>
          <a:bevelT h="6350"/>
        </a:sp3d>
      </c:spPr>
    </c:sideWall>
    <c:backWall>
      <c:thickness val="0"/>
      <c:spPr>
        <a:scene3d>
          <a:camera prst="orthographicFront"/>
          <a:lightRig rig="threePt" dir="t"/>
        </a:scene3d>
        <a:sp3d>
          <a:bevelT h="6350"/>
        </a:sp3d>
      </c:spPr>
    </c:backWall>
    <c:plotArea>
      <c:layout>
        <c:manualLayout>
          <c:layoutTarget val="inner"/>
          <c:xMode val="edge"/>
          <c:yMode val="edge"/>
          <c:x val="7.4809954311266649E-2"/>
          <c:y val="1.9350666505855266E-2"/>
          <c:w val="0.88346456692913389"/>
          <c:h val="0.74720357941834448"/>
        </c:manualLayout>
      </c:layout>
      <c:bar3DChart>
        <c:barDir val="col"/>
        <c:grouping val="standard"/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Filings by year</c:v>
                </c:pt>
              </c:strCache>
            </c:strRef>
          </c:tx>
          <c:spPr>
            <a:solidFill>
              <a:schemeClr val="accent1"/>
            </a:solidFill>
            <a:ln w="32490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C00-4873-B5B9-0E4F3F7F7E0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02-CC00-4873-B5B9-0E4F3F7F7E0B}"/>
              </c:ext>
            </c:extLst>
          </c:dPt>
          <c:dPt>
            <c:idx val="2"/>
            <c:invertIfNegative val="0"/>
            <c:bubble3D val="0"/>
            <c:spPr>
              <a:solidFill>
                <a:schemeClr val="hlink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04-CC00-4873-B5B9-0E4F3F7F7E0B}"/>
              </c:ext>
            </c:extLst>
          </c:dPt>
          <c:dPt>
            <c:idx val="3"/>
            <c:invertIfNegative val="0"/>
            <c:bubble3D val="0"/>
            <c:spPr>
              <a:solidFill>
                <a:schemeClr val="folHlink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06-CC00-4873-B5B9-0E4F3F7F7E0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08-CC00-4873-B5B9-0E4F3F7F7E0B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0A-CC00-4873-B5B9-0E4F3F7F7E0B}"/>
              </c:ext>
            </c:extLst>
          </c:dPt>
          <c:dPt>
            <c:idx val="6"/>
            <c:invertIfNegative val="0"/>
            <c:bubble3D val="0"/>
            <c:spPr>
              <a:solidFill>
                <a:srgbClr val="0066CC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0C-CC00-4873-B5B9-0E4F3F7F7E0B}"/>
              </c:ext>
            </c:extLst>
          </c:dPt>
          <c:dPt>
            <c:idx val="7"/>
            <c:invertIfNegative val="0"/>
            <c:bubble3D val="0"/>
            <c:spPr>
              <a:solidFill>
                <a:srgbClr val="CCCC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0E-CC00-4873-B5B9-0E4F3F7F7E0B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10-CC00-4873-B5B9-0E4F3F7F7E0B}"/>
              </c:ext>
            </c:extLst>
          </c:dPt>
          <c:dPt>
            <c:idx val="9"/>
            <c:invertIfNegative val="0"/>
            <c:bubble3D val="0"/>
            <c:spPr>
              <a:solidFill>
                <a:srgbClr val="FFFF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12-CC00-4873-B5B9-0E4F3F7F7E0B}"/>
              </c:ext>
            </c:extLst>
          </c:dPt>
          <c:dPt>
            <c:idx val="10"/>
            <c:invertIfNegative val="0"/>
            <c:bubble3D val="0"/>
            <c:spPr>
              <a:solidFill>
                <a:srgbClr val="00FF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14-CC00-4873-B5B9-0E4F3F7F7E0B}"/>
              </c:ext>
            </c:extLst>
          </c:dPt>
          <c:dPt>
            <c:idx val="11"/>
            <c:invertIfNegative val="0"/>
            <c:bubble3D val="0"/>
            <c:spPr>
              <a:solidFill>
                <a:srgbClr val="00FF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16-CC00-4873-B5B9-0E4F3F7F7E0B}"/>
              </c:ext>
            </c:extLst>
          </c:dPt>
          <c:dPt>
            <c:idx val="12"/>
            <c:invertIfNegative val="0"/>
            <c:bubble3D val="0"/>
            <c:spPr>
              <a:solidFill>
                <a:srgbClr val="0000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18-CC00-4873-B5B9-0E4F3F7F7E0B}"/>
              </c:ext>
            </c:extLst>
          </c:dPt>
          <c:dPt>
            <c:idx val="13"/>
            <c:invertIfNegative val="0"/>
            <c:bubble3D val="0"/>
            <c:spPr>
              <a:solidFill>
                <a:srgbClr val="FF00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1A-CC00-4873-B5B9-0E4F3F7F7E0B}"/>
              </c:ext>
            </c:extLst>
          </c:dPt>
          <c:dPt>
            <c:idx val="14"/>
            <c:invertIfNegative val="0"/>
            <c:bubble3D val="0"/>
            <c:spPr>
              <a:solidFill>
                <a:srgbClr val="00808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1C-CC00-4873-B5B9-0E4F3F7F7E0B}"/>
              </c:ext>
            </c:extLst>
          </c:dPt>
          <c:dPt>
            <c:idx val="15"/>
            <c:invertIfNegative val="0"/>
            <c:bubble3D val="0"/>
            <c:spPr>
              <a:solidFill>
                <a:srgbClr val="0000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1E-CC00-4873-B5B9-0E4F3F7F7E0B}"/>
              </c:ext>
            </c:extLst>
          </c:dPt>
          <c:dPt>
            <c:idx val="16"/>
            <c:invertIfNegative val="0"/>
            <c:bubble3D val="0"/>
            <c:spPr>
              <a:solidFill>
                <a:srgbClr val="00CC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20-CC00-4873-B5B9-0E4F3F7F7E0B}"/>
              </c:ext>
            </c:extLst>
          </c:dPt>
          <c:dPt>
            <c:idx val="17"/>
            <c:invertIfNegative val="0"/>
            <c:bubble3D val="0"/>
            <c:spPr>
              <a:solidFill>
                <a:srgbClr val="CCFF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22-CC00-4873-B5B9-0E4F3F7F7E0B}"/>
              </c:ext>
            </c:extLst>
          </c:dPt>
          <c:dPt>
            <c:idx val="18"/>
            <c:invertIfNegative val="0"/>
            <c:bubble3D val="0"/>
            <c:spPr>
              <a:solidFill>
                <a:srgbClr val="CCFFCC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24-CC00-4873-B5B9-0E4F3F7F7E0B}"/>
              </c:ext>
            </c:extLst>
          </c:dPt>
          <c:dPt>
            <c:idx val="19"/>
            <c:invertIfNegative val="0"/>
            <c:bubble3D val="0"/>
            <c:spPr>
              <a:solidFill>
                <a:srgbClr val="FFFF99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26-CC00-4873-B5B9-0E4F3F7F7E0B}"/>
              </c:ext>
            </c:extLst>
          </c:dPt>
          <c:dPt>
            <c:idx val="20"/>
            <c:invertIfNegative val="0"/>
            <c:bubble3D val="0"/>
            <c:spPr>
              <a:solidFill>
                <a:srgbClr val="99CC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28-CC00-4873-B5B9-0E4F3F7F7E0B}"/>
              </c:ext>
            </c:extLst>
          </c:dPt>
          <c:dPt>
            <c:idx val="21"/>
            <c:invertIfNegative val="0"/>
            <c:bubble3D val="0"/>
            <c:spPr>
              <a:solidFill>
                <a:srgbClr val="FF99CC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2A-CC00-4873-B5B9-0E4F3F7F7E0B}"/>
              </c:ext>
            </c:extLst>
          </c:dPt>
          <c:dPt>
            <c:idx val="22"/>
            <c:invertIfNegative val="0"/>
            <c:bubble3D val="0"/>
            <c:spPr>
              <a:solidFill>
                <a:srgbClr val="CC99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2C-CC00-4873-B5B9-0E4F3F7F7E0B}"/>
              </c:ext>
            </c:extLst>
          </c:dPt>
          <c:dPt>
            <c:idx val="23"/>
            <c:invertIfNegative val="0"/>
            <c:bubble3D val="0"/>
            <c:spPr>
              <a:solidFill>
                <a:srgbClr val="FFCC99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2E-CC00-4873-B5B9-0E4F3F7F7E0B}"/>
              </c:ext>
            </c:extLst>
          </c:dPt>
          <c:dPt>
            <c:idx val="24"/>
            <c:invertIfNegative val="0"/>
            <c:bubble3D val="0"/>
            <c:spPr>
              <a:solidFill>
                <a:srgbClr val="3366FF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30-CC00-4873-B5B9-0E4F3F7F7E0B}"/>
              </c:ext>
            </c:extLst>
          </c:dPt>
          <c:dPt>
            <c:idx val="25"/>
            <c:invertIfNegative val="0"/>
            <c:bubble3D val="0"/>
            <c:spPr>
              <a:solidFill>
                <a:srgbClr val="33CCCC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32-CC00-4873-B5B9-0E4F3F7F7E0B}"/>
              </c:ext>
            </c:extLst>
          </c:dPt>
          <c:dPt>
            <c:idx val="26"/>
            <c:invertIfNegative val="0"/>
            <c:bubble3D val="0"/>
            <c:spPr>
              <a:solidFill>
                <a:srgbClr val="99CC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34-CC00-4873-B5B9-0E4F3F7F7E0B}"/>
              </c:ext>
            </c:extLst>
          </c:dPt>
          <c:dPt>
            <c:idx val="27"/>
            <c:invertIfNegative val="0"/>
            <c:bubble3D val="0"/>
            <c:spPr>
              <a:solidFill>
                <a:srgbClr val="FFCC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36-CC00-4873-B5B9-0E4F3F7F7E0B}"/>
              </c:ext>
            </c:extLst>
          </c:dPt>
          <c:dPt>
            <c:idx val="28"/>
            <c:invertIfNegative val="0"/>
            <c:bubble3D val="0"/>
            <c:spPr>
              <a:solidFill>
                <a:srgbClr val="FF99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38-CC00-4873-B5B9-0E4F3F7F7E0B}"/>
              </c:ext>
            </c:extLst>
          </c:dPt>
          <c:dPt>
            <c:idx val="29"/>
            <c:invertIfNegative val="0"/>
            <c:bubble3D val="0"/>
            <c:spPr>
              <a:solidFill>
                <a:srgbClr val="FF66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3A-CC00-4873-B5B9-0E4F3F7F7E0B}"/>
              </c:ext>
            </c:extLst>
          </c:dPt>
          <c:dPt>
            <c:idx val="30"/>
            <c:invertIfNegative val="0"/>
            <c:bubble3D val="0"/>
            <c:spPr>
              <a:solidFill>
                <a:srgbClr val="666699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3C-CC00-4873-B5B9-0E4F3F7F7E0B}"/>
              </c:ext>
            </c:extLst>
          </c:dPt>
          <c:dPt>
            <c:idx val="31"/>
            <c:invertIfNegative val="0"/>
            <c:bubble3D val="0"/>
            <c:spPr>
              <a:solidFill>
                <a:srgbClr val="969696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3E-CC00-4873-B5B9-0E4F3F7F7E0B}"/>
              </c:ext>
            </c:extLst>
          </c:dPt>
          <c:dPt>
            <c:idx val="32"/>
            <c:invertIfNegative val="0"/>
            <c:bubble3D val="0"/>
            <c:spPr>
              <a:solidFill>
                <a:srgbClr val="003366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40-CC00-4873-B5B9-0E4F3F7F7E0B}"/>
              </c:ext>
            </c:extLst>
          </c:dPt>
          <c:dPt>
            <c:idx val="33"/>
            <c:invertIfNegative val="0"/>
            <c:bubble3D val="0"/>
            <c:spPr>
              <a:solidFill>
                <a:srgbClr val="339966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42-CC00-4873-B5B9-0E4F3F7F7E0B}"/>
              </c:ext>
            </c:extLst>
          </c:dPt>
          <c:dPt>
            <c:idx val="34"/>
            <c:invertIfNegative val="0"/>
            <c:bubble3D val="0"/>
            <c:spPr>
              <a:solidFill>
                <a:srgbClr val="0033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44-CC00-4873-B5B9-0E4F3F7F7E0B}"/>
              </c:ext>
            </c:extLst>
          </c:dPt>
          <c:dPt>
            <c:idx val="35"/>
            <c:invertIfNegative val="0"/>
            <c:bubble3D val="0"/>
            <c:spPr>
              <a:solidFill>
                <a:srgbClr val="333300"/>
              </a:solidFill>
              <a:ln w="32490">
                <a:noFill/>
              </a:ln>
            </c:spPr>
            <c:extLst>
              <c:ext xmlns:c16="http://schemas.microsoft.com/office/drawing/2014/chart" uri="{C3380CC4-5D6E-409C-BE32-E72D297353CC}">
                <c16:uniqueId val="{00000046-CC00-4873-B5B9-0E4F3F7F7E0B}"/>
              </c:ext>
            </c:extLst>
          </c:dPt>
          <c:cat>
            <c:strRef>
              <c:f>Sheet1!$B$1:$AL$1</c:f>
              <c:strCache>
                <c:ptCount val="37"/>
                <c:pt idx="0">
                  <c:v>78</c:v>
                </c:pt>
                <c:pt idx="1">
                  <c:v>79</c:v>
                </c:pt>
                <c:pt idx="2">
                  <c:v>80</c:v>
                </c:pt>
                <c:pt idx="3">
                  <c:v>81</c:v>
                </c:pt>
                <c:pt idx="4">
                  <c:v>82</c:v>
                </c:pt>
                <c:pt idx="5">
                  <c:v>83</c:v>
                </c:pt>
                <c:pt idx="6">
                  <c:v>84</c:v>
                </c:pt>
                <c:pt idx="7">
                  <c:v>85</c:v>
                </c:pt>
                <c:pt idx="8">
                  <c:v>86</c:v>
                </c:pt>
                <c:pt idx="9">
                  <c:v>87</c:v>
                </c:pt>
                <c:pt idx="10">
                  <c:v>88</c:v>
                </c:pt>
                <c:pt idx="11">
                  <c:v>89</c:v>
                </c:pt>
                <c:pt idx="12">
                  <c:v>90</c:v>
                </c:pt>
                <c:pt idx="13">
                  <c:v>91</c:v>
                </c:pt>
                <c:pt idx="14">
                  <c:v>92</c:v>
                </c:pt>
                <c:pt idx="15">
                  <c:v>93</c:v>
                </c:pt>
                <c:pt idx="16">
                  <c:v>94</c:v>
                </c:pt>
                <c:pt idx="17">
                  <c:v>95</c:v>
                </c:pt>
                <c:pt idx="18">
                  <c:v>96</c:v>
                </c:pt>
                <c:pt idx="19">
                  <c:v>97</c:v>
                </c:pt>
                <c:pt idx="20">
                  <c:v>98</c:v>
                </c:pt>
                <c:pt idx="21">
                  <c:v>99</c:v>
                </c:pt>
                <c:pt idx="22">
                  <c:v>00</c:v>
                </c:pt>
                <c:pt idx="23">
                  <c:v>01</c:v>
                </c:pt>
                <c:pt idx="24">
                  <c:v>02</c:v>
                </c:pt>
                <c:pt idx="25">
                  <c:v>03</c:v>
                </c:pt>
                <c:pt idx="26">
                  <c:v>04</c:v>
                </c:pt>
                <c:pt idx="27">
                  <c:v>05</c:v>
                </c:pt>
                <c:pt idx="28">
                  <c:v>06</c:v>
                </c:pt>
                <c:pt idx="29">
                  <c:v>07</c:v>
                </c:pt>
                <c:pt idx="30">
                  <c:v>08</c:v>
                </c:pt>
                <c:pt idx="31">
                  <c:v>09</c:v>
                </c:pt>
                <c:pt idx="32">
                  <c:v>10</c:v>
                </c:pt>
                <c:pt idx="33">
                  <c:v>11</c:v>
                </c:pt>
                <c:pt idx="34">
                  <c:v>12</c:v>
                </c:pt>
                <c:pt idx="35">
                  <c:v>13</c:v>
                </c:pt>
                <c:pt idx="36">
                  <c:v>14</c:v>
                </c:pt>
              </c:strCache>
            </c:strRef>
          </c:cat>
          <c:val>
            <c:numRef>
              <c:f>Sheet1!$B$2:$AL$2</c:f>
              <c:numCache>
                <c:formatCode>General</c:formatCode>
                <c:ptCount val="37"/>
                <c:pt idx="0">
                  <c:v>636</c:v>
                </c:pt>
                <c:pt idx="1">
                  <c:v>2587</c:v>
                </c:pt>
                <c:pt idx="2">
                  <c:v>3696</c:v>
                </c:pt>
                <c:pt idx="3">
                  <c:v>4066</c:v>
                </c:pt>
                <c:pt idx="4">
                  <c:v>4429</c:v>
                </c:pt>
                <c:pt idx="5">
                  <c:v>4792</c:v>
                </c:pt>
                <c:pt idx="6">
                  <c:v>5639</c:v>
                </c:pt>
                <c:pt idx="7">
                  <c:v>7281</c:v>
                </c:pt>
                <c:pt idx="8">
                  <c:v>8085</c:v>
                </c:pt>
                <c:pt idx="9">
                  <c:v>9526</c:v>
                </c:pt>
                <c:pt idx="10">
                  <c:v>12497</c:v>
                </c:pt>
                <c:pt idx="11">
                  <c:v>14840</c:v>
                </c:pt>
                <c:pt idx="12">
                  <c:v>19806</c:v>
                </c:pt>
                <c:pt idx="13">
                  <c:v>22883</c:v>
                </c:pt>
                <c:pt idx="14">
                  <c:v>25397</c:v>
                </c:pt>
                <c:pt idx="15">
                  <c:v>29120</c:v>
                </c:pt>
                <c:pt idx="16">
                  <c:v>34198</c:v>
                </c:pt>
                <c:pt idx="17">
                  <c:v>39994</c:v>
                </c:pt>
                <c:pt idx="18">
                  <c:v>48215</c:v>
                </c:pt>
                <c:pt idx="19">
                  <c:v>57062</c:v>
                </c:pt>
                <c:pt idx="20">
                  <c:v>67061</c:v>
                </c:pt>
                <c:pt idx="21">
                  <c:v>76357</c:v>
                </c:pt>
                <c:pt idx="22">
                  <c:v>93238</c:v>
                </c:pt>
                <c:pt idx="23">
                  <c:v>108229</c:v>
                </c:pt>
                <c:pt idx="24">
                  <c:v>110394</c:v>
                </c:pt>
                <c:pt idx="25">
                  <c:v>115204</c:v>
                </c:pt>
                <c:pt idx="26">
                  <c:v>122631</c:v>
                </c:pt>
                <c:pt idx="27">
                  <c:v>136751</c:v>
                </c:pt>
                <c:pt idx="28">
                  <c:v>149643</c:v>
                </c:pt>
                <c:pt idx="29">
                  <c:v>159933</c:v>
                </c:pt>
                <c:pt idx="30">
                  <c:v>163241</c:v>
                </c:pt>
                <c:pt idx="31">
                  <c:v>155402</c:v>
                </c:pt>
                <c:pt idx="32">
                  <c:v>164341</c:v>
                </c:pt>
                <c:pt idx="33">
                  <c:v>182437</c:v>
                </c:pt>
                <c:pt idx="34">
                  <c:v>195334</c:v>
                </c:pt>
                <c:pt idx="35">
                  <c:v>205292</c:v>
                </c:pt>
                <c:pt idx="36">
                  <c:v>214319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7-CC00-4873-B5B9-0E4F3F7F7E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gapDepth val="110"/>
        <c:shape val="box"/>
        <c:axId val="31721344"/>
        <c:axId val="31722880"/>
        <c:axId val="17020224"/>
      </c:bar3DChart>
      <c:catAx>
        <c:axId val="31721344"/>
        <c:scaling>
          <c:orientation val="minMax"/>
        </c:scaling>
        <c:delete val="0"/>
        <c:axPos val="b"/>
        <c:numFmt formatCode="General" sourceLinked="1"/>
        <c:majorTickMark val="out"/>
        <c:minorTickMark val="out"/>
        <c:tickLblPos val="low"/>
        <c:spPr>
          <a:ln w="1624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900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31722880"/>
        <c:crosses val="autoZero"/>
        <c:auto val="1"/>
        <c:lblAlgn val="ctr"/>
        <c:lblOffset val="100"/>
        <c:noMultiLvlLbl val="0"/>
      </c:catAx>
      <c:valAx>
        <c:axId val="31722880"/>
        <c:scaling>
          <c:orientation val="minMax"/>
          <c:max val="25000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624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19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31721344"/>
        <c:crosses val="autoZero"/>
        <c:crossBetween val="between"/>
      </c:valAx>
      <c:serAx>
        <c:axId val="17020224"/>
        <c:scaling>
          <c:orientation val="minMax"/>
        </c:scaling>
        <c:delete val="1"/>
        <c:axPos val="b"/>
        <c:majorTickMark val="out"/>
        <c:minorTickMark val="none"/>
        <c:tickLblPos val="nextTo"/>
        <c:crossAx val="31722880"/>
        <c:crosses val="autoZero"/>
      </c:serAx>
      <c:spPr>
        <a:noFill/>
        <a:ln w="3249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2302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hPercent val="65"/>
      <c:rotY val="20"/>
      <c:depthPercent val="230"/>
      <c:rAngAx val="1"/>
    </c:view3D>
    <c:floor>
      <c:thickness val="0"/>
      <c:spPr>
        <a:solidFill>
          <a:srgbClr val="C0C0C0"/>
        </a:solidFill>
        <a:ln w="3175">
          <a:solidFill>
            <a:schemeClr val="tx1"/>
          </a:solidFill>
          <a:prstDash val="solid"/>
        </a:ln>
      </c:spPr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8.0434985520426966E-2"/>
          <c:y val="2.1113337600892797E-2"/>
          <c:w val="0.89037251992437128"/>
          <c:h val="0.86851853541878798"/>
        </c:manualLayout>
      </c:layout>
      <c:bar3DChart>
        <c:barDir val="col"/>
        <c:grouping val="standard"/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RECORD COPIES</c:v>
                </c:pt>
              </c:strCache>
            </c:strRef>
          </c:tx>
          <c:spPr>
            <a:solidFill>
              <a:schemeClr val="accent1"/>
            </a:solidFill>
            <a:ln w="29307">
              <a:noFill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C33-4066-BBEA-0D4971BD6BA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02-1C33-4066-BBEA-0D4971BD6BA8}"/>
              </c:ext>
            </c:extLst>
          </c:dPt>
          <c:dPt>
            <c:idx val="2"/>
            <c:invertIfNegative val="0"/>
            <c:bubble3D val="0"/>
            <c:spPr>
              <a:solidFill>
                <a:schemeClr val="hlink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04-1C33-4066-BBEA-0D4971BD6BA8}"/>
              </c:ext>
            </c:extLst>
          </c:dPt>
          <c:dPt>
            <c:idx val="3"/>
            <c:invertIfNegative val="0"/>
            <c:bubble3D val="0"/>
            <c:spPr>
              <a:solidFill>
                <a:schemeClr val="folHlink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06-1C33-4066-BBEA-0D4971BD6BA8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08-1C33-4066-BBEA-0D4971BD6BA8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0A-1C33-4066-BBEA-0D4971BD6BA8}"/>
              </c:ext>
            </c:extLst>
          </c:dPt>
          <c:dPt>
            <c:idx val="6"/>
            <c:invertIfNegative val="0"/>
            <c:bubble3D val="0"/>
            <c:spPr>
              <a:solidFill>
                <a:srgbClr val="0066CC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0C-1C33-4066-BBEA-0D4971BD6BA8}"/>
              </c:ext>
            </c:extLst>
          </c:dPt>
          <c:dPt>
            <c:idx val="7"/>
            <c:invertIfNegative val="0"/>
            <c:bubble3D val="0"/>
            <c:spPr>
              <a:solidFill>
                <a:srgbClr val="CCCCFF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0E-1C33-4066-BBEA-0D4971BD6BA8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10-1C33-4066-BBEA-0D4971BD6BA8}"/>
              </c:ext>
            </c:extLst>
          </c:dPt>
          <c:dPt>
            <c:idx val="9"/>
            <c:invertIfNegative val="0"/>
            <c:bubble3D val="0"/>
            <c:spPr>
              <a:solidFill>
                <a:srgbClr val="FFFF00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12-1C33-4066-BBEA-0D4971BD6BA8}"/>
              </c:ext>
            </c:extLst>
          </c:dPt>
          <c:dPt>
            <c:idx val="10"/>
            <c:invertIfNegative val="0"/>
            <c:bubble3D val="0"/>
            <c:spPr>
              <a:solidFill>
                <a:srgbClr val="00FF00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14-1C33-4066-BBEA-0D4971BD6BA8}"/>
              </c:ext>
            </c:extLst>
          </c:dPt>
          <c:dPt>
            <c:idx val="11"/>
            <c:invertIfNegative val="0"/>
            <c:bubble3D val="0"/>
            <c:spPr>
              <a:solidFill>
                <a:srgbClr val="00FFFF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16-1C33-4066-BBEA-0D4971BD6BA8}"/>
              </c:ext>
            </c:extLst>
          </c:dPt>
          <c:dPt>
            <c:idx val="12"/>
            <c:invertIfNegative val="0"/>
            <c:bubble3D val="0"/>
            <c:spPr>
              <a:solidFill>
                <a:srgbClr val="0000FF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18-1C33-4066-BBEA-0D4971BD6BA8}"/>
              </c:ext>
            </c:extLst>
          </c:dPt>
          <c:dPt>
            <c:idx val="13"/>
            <c:invertIfNegative val="0"/>
            <c:bubble3D val="0"/>
            <c:spPr>
              <a:solidFill>
                <a:srgbClr val="FF00FF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1A-1C33-4066-BBEA-0D4971BD6BA8}"/>
              </c:ext>
            </c:extLst>
          </c:dPt>
          <c:dPt>
            <c:idx val="14"/>
            <c:invertIfNegative val="0"/>
            <c:bubble3D val="0"/>
            <c:spPr>
              <a:solidFill>
                <a:srgbClr val="008080"/>
              </a:solidFill>
              <a:ln w="29307">
                <a:noFill/>
              </a:ln>
            </c:spPr>
            <c:extLst>
              <c:ext xmlns:c16="http://schemas.microsoft.com/office/drawing/2014/chart" uri="{C3380CC4-5D6E-409C-BE32-E72D297353CC}">
                <c16:uniqueId val="{0000001C-1C33-4066-BBEA-0D4971BD6BA8}"/>
              </c:ext>
            </c:extLst>
          </c:dPt>
          <c:cat>
            <c:strRef>
              <c:f>Sheet1!$B$1:$K$1</c:f>
              <c:strCache>
                <c:ptCount val="10"/>
                <c:pt idx="0">
                  <c:v>US</c:v>
                </c:pt>
                <c:pt idx="1">
                  <c:v>JP</c:v>
                </c:pt>
                <c:pt idx="2">
                  <c:v>CN</c:v>
                </c:pt>
                <c:pt idx="3">
                  <c:v>DE</c:v>
                </c:pt>
                <c:pt idx="4">
                  <c:v>KR</c:v>
                </c:pt>
                <c:pt idx="5">
                  <c:v>FR</c:v>
                </c:pt>
                <c:pt idx="6">
                  <c:v>GB</c:v>
                </c:pt>
                <c:pt idx="7">
                  <c:v>NL</c:v>
                </c:pt>
                <c:pt idx="8">
                  <c:v>CH</c:v>
                </c:pt>
                <c:pt idx="9">
                  <c:v>SE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61492</c:v>
                </c:pt>
                <c:pt idx="1">
                  <c:v>42459</c:v>
                </c:pt>
                <c:pt idx="2">
                  <c:v>25539</c:v>
                </c:pt>
                <c:pt idx="3">
                  <c:v>18008</c:v>
                </c:pt>
                <c:pt idx="4">
                  <c:v>13151</c:v>
                </c:pt>
                <c:pt idx="5">
                  <c:v>8319</c:v>
                </c:pt>
                <c:pt idx="6">
                  <c:v>5282</c:v>
                </c:pt>
                <c:pt idx="7">
                  <c:v>4218</c:v>
                </c:pt>
                <c:pt idx="8">
                  <c:v>4115</c:v>
                </c:pt>
                <c:pt idx="9">
                  <c:v>3925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1C33-4066-BBEA-0D4971BD6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gapDepth val="0"/>
        <c:shape val="cylinder"/>
        <c:axId val="31616000"/>
        <c:axId val="31617792"/>
        <c:axId val="17021568"/>
      </c:bar3DChart>
      <c:catAx>
        <c:axId val="31616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4654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038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31617792"/>
        <c:crosses val="autoZero"/>
        <c:auto val="1"/>
        <c:lblAlgn val="ctr"/>
        <c:lblOffset val="100"/>
        <c:noMultiLvlLbl val="0"/>
      </c:catAx>
      <c:valAx>
        <c:axId val="3161779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4654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54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31616000"/>
        <c:crosses val="autoZero"/>
        <c:crossBetween val="between"/>
      </c:valAx>
      <c:serAx>
        <c:axId val="17021568"/>
        <c:scaling>
          <c:orientation val="minMax"/>
        </c:scaling>
        <c:delete val="1"/>
        <c:axPos val="b"/>
        <c:majorTickMark val="out"/>
        <c:minorTickMark val="none"/>
        <c:tickLblPos val="nextTo"/>
        <c:crossAx val="31617792"/>
        <c:crosses val="autoZero"/>
      </c:ser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077" b="1" i="0" u="none" strike="noStrike" baseline="0">
          <a:solidFill>
            <a:schemeClr val="tx1"/>
          </a:solidFill>
          <a:latin typeface="Times"/>
          <a:ea typeface="Times"/>
          <a:cs typeface="Time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 PCT applications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482-41BB-8171-AEF82E4E84F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82-41BB-8171-AEF82E4E84F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482-41BB-8171-AEF82E4E84F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482-41BB-8171-AEF82E4E84F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2482-41BB-8171-AEF82E4E84F2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6.78%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2482-41BB-8171-AEF82E4E84F2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16.19%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482-41BB-8171-AEF82E4E84F2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19.35%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2482-41BB-8171-AEF82E4E84F2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22.45%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2482-41BB-8171-AEF82E4E84F2}"/>
                </c:ext>
              </c:extLst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35.24%</a:t>
                    </a:r>
                    <a:endParaRPr lang="en-US" dirty="0"/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2482-41BB-8171-AEF82E4E84F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1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Other fields</c:v>
                </c:pt>
                <c:pt idx="1">
                  <c:v>Instruments</c:v>
                </c:pt>
                <c:pt idx="2">
                  <c:v>Mechanical Engineering</c:v>
                </c:pt>
                <c:pt idx="3">
                  <c:v>Chemistry</c:v>
                </c:pt>
                <c:pt idx="4">
                  <c:v>Electrical Engineering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14208</c:v>
                </c:pt>
                <c:pt idx="1">
                  <c:v>33937</c:v>
                </c:pt>
                <c:pt idx="2">
                  <c:v>40553</c:v>
                </c:pt>
                <c:pt idx="3">
                  <c:v>47064</c:v>
                </c:pt>
                <c:pt idx="4">
                  <c:v>73865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482-41BB-8171-AEF82E4E84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Other fields</c:v>
                </c:pt>
                <c:pt idx="1">
                  <c:v>Instruments</c:v>
                </c:pt>
                <c:pt idx="2">
                  <c:v>Mechanical Engineering</c:v>
                </c:pt>
                <c:pt idx="3">
                  <c:v>Chemistry</c:v>
                </c:pt>
                <c:pt idx="4">
                  <c:v>Electrical Engineering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6.7777528658044997E-2</c:v>
                </c:pt>
                <c:pt idx="1">
                  <c:v>0.16189231349015157</c:v>
                </c:pt>
                <c:pt idx="2">
                  <c:v>0.1934531334226984</c:v>
                </c:pt>
                <c:pt idx="3">
                  <c:v>0.22451306367977408</c:v>
                </c:pt>
                <c:pt idx="4">
                  <c:v>0.35236396074933096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482-41BB-8171-AEF82E4E8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76128"/>
        <c:axId val="31556736"/>
      </c:barChart>
      <c:catAx>
        <c:axId val="3177612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31556736"/>
        <c:crosses val="autoZero"/>
        <c:auto val="1"/>
        <c:lblAlgn val="ctr"/>
        <c:lblOffset val="100"/>
        <c:noMultiLvlLbl val="0"/>
      </c:catAx>
      <c:valAx>
        <c:axId val="31556736"/>
        <c:scaling>
          <c:orientation val="minMax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 b="0" dirty="0" smtClean="0"/>
                  <a:t>PCT applications</a:t>
                </a:r>
                <a:endParaRPr lang="en-US" b="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31776128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750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34" tIns="47418" rIns="94834" bIns="47418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34" tIns="47418" rIns="94834" bIns="47418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34" tIns="47418" rIns="94834" bIns="474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4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34" tIns="47418" rIns="94834" bIns="47418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4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834" tIns="47418" rIns="94834" bIns="47418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fld id="{CA84FE9B-D5D4-4B76-87EA-A08EA8B20C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725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31CF75-9346-4A61-BACD-3310CA6C3FE0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93188" name="Slide Number Placeholder 3"/>
          <p:cNvSpPr txBox="1">
            <a:spLocks noGrp="1"/>
          </p:cNvSpPr>
          <p:nvPr/>
        </p:nvSpPr>
        <p:spPr bwMode="auto">
          <a:xfrm>
            <a:off x="3852863" y="9428163"/>
            <a:ext cx="29432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r"/>
            <a:fld id="{A199A3FF-0A4D-4403-93C2-D90055A16365}" type="slidenum">
              <a:rPr lang="en-US" altLang="en-US" sz="1200">
                <a:cs typeface="Arial" panose="020B0604020202020204" pitchFamily="34" charset="0"/>
              </a:rPr>
              <a:pPr algn="r"/>
              <a:t>11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559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75120C-E3E9-48DE-978E-5BB149F103A7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95236" name="Slide Number Placeholder 3"/>
          <p:cNvSpPr txBox="1">
            <a:spLocks noGrp="1"/>
          </p:cNvSpPr>
          <p:nvPr/>
        </p:nvSpPr>
        <p:spPr bwMode="auto">
          <a:xfrm>
            <a:off x="3852863" y="9428163"/>
            <a:ext cx="29432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r"/>
            <a:fld id="{06603E3E-B9EE-4CFB-A24B-29927B2F9B53}" type="slidenum">
              <a:rPr lang="en-US" altLang="en-US" sz="1200">
                <a:cs typeface="Arial" panose="020B0604020202020204" pitchFamily="34" charset="0"/>
              </a:rPr>
              <a:pPr algn="r"/>
              <a:t>12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810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8DA953-3A35-4C69-9BC7-850F5032E7D1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97284" name="Slide Number Placeholder 3"/>
          <p:cNvSpPr txBox="1">
            <a:spLocks noGrp="1"/>
          </p:cNvSpPr>
          <p:nvPr/>
        </p:nvSpPr>
        <p:spPr bwMode="auto">
          <a:xfrm>
            <a:off x="3852863" y="9428163"/>
            <a:ext cx="29432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r"/>
            <a:fld id="{B3073AF9-17D9-4EAA-8624-5A7F4D0C0256}" type="slidenum">
              <a:rPr lang="en-US" altLang="en-US" sz="1200">
                <a:cs typeface="Arial" panose="020B0604020202020204" pitchFamily="34" charset="0"/>
              </a:rPr>
              <a:pPr algn="r"/>
              <a:t>13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50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DDBCEE-1A4E-4485-AAFB-C6F39319E63C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99332" name="Slide Number Placeholder 3"/>
          <p:cNvSpPr txBox="1">
            <a:spLocks noGrp="1"/>
          </p:cNvSpPr>
          <p:nvPr/>
        </p:nvSpPr>
        <p:spPr bwMode="auto">
          <a:xfrm>
            <a:off x="3852863" y="9428163"/>
            <a:ext cx="29432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r"/>
            <a:fld id="{D999714D-33EC-4730-B35E-436BEA42B86B}" type="slidenum">
              <a:rPr lang="en-US" altLang="en-US" sz="1200">
                <a:cs typeface="Arial" panose="020B0604020202020204" pitchFamily="34" charset="0"/>
              </a:rPr>
              <a:pPr algn="r"/>
              <a:t>14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13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4F1130-9EB7-46E5-B360-23C4F0A6C085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101380" name="Slide Number Placeholder 3"/>
          <p:cNvSpPr txBox="1">
            <a:spLocks noGrp="1"/>
          </p:cNvSpPr>
          <p:nvPr/>
        </p:nvSpPr>
        <p:spPr bwMode="auto">
          <a:xfrm>
            <a:off x="3852863" y="9428163"/>
            <a:ext cx="29432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r"/>
            <a:fld id="{B31C304E-0A08-48D1-9398-19DB0C7541F4}" type="slidenum">
              <a:rPr lang="en-US" altLang="en-US" sz="1200">
                <a:cs typeface="Arial" panose="020B0604020202020204" pitchFamily="34" charset="0"/>
              </a:rPr>
              <a:pPr algn="r"/>
              <a:t>15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006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18A55C-1F59-4CB7-BB72-B1BD2D32FCB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103428" name="Slide Number Placeholder 3"/>
          <p:cNvSpPr txBox="1">
            <a:spLocks noGrp="1"/>
          </p:cNvSpPr>
          <p:nvPr/>
        </p:nvSpPr>
        <p:spPr bwMode="auto">
          <a:xfrm>
            <a:off x="3852863" y="9428163"/>
            <a:ext cx="29432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r"/>
            <a:fld id="{3969FE7D-C008-47A7-B21C-728D1FA2A72C}" type="slidenum">
              <a:rPr lang="en-US" altLang="en-US" sz="1200">
                <a:cs typeface="Arial" panose="020B0604020202020204" pitchFamily="34" charset="0"/>
              </a:rPr>
              <a:pPr algn="r"/>
              <a:t>16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312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B35F11-3033-477D-B0D1-4C06C4F1F9E2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105476" name="Slide Number Placeholder 3"/>
          <p:cNvSpPr txBox="1">
            <a:spLocks noGrp="1"/>
          </p:cNvSpPr>
          <p:nvPr/>
        </p:nvSpPr>
        <p:spPr bwMode="auto">
          <a:xfrm>
            <a:off x="3852863" y="9428163"/>
            <a:ext cx="2943225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r"/>
            <a:fld id="{932B8D02-4205-4064-969D-02FCDFC55D15}" type="slidenum">
              <a:rPr lang="en-US" altLang="en-US" sz="1200">
                <a:cs typeface="Arial" panose="020B0604020202020204" pitchFamily="34" charset="0"/>
              </a:rPr>
              <a:pPr algn="r"/>
              <a:t>17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100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2800">
                <a:solidFill>
                  <a:srgbClr val="70899B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3860800"/>
            <a:ext cx="6400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5684400" y="1818000"/>
            <a:ext cx="1695912" cy="4032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CH" sz="1200" b="1" dirty="0" smtClean="0">
                <a:solidFill>
                  <a:srgbClr val="9D0A2B"/>
                </a:solidFill>
              </a:rPr>
              <a:t>The International </a:t>
            </a:r>
            <a:br>
              <a:rPr lang="fr-CH" sz="1200" b="1" dirty="0" smtClean="0">
                <a:solidFill>
                  <a:srgbClr val="9D0A2B"/>
                </a:solidFill>
              </a:rPr>
            </a:br>
            <a:r>
              <a:rPr lang="fr-CH" sz="1200" b="1" dirty="0" smtClean="0">
                <a:solidFill>
                  <a:srgbClr val="9D0A2B"/>
                </a:solidFill>
              </a:rPr>
              <a:t>Patent System</a:t>
            </a:r>
            <a:endParaRPr lang="fr-CH" sz="1200" b="1" dirty="0">
              <a:solidFill>
                <a:srgbClr val="9D0A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961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0899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fr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9D0A2B"/>
              </a:buClr>
              <a:buSzPct val="150000"/>
              <a:buFont typeface="Arial" pitchFamily="34" charset="0"/>
              <a:buChar char="■"/>
              <a:defRPr/>
            </a:lvl1pPr>
            <a:lvl2pPr marL="742950" indent="-285750">
              <a:buClr>
                <a:srgbClr val="9D0A2B"/>
              </a:buClr>
              <a:buSzPct val="100000"/>
              <a:buFont typeface="Wingdings" pitchFamily="2" charset="2"/>
              <a:buChar char="q"/>
              <a:defRPr/>
            </a:lvl2pPr>
            <a:lvl3pPr marL="1143000" indent="-228600">
              <a:buClr>
                <a:srgbClr val="9D0A2B"/>
              </a:buClr>
              <a:buSzPct val="100000"/>
              <a:buFont typeface="Wingdings" pitchFamily="2" charset="2"/>
              <a:buChar char="§"/>
              <a:defRPr/>
            </a:lvl3pPr>
            <a:lvl4pPr marL="1600200" indent="-228600">
              <a:buClr>
                <a:srgbClr val="9D0A2B"/>
              </a:buClr>
              <a:buSzPct val="150000"/>
              <a:buFont typeface="Arial" pitchFamily="34" charset="0"/>
              <a:buChar char="■"/>
              <a:defRPr/>
            </a:lvl4pPr>
            <a:lvl5pPr marL="2057400" indent="-228600">
              <a:buClr>
                <a:srgbClr val="9D0A2B"/>
              </a:buClr>
              <a:buSzPct val="150000"/>
              <a:buFont typeface="Arial" pitchFamily="34" charset="0"/>
              <a:buChar char="■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CH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72" y="6069657"/>
            <a:ext cx="1005927" cy="167655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7614000" y="6202800"/>
            <a:ext cx="1422000" cy="302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fr-CH" sz="800" b="1" dirty="0" smtClean="0">
                <a:solidFill>
                  <a:srgbClr val="9D0A2B"/>
                </a:solidFill>
              </a:rPr>
              <a:t>The International </a:t>
            </a:r>
            <a:br>
              <a:rPr lang="fr-CH" sz="800" b="1" dirty="0" smtClean="0">
                <a:solidFill>
                  <a:srgbClr val="9D0A2B"/>
                </a:solidFill>
              </a:rPr>
            </a:br>
            <a:r>
              <a:rPr lang="fr-CH" sz="800" b="1" dirty="0" smtClean="0">
                <a:solidFill>
                  <a:srgbClr val="9D0A2B"/>
                </a:solidFill>
              </a:rPr>
              <a:t>Patent System</a:t>
            </a:r>
            <a:endParaRPr lang="fr-CH" sz="800" b="1" dirty="0">
              <a:solidFill>
                <a:srgbClr val="9D0A2B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47329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900" dirty="0" smtClean="0"/>
              <a:t>PCT Overview-</a:t>
            </a:r>
            <a:fld id="{DA79EEDA-9492-4994-BB18-1005CD6866B1}" type="slidenum">
              <a:rPr lang="en-US" sz="900" smtClean="0"/>
              <a:pPr>
                <a:spcBef>
                  <a:spcPts val="0"/>
                </a:spcBef>
                <a:defRPr/>
              </a:pPr>
              <a:t>‹#›</a:t>
            </a:fld>
            <a:endParaRPr lang="en-US" sz="900" dirty="0" smtClean="0"/>
          </a:p>
          <a:p>
            <a:pPr>
              <a:spcBef>
                <a:spcPts val="0"/>
              </a:spcBef>
              <a:defRPr/>
            </a:pPr>
            <a:r>
              <a:rPr lang="en-US" sz="900" dirty="0" smtClean="0"/>
              <a:t>10.02.2016</a:t>
            </a:r>
          </a:p>
        </p:txBody>
      </p:sp>
    </p:spTree>
    <p:extLst>
      <p:ext uri="{BB962C8B-B14F-4D97-AF65-F5344CB8AC3E}">
        <p14:creationId xmlns:p14="http://schemas.microsoft.com/office/powerpoint/2010/main" val="24393466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B5F7D-D5B1-4D98-B310-16D211F236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001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238"/>
            <a:ext cx="4038600" cy="4352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238"/>
            <a:ext cx="4038600" cy="4352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CH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17826-A1A8-4B20-83BB-6B4226365D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8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C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C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CH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46D48-0F63-43E9-B47C-935DCDFAA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5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CH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760F4-0BB2-41F5-A823-565642484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D60C8-7BA5-467F-BCD3-E871B6D034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6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C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C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813F8-B5E0-463F-B52D-A76CAE1804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4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C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fr-CH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77A5B0-4E40-4836-BF8A-4DD3519947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68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CH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3305F-35F4-4D38-853F-6972B7651A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1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C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CH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1C06C-5FA2-4438-B070-4F16D45DBA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85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773238"/>
            <a:ext cx="8229600" cy="43529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10400" y="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DF098AC-69E0-4338-BF66-EB2EE12A197F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59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73238"/>
            <a:ext cx="8229600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smtClean="0"/>
            </a:lvl1pPr>
          </a:lstStyle>
          <a:p>
            <a:pPr>
              <a:defRPr/>
            </a:pPr>
            <a:fld id="{7F3150A8-B334-48D8-BDDC-A2E01CBB8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408C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sz="2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042987" y="3267426"/>
            <a:ext cx="8129587" cy="1085850"/>
          </a:xfrm>
          <a:noFill/>
          <a:ln/>
        </p:spPr>
        <p:txBody>
          <a:bodyPr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70899B"/>
                </a:solidFill>
              </a:rPr>
              <a:t>Overview of the</a:t>
            </a:r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fr-CH" sz="3200" b="1" dirty="0" smtClean="0">
                <a:solidFill>
                  <a:srgbClr val="70899B"/>
                </a:solidFill>
              </a:rPr>
              <a:t>Patent </a:t>
            </a:r>
            <a:r>
              <a:rPr lang="fr-CH" sz="3200" b="1" dirty="0" err="1" smtClean="0">
                <a:solidFill>
                  <a:srgbClr val="70899B"/>
                </a:solidFill>
              </a:rPr>
              <a:t>Cooperation</a:t>
            </a:r>
            <a:r>
              <a:rPr lang="fr-CH" sz="3200" b="1" dirty="0" smtClean="0">
                <a:solidFill>
                  <a:srgbClr val="70899B"/>
                </a:solidFill>
              </a:rPr>
              <a:t> </a:t>
            </a:r>
            <a:r>
              <a:rPr lang="fr-CH" sz="3200" b="1" dirty="0" err="1">
                <a:solidFill>
                  <a:srgbClr val="70899B"/>
                </a:solidFill>
              </a:rPr>
              <a:t>Treaty</a:t>
            </a:r>
            <a:r>
              <a:rPr lang="fr-CH" sz="3200" b="1" dirty="0">
                <a:solidFill>
                  <a:srgbClr val="70899B"/>
                </a:solidFill>
              </a:rPr>
              <a:t> (PCT)</a:t>
            </a:r>
            <a:endParaRPr lang="en-US" sz="3200" dirty="0">
              <a:solidFill>
                <a:srgbClr val="70899B"/>
              </a:solidFill>
            </a:endParaRPr>
          </a:p>
        </p:txBody>
      </p:sp>
      <p:pic>
        <p:nvPicPr>
          <p:cNvPr id="8" name="Picture 5" descr="Puce-3_p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363" y="3121376"/>
            <a:ext cx="347662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08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What is the PCT?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6792"/>
            <a:ext cx="8229600" cy="4569371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An international treaty facilitating the process of seeking patents internationally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An efficient and advantageous procedure for users of the patent system and patent Offices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 smtClean="0"/>
              <a:t>Signed in June 1970 and became operational in June 1978 with 18 Contracting States</a:t>
            </a:r>
          </a:p>
        </p:txBody>
      </p:sp>
    </p:spTree>
    <p:extLst>
      <p:ext uri="{BB962C8B-B14F-4D97-AF65-F5344CB8AC3E}">
        <p14:creationId xmlns:p14="http://schemas.microsoft.com/office/powerpoint/2010/main" val="32002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General Remarks on the PCT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smtClean="0"/>
              <a:t>The PCT system is a patent “filing” system, not a patent  “granting” system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smtClean="0"/>
              <a:t>The PCT system consists of an international and national phase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</a:pPr>
            <a:r>
              <a:rPr lang="en-US" altLang="en-US" dirty="0" smtClean="0"/>
              <a:t>The decision on granting patents is taken exclusively by national or regional Offices in the national phase</a:t>
            </a:r>
          </a:p>
        </p:txBody>
      </p:sp>
    </p:spTree>
    <p:extLst>
      <p:ext uri="{BB962C8B-B14F-4D97-AF65-F5344CB8AC3E}">
        <p14:creationId xmlns:p14="http://schemas.microsoft.com/office/powerpoint/2010/main" val="52315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70899B"/>
                </a:solidFill>
              </a:rPr>
              <a:t>148 PCT Contracting States</a:t>
            </a:r>
          </a:p>
        </p:txBody>
      </p:sp>
      <p:pic>
        <p:nvPicPr>
          <p:cNvPr id="1024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52588"/>
            <a:ext cx="716280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093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Countries not yet PCT Contracting States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8398925"/>
              </p:ext>
            </p:extLst>
          </p:nvPr>
        </p:nvGraphicFramePr>
        <p:xfrm>
          <a:off x="683568" y="1484784"/>
          <a:ext cx="7704855" cy="4480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4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9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8432"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Afghanistan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Andorra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Argentina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Bahamas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Bangladesh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Bhutan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Bolivia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Burundi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Cambodia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Cape Verde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Democratic Republic of Congo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Djibouti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Eritrea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Ethiopia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Fiji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Guyana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  <a:latin typeface="Arial" charset="0"/>
                          <a:ea typeface="ヒラギノ角ゴ Pro W3" pitchFamily="1" charset="-128"/>
                        </a:rPr>
                        <a:t>Haiti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GB" altLang="en-US" sz="1800" dirty="0" smtClean="0">
                          <a:solidFill>
                            <a:srgbClr val="000000"/>
                          </a:solidFill>
                        </a:rPr>
                        <a:t>Iraq</a:t>
                      </a:r>
                      <a:endParaRPr lang="en-US" altLang="en-US" sz="1800" dirty="0" smtClean="0">
                        <a:solidFill>
                          <a:srgbClr val="000000"/>
                        </a:solidFill>
                      </a:endParaRP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Jamaica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Jordan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Kiribati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Kuwait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Lebanon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Maldives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Marshall Islands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Mauritius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Micronesia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Myanmar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Nauru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Nepal</a:t>
                      </a:r>
                    </a:p>
                    <a:p>
                      <a:r>
                        <a:rPr lang="en-US" dirty="0" smtClean="0"/>
                        <a:t>Pakistan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Palau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Paraguay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Samoa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Solomon Islands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Somalia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South Sudan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Suriname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Timor-Leste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Tonga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Tuvalu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Uruguay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Vanuatu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Venezuela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Yemen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en-US" sz="1800" dirty="0" smtClean="0">
                          <a:solidFill>
                            <a:srgbClr val="000000"/>
                          </a:solidFill>
                        </a:rPr>
                        <a:t>(45)</a:t>
                      </a:r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UN: 193 countries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03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70899B"/>
                </a:solidFill>
              </a:rPr>
              <a:t>PCT </a:t>
            </a:r>
            <a:r>
              <a:rPr lang="en-US" altLang="en-US" dirty="0" smtClean="0">
                <a:solidFill>
                  <a:srgbClr val="70899B"/>
                </a:solidFill>
              </a:rPr>
              <a:t>Applications (2014)</a:t>
            </a:r>
            <a:endParaRPr lang="en-US" altLang="en-US" dirty="0">
              <a:solidFill>
                <a:srgbClr val="70899B"/>
              </a:solidFill>
            </a:endParaRPr>
          </a:p>
        </p:txBody>
      </p:sp>
      <p:graphicFrame>
        <p:nvGraphicFramePr>
          <p:cNvPr id="2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9142856"/>
              </p:ext>
            </p:extLst>
          </p:nvPr>
        </p:nvGraphicFramePr>
        <p:xfrm>
          <a:off x="457200" y="1773238"/>
          <a:ext cx="8229600" cy="4352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0340" name="Text Box 4"/>
          <p:cNvSpPr txBox="1">
            <a:spLocks noChangeArrowheads="1"/>
          </p:cNvSpPr>
          <p:nvPr/>
        </p:nvSpPr>
        <p:spPr bwMode="auto">
          <a:xfrm>
            <a:off x="1762744" y="2385054"/>
            <a:ext cx="3889375" cy="861774"/>
          </a:xfrm>
          <a:prstGeom prst="rect">
            <a:avLst/>
          </a:prstGeom>
          <a:gradFill>
            <a:gsLst>
              <a:gs pos="0">
                <a:schemeClr val="accent1">
                  <a:shade val="30000"/>
                  <a:satMod val="115000"/>
                </a:schemeClr>
              </a:gs>
              <a:gs pos="27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0"/>
          </a:gradFill>
          <a:ln>
            <a:noFill/>
          </a:ln>
          <a:effectLst/>
          <a:ex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000099"/>
                </a:solidFill>
              </a:rPr>
              <a:t>~214,500 </a:t>
            </a:r>
            <a:r>
              <a:rPr lang="en-US" altLang="en-US" sz="2000" dirty="0">
                <a:solidFill>
                  <a:srgbClr val="000099"/>
                </a:solidFill>
              </a:rPr>
              <a:t>applications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000099"/>
                </a:solidFill>
              </a:rPr>
              <a:t>4.5 </a:t>
            </a:r>
            <a:r>
              <a:rPr lang="en-US" altLang="en-US" sz="2000" dirty="0">
                <a:solidFill>
                  <a:srgbClr val="000099"/>
                </a:solidFill>
              </a:rPr>
              <a:t>% increase over </a:t>
            </a:r>
            <a:r>
              <a:rPr lang="en-US" altLang="en-US" sz="2000" dirty="0" smtClean="0">
                <a:solidFill>
                  <a:srgbClr val="000099"/>
                </a:solidFill>
              </a:rPr>
              <a:t>2013</a:t>
            </a:r>
            <a:endParaRPr lang="en-US" altLang="en-US" sz="20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805636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122521"/>
              </p:ext>
            </p:extLst>
          </p:nvPr>
        </p:nvGraphicFramePr>
        <p:xfrm>
          <a:off x="431800" y="1392238"/>
          <a:ext cx="8356600" cy="4602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5958" name="Text Box 6"/>
          <p:cNvSpPr txBox="1">
            <a:spLocks noChangeArrowheads="1"/>
          </p:cNvSpPr>
          <p:nvPr/>
        </p:nvSpPr>
        <p:spPr bwMode="auto">
          <a:xfrm>
            <a:off x="4427984" y="1773238"/>
            <a:ext cx="4536504" cy="19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0099"/>
                </a:solidFill>
              </a:rPr>
              <a:t>Examples of increases in </a:t>
            </a:r>
            <a:br>
              <a:rPr lang="en-US" altLang="en-US" dirty="0">
                <a:solidFill>
                  <a:srgbClr val="000099"/>
                </a:solidFill>
              </a:rPr>
            </a:br>
            <a:r>
              <a:rPr lang="en-US" altLang="en-US" dirty="0">
                <a:solidFill>
                  <a:srgbClr val="000099"/>
                </a:solidFill>
              </a:rPr>
              <a:t>certain national Offices</a:t>
            </a:r>
          </a:p>
          <a:p>
            <a:pPr eaLnBrk="0" hangingPunct="0"/>
            <a:r>
              <a:rPr lang="en-US" altLang="en-US" sz="1600" dirty="0">
                <a:solidFill>
                  <a:srgbClr val="000099"/>
                </a:solidFill>
              </a:rPr>
              <a:t>CN: +</a:t>
            </a:r>
            <a:r>
              <a:rPr lang="en-US" altLang="en-US" sz="1600" dirty="0" smtClean="0">
                <a:solidFill>
                  <a:srgbClr val="000099"/>
                </a:solidFill>
              </a:rPr>
              <a:t>18.7 </a:t>
            </a:r>
            <a:r>
              <a:rPr lang="en-US" altLang="en-US" sz="1600" dirty="0">
                <a:solidFill>
                  <a:srgbClr val="000099"/>
                </a:solidFill>
              </a:rPr>
              <a:t>%</a:t>
            </a:r>
            <a:br>
              <a:rPr lang="en-US" altLang="en-US" sz="1600" dirty="0">
                <a:solidFill>
                  <a:srgbClr val="000099"/>
                </a:solidFill>
              </a:rPr>
            </a:br>
            <a:r>
              <a:rPr lang="en-US" altLang="en-US" sz="1600" dirty="0">
                <a:solidFill>
                  <a:srgbClr val="000099"/>
                </a:solidFill>
              </a:rPr>
              <a:t>UK: +9 </a:t>
            </a:r>
            <a:r>
              <a:rPr lang="en-US" altLang="en-US" sz="1600" dirty="0" smtClean="0">
                <a:solidFill>
                  <a:srgbClr val="000099"/>
                </a:solidFill>
              </a:rPr>
              <a:t>%</a:t>
            </a:r>
            <a:br>
              <a:rPr lang="en-US" altLang="en-US" sz="1600" dirty="0" smtClean="0">
                <a:solidFill>
                  <a:srgbClr val="000099"/>
                </a:solidFill>
              </a:rPr>
            </a:br>
            <a:r>
              <a:rPr lang="en-US" altLang="en-US" sz="1600" dirty="0" smtClean="0">
                <a:solidFill>
                  <a:srgbClr val="000099"/>
                </a:solidFill>
              </a:rPr>
              <a:t>US</a:t>
            </a:r>
            <a:r>
              <a:rPr lang="en-US" altLang="en-US" sz="1600" dirty="0">
                <a:solidFill>
                  <a:srgbClr val="000099"/>
                </a:solidFill>
              </a:rPr>
              <a:t>: </a:t>
            </a:r>
            <a:r>
              <a:rPr lang="en-US" altLang="en-US" sz="1600" dirty="0" smtClean="0">
                <a:solidFill>
                  <a:srgbClr val="000099"/>
                </a:solidFill>
              </a:rPr>
              <a:t>+7.1 </a:t>
            </a:r>
            <a:r>
              <a:rPr lang="en-US" altLang="en-US" sz="1600" dirty="0">
                <a:solidFill>
                  <a:srgbClr val="000099"/>
                </a:solidFill>
              </a:rPr>
              <a:t>%</a:t>
            </a:r>
            <a:br>
              <a:rPr lang="en-US" altLang="en-US" sz="1600" dirty="0">
                <a:solidFill>
                  <a:srgbClr val="000099"/>
                </a:solidFill>
              </a:rPr>
            </a:br>
            <a:r>
              <a:rPr lang="en-US" altLang="en-US" sz="1600" dirty="0">
                <a:solidFill>
                  <a:srgbClr val="000099"/>
                </a:solidFill>
              </a:rPr>
              <a:t/>
            </a:r>
            <a:br>
              <a:rPr lang="en-US" altLang="en-US" sz="1600" dirty="0">
                <a:solidFill>
                  <a:srgbClr val="000099"/>
                </a:solidFill>
              </a:rPr>
            </a:br>
            <a:endParaRPr lang="en-US" altLang="en-US" sz="1600" dirty="0">
              <a:solidFill>
                <a:srgbClr val="000099"/>
              </a:solidFill>
            </a:endParaRPr>
          </a:p>
        </p:txBody>
      </p:sp>
      <p:sp>
        <p:nvSpPr>
          <p:cNvPr id="12595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70899B"/>
                </a:solidFill>
              </a:rPr>
              <a:t>Filings by </a:t>
            </a:r>
            <a:r>
              <a:rPr lang="en-US" altLang="en-US" dirty="0" smtClean="0">
                <a:solidFill>
                  <a:srgbClr val="70899B"/>
                </a:solidFill>
              </a:rPr>
              <a:t>Country </a:t>
            </a:r>
            <a:r>
              <a:rPr lang="en-US" altLang="en-US" dirty="0">
                <a:solidFill>
                  <a:srgbClr val="70899B"/>
                </a:solidFill>
              </a:rPr>
              <a:t>of </a:t>
            </a:r>
            <a:r>
              <a:rPr lang="en-US" altLang="en-US" dirty="0" smtClean="0">
                <a:solidFill>
                  <a:srgbClr val="70899B"/>
                </a:solidFill>
              </a:rPr>
              <a:t>Origin </a:t>
            </a:r>
            <a:r>
              <a:rPr lang="en-US" altLang="en-US" dirty="0">
                <a:solidFill>
                  <a:srgbClr val="70899B"/>
                </a:solidFill>
              </a:rPr>
              <a:t>(</a:t>
            </a:r>
            <a:r>
              <a:rPr lang="en-US" altLang="en-US" dirty="0" smtClean="0">
                <a:solidFill>
                  <a:srgbClr val="70899B"/>
                </a:solidFill>
              </a:rPr>
              <a:t>2014)</a:t>
            </a:r>
            <a:endParaRPr lang="en-US" altLang="en-US" dirty="0">
              <a:solidFill>
                <a:srgbClr val="7089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9938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899B"/>
                </a:solidFill>
              </a:rPr>
              <a:t>Fields of Technology (2014)</a:t>
            </a:r>
            <a:endParaRPr lang="en-US" dirty="0">
              <a:solidFill>
                <a:srgbClr val="70899B"/>
              </a:solidFill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159512200"/>
              </p:ext>
            </p:extLst>
          </p:nvPr>
        </p:nvGraphicFramePr>
        <p:xfrm>
          <a:off x="611560" y="1397000"/>
          <a:ext cx="7992888" cy="4480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378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PCT Applicants (2014)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51056"/>
              </p:ext>
            </p:extLst>
          </p:nvPr>
        </p:nvGraphicFramePr>
        <p:xfrm>
          <a:off x="457200" y="1773238"/>
          <a:ext cx="8229600" cy="3708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1. Huawei (CN) – 3442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altLang="en-US" sz="1800" kern="0" dirty="0" smtClean="0"/>
                        <a:t>11. </a:t>
                      </a:r>
                      <a:r>
                        <a:rPr lang="en-GB" altLang="en-US" sz="1800" kern="0" dirty="0" smtClean="0"/>
                        <a:t>Samsung (KR)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1381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2. Qualcomm (US) – 2409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altLang="en-US" sz="1800" kern="0" dirty="0" smtClean="0"/>
                        <a:t>12. Toyota (JP)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1378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3. ZTE (CN) – 2179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altLang="en-US" sz="1800" kern="0" dirty="0" smtClean="0"/>
                        <a:t>13.</a:t>
                      </a:r>
                      <a:r>
                        <a:rPr lang="en-US" altLang="en-US" sz="1800" kern="0" dirty="0" smtClean="0"/>
                        <a:t> </a:t>
                      </a:r>
                      <a:r>
                        <a:rPr lang="en-GB" altLang="en-US" sz="1800" kern="0" dirty="0" smtClean="0"/>
                        <a:t>Bosch (DE)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1371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4. Panasonic (JP) – 1682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altLang="en-US" sz="1800" kern="0" dirty="0" smtClean="0"/>
                        <a:t>14. </a:t>
                      </a:r>
                      <a:r>
                        <a:rPr lang="en-GB" altLang="en-US" sz="1800" kern="0" dirty="0" smtClean="0"/>
                        <a:t>Sharp (JP)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1227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5. Mitsubishi Electric (JP) – 1593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altLang="en-US" sz="1800" kern="0" dirty="0" smtClean="0"/>
                        <a:t>15. NEC (JP)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1215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6. Intel (US) – 1539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CH" altLang="en-US" sz="1800" kern="0" dirty="0" smtClean="0"/>
                        <a:t>16. LG Electronics (KR) </a:t>
                      </a:r>
                      <a:r>
                        <a:rPr lang="en-GB" dirty="0" smtClean="0"/>
                        <a:t>– </a:t>
                      </a:r>
                      <a:r>
                        <a:rPr lang="fr-CH" altLang="en-US" sz="1800" kern="0" dirty="0" smtClean="0"/>
                        <a:t>1138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7. Ericsson (SE) – 1512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CH" altLang="en-US" sz="1800" kern="0" dirty="0" smtClean="0"/>
                        <a:t>17. </a:t>
                      </a:r>
                      <a:r>
                        <a:rPr lang="fr-CH" altLang="en-US" sz="1800" kern="0" dirty="0" err="1" smtClean="0"/>
                        <a:t>Tencent</a:t>
                      </a:r>
                      <a:r>
                        <a:rPr lang="fr-CH" altLang="en-US" sz="1800" kern="0" dirty="0" smtClean="0"/>
                        <a:t> </a:t>
                      </a:r>
                      <a:r>
                        <a:rPr lang="fr-CH" altLang="en-US" sz="1800" kern="0" dirty="0" err="1" smtClean="0"/>
                        <a:t>Technology</a:t>
                      </a:r>
                      <a:r>
                        <a:rPr lang="fr-CH" altLang="en-US" sz="1800" kern="0" dirty="0" smtClean="0"/>
                        <a:t> (</a:t>
                      </a:r>
                      <a:r>
                        <a:rPr lang="en-GB" altLang="en-US" sz="1800" kern="0" dirty="0" smtClean="0"/>
                        <a:t>CN)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1086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8. Microsoft (US) –1460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CH" altLang="en-US" sz="1800" kern="0" dirty="0" smtClean="0"/>
                        <a:t>18. Fujifilm (</a:t>
                      </a:r>
                      <a:r>
                        <a:rPr lang="en-GB" altLang="en-US" sz="1800" kern="0" dirty="0" smtClean="0"/>
                        <a:t>JP)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1072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9. Siemens (DE) – 1399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CH" altLang="en-US" sz="1800" kern="0" dirty="0" smtClean="0"/>
                        <a:t>19. United Technologies (U</a:t>
                      </a:r>
                      <a:r>
                        <a:rPr lang="en-GB" altLang="en-US" sz="1800" kern="0" dirty="0" smtClean="0"/>
                        <a:t>S)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1013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10. Philips (NL) –1391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altLang="en-US" sz="1800" kern="0" dirty="0" smtClean="0"/>
                        <a:t>20. Hitachi (</a:t>
                      </a:r>
                      <a:r>
                        <a:rPr lang="en-GB" altLang="en-US" sz="1800" kern="0" dirty="0" smtClean="0"/>
                        <a:t>JP) </a:t>
                      </a:r>
                      <a:r>
                        <a:rPr lang="en-GB" dirty="0" smtClean="0"/>
                        <a:t>– </a:t>
                      </a:r>
                      <a:r>
                        <a:rPr lang="en-GB" altLang="en-US" sz="1800" kern="0" dirty="0" smtClean="0"/>
                        <a:t>996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74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70899B"/>
                </a:solidFill>
              </a:rPr>
              <a:t>Typical PCT Timeline</a:t>
            </a:r>
          </a:p>
        </p:txBody>
      </p:sp>
      <p:pic>
        <p:nvPicPr>
          <p:cNvPr id="18436" name="Picture 3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51000"/>
            <a:ext cx="8078788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773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sz="2800"/>
              <a:t>The PCT system – typical use</a:t>
            </a:r>
            <a:endParaRPr lang="en-US" altLang="en-US" sz="2800" b="1"/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627063" y="2274888"/>
            <a:ext cx="885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(months)</a:t>
            </a: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auto">
          <a:xfrm>
            <a:off x="2036763" y="2986088"/>
            <a:ext cx="10350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PCT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auto">
          <a:xfrm>
            <a:off x="2397125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885825" y="25288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0</a:t>
            </a:r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92167" name="Rectangle 7"/>
          <p:cNvSpPr>
            <a:spLocks noChangeArrowheads="1"/>
          </p:cNvSpPr>
          <p:nvPr/>
        </p:nvSpPr>
        <p:spPr bwMode="auto">
          <a:xfrm>
            <a:off x="7956550" y="254793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30</a:t>
            </a:r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>
            <a:off x="1009650" y="2928938"/>
            <a:ext cx="7239000" cy="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69" name="Line 9"/>
          <p:cNvSpPr>
            <a:spLocks noChangeShapeType="1"/>
          </p:cNvSpPr>
          <p:nvPr/>
        </p:nvSpPr>
        <p:spPr bwMode="auto">
          <a:xfrm flipV="1">
            <a:off x="2581275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0" name="Rectangle 10"/>
          <p:cNvSpPr>
            <a:spLocks noChangeArrowheads="1"/>
          </p:cNvSpPr>
          <p:nvPr/>
        </p:nvSpPr>
        <p:spPr bwMode="auto">
          <a:xfrm>
            <a:off x="3241675" y="2990850"/>
            <a:ext cx="14493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search report &amp; written opinion</a:t>
            </a:r>
          </a:p>
        </p:txBody>
      </p:sp>
      <p:sp>
        <p:nvSpPr>
          <p:cNvPr id="92171" name="Rectangle 11"/>
          <p:cNvSpPr>
            <a:spLocks noChangeArrowheads="1"/>
          </p:cNvSpPr>
          <p:nvPr/>
        </p:nvSpPr>
        <p:spPr bwMode="auto">
          <a:xfrm>
            <a:off x="3773488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16</a:t>
            </a:r>
          </a:p>
        </p:txBody>
      </p:sp>
      <p:sp>
        <p:nvSpPr>
          <p:cNvPr id="92172" name="Rectangle 12"/>
          <p:cNvSpPr>
            <a:spLocks noChangeArrowheads="1"/>
          </p:cNvSpPr>
          <p:nvPr/>
        </p:nvSpPr>
        <p:spPr bwMode="auto">
          <a:xfrm>
            <a:off x="4559300" y="25304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18</a:t>
            </a:r>
          </a:p>
        </p:txBody>
      </p:sp>
      <p:sp>
        <p:nvSpPr>
          <p:cNvPr id="92173" name="Text Box 13"/>
          <p:cNvSpPr txBox="1">
            <a:spLocks noChangeArrowheads="1"/>
          </p:cNvSpPr>
          <p:nvPr/>
        </p:nvSpPr>
        <p:spPr bwMode="auto">
          <a:xfrm>
            <a:off x="3286125" y="1700213"/>
            <a:ext cx="15732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publication</a:t>
            </a:r>
          </a:p>
        </p:txBody>
      </p:sp>
      <p:sp>
        <p:nvSpPr>
          <p:cNvPr id="92174" name="Line 14"/>
          <p:cNvSpPr>
            <a:spLocks noChangeShapeType="1"/>
          </p:cNvSpPr>
          <p:nvPr/>
        </p:nvSpPr>
        <p:spPr bwMode="auto">
          <a:xfrm flipV="1">
            <a:off x="3956050" y="2792413"/>
            <a:ext cx="0" cy="134937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Rectangle 15"/>
          <p:cNvSpPr>
            <a:spLocks noChangeArrowheads="1"/>
          </p:cNvSpPr>
          <p:nvPr/>
        </p:nvSpPr>
        <p:spPr bwMode="auto">
          <a:xfrm>
            <a:off x="4787900" y="2997200"/>
            <a:ext cx="1674813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demand for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 preliminary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examination</a:t>
            </a:r>
          </a:p>
          <a:p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grpSp>
        <p:nvGrpSpPr>
          <p:cNvPr id="92176" name="Group 16"/>
          <p:cNvGrpSpPr>
            <a:grpSpLocks/>
          </p:cNvGrpSpPr>
          <p:nvPr/>
        </p:nvGrpSpPr>
        <p:grpSpPr bwMode="auto">
          <a:xfrm>
            <a:off x="8172450" y="2319338"/>
            <a:ext cx="647700" cy="1219200"/>
            <a:chOff x="4047" y="342"/>
            <a:chExt cx="651" cy="1134"/>
          </a:xfrm>
        </p:grpSpPr>
        <p:sp>
          <p:nvSpPr>
            <p:cNvPr id="92177" name="Line 17"/>
            <p:cNvSpPr>
              <a:spLocks noChangeShapeType="1"/>
            </p:cNvSpPr>
            <p:nvPr/>
          </p:nvSpPr>
          <p:spPr bwMode="auto">
            <a:xfrm rot="-2700000">
              <a:off x="4047" y="705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178" name="Line 18"/>
            <p:cNvSpPr>
              <a:spLocks noChangeShapeType="1"/>
            </p:cNvSpPr>
            <p:nvPr/>
          </p:nvSpPr>
          <p:spPr bwMode="auto">
            <a:xfrm rot="900000">
              <a:off x="4122" y="98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179" name="Line 19"/>
            <p:cNvSpPr>
              <a:spLocks noChangeShapeType="1"/>
            </p:cNvSpPr>
            <p:nvPr/>
          </p:nvSpPr>
          <p:spPr bwMode="auto">
            <a:xfrm rot="2700000">
              <a:off x="4047" y="1113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180" name="Line 20"/>
            <p:cNvSpPr>
              <a:spLocks noChangeShapeType="1"/>
            </p:cNvSpPr>
            <p:nvPr/>
          </p:nvSpPr>
          <p:spPr bwMode="auto">
            <a:xfrm rot="4500000">
              <a:off x="3918" y="1188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181" name="Line 21"/>
            <p:cNvSpPr>
              <a:spLocks noChangeShapeType="1"/>
            </p:cNvSpPr>
            <p:nvPr/>
          </p:nvSpPr>
          <p:spPr bwMode="auto">
            <a:xfrm rot="-900000">
              <a:off x="4122" y="83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182" name="Line 22"/>
            <p:cNvSpPr>
              <a:spLocks noChangeShapeType="1"/>
            </p:cNvSpPr>
            <p:nvPr/>
          </p:nvSpPr>
          <p:spPr bwMode="auto">
            <a:xfrm rot="-4500000">
              <a:off x="3919" y="629"/>
              <a:ext cx="576" cy="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183" name="Rectangle 23"/>
          <p:cNvSpPr>
            <a:spLocks noChangeArrowheads="1"/>
          </p:cNvSpPr>
          <p:nvPr/>
        </p:nvSpPr>
        <p:spPr bwMode="auto">
          <a:xfrm>
            <a:off x="523875" y="2965450"/>
            <a:ext cx="1117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File local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application</a:t>
            </a:r>
            <a:endParaRPr lang="en-US" altLang="en-US" sz="140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ctr"/>
            <a:endParaRPr lang="en-US" altLang="en-US" sz="140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2184" name="Rectangle 24"/>
          <p:cNvSpPr>
            <a:spLocks noChangeArrowheads="1"/>
          </p:cNvSpPr>
          <p:nvPr/>
        </p:nvSpPr>
        <p:spPr bwMode="auto">
          <a:xfrm>
            <a:off x="8101013" y="1471613"/>
            <a:ext cx="8080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Enter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phase</a:t>
            </a:r>
          </a:p>
        </p:txBody>
      </p:sp>
      <p:sp>
        <p:nvSpPr>
          <p:cNvPr id="92185" name="Line 25"/>
          <p:cNvSpPr>
            <a:spLocks noChangeShapeType="1"/>
          </p:cNvSpPr>
          <p:nvPr/>
        </p:nvSpPr>
        <p:spPr bwMode="auto">
          <a:xfrm flipV="1">
            <a:off x="47434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6" name="Line 26"/>
          <p:cNvSpPr>
            <a:spLocks noChangeShapeType="1"/>
          </p:cNvSpPr>
          <p:nvPr/>
        </p:nvSpPr>
        <p:spPr bwMode="auto">
          <a:xfrm flipV="1">
            <a:off x="1009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7" name="Rectangle 27"/>
          <p:cNvSpPr>
            <a:spLocks noChangeArrowheads="1"/>
          </p:cNvSpPr>
          <p:nvPr/>
        </p:nvSpPr>
        <p:spPr bwMode="auto">
          <a:xfrm>
            <a:off x="53530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92188" name="Line 28"/>
          <p:cNvSpPr>
            <a:spLocks noChangeShapeType="1"/>
          </p:cNvSpPr>
          <p:nvPr/>
        </p:nvSpPr>
        <p:spPr bwMode="auto">
          <a:xfrm flipV="1">
            <a:off x="56578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89" name="Rectangle 29"/>
          <p:cNvSpPr>
            <a:spLocks noChangeArrowheads="1"/>
          </p:cNvSpPr>
          <p:nvPr/>
        </p:nvSpPr>
        <p:spPr bwMode="auto">
          <a:xfrm>
            <a:off x="71818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28</a:t>
            </a:r>
          </a:p>
        </p:txBody>
      </p:sp>
      <p:sp>
        <p:nvSpPr>
          <p:cNvPr id="92190" name="Line 30"/>
          <p:cNvSpPr>
            <a:spLocks noChangeShapeType="1"/>
          </p:cNvSpPr>
          <p:nvPr/>
        </p:nvSpPr>
        <p:spPr bwMode="auto">
          <a:xfrm flipV="1">
            <a:off x="7486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1" name="Rectangle 31"/>
          <p:cNvSpPr>
            <a:spLocks noChangeArrowheads="1"/>
          </p:cNvSpPr>
          <p:nvPr/>
        </p:nvSpPr>
        <p:spPr bwMode="auto">
          <a:xfrm>
            <a:off x="6800850" y="3005138"/>
            <a:ext cx="14493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preliminary report on patentability</a:t>
            </a:r>
          </a:p>
        </p:txBody>
      </p:sp>
      <p:sp>
        <p:nvSpPr>
          <p:cNvPr id="92192" name="Text Box 32"/>
          <p:cNvSpPr txBox="1">
            <a:spLocks noChangeArrowheads="1"/>
          </p:cNvSpPr>
          <p:nvPr/>
        </p:nvSpPr>
        <p:spPr bwMode="auto">
          <a:xfrm>
            <a:off x="34925" y="4051300"/>
            <a:ext cx="2016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Typically a national patent application in the home country of the applicant</a:t>
            </a:r>
          </a:p>
        </p:txBody>
      </p:sp>
      <p:sp>
        <p:nvSpPr>
          <p:cNvPr id="92193" name="Line 33"/>
          <p:cNvSpPr>
            <a:spLocks noChangeShapeType="1"/>
          </p:cNvSpPr>
          <p:nvPr/>
        </p:nvSpPr>
        <p:spPr bwMode="auto">
          <a:xfrm>
            <a:off x="1049338" y="3462338"/>
            <a:ext cx="1587" cy="542925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194" name="Line 34"/>
          <p:cNvSpPr>
            <a:spLocks noChangeShapeType="1"/>
          </p:cNvSpPr>
          <p:nvPr/>
        </p:nvSpPr>
        <p:spPr bwMode="auto">
          <a:xfrm flipV="1">
            <a:off x="5076825" y="2781300"/>
            <a:ext cx="0" cy="142875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195" name="Rectangle 35"/>
          <p:cNvSpPr>
            <a:spLocks noChangeArrowheads="1"/>
          </p:cNvSpPr>
          <p:nvPr/>
        </p:nvSpPr>
        <p:spPr bwMode="auto">
          <a:xfrm>
            <a:off x="4872038" y="25431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19</a:t>
            </a:r>
          </a:p>
        </p:txBody>
      </p:sp>
      <p:sp>
        <p:nvSpPr>
          <p:cNvPr id="92196" name="Text Box 38"/>
          <p:cNvSpPr txBox="1">
            <a:spLocks noChangeArrowheads="1"/>
          </p:cNvSpPr>
          <p:nvPr/>
        </p:nvSpPr>
        <p:spPr bwMode="auto">
          <a:xfrm>
            <a:off x="4632325" y="1641475"/>
            <a:ext cx="163353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s-E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Suplementary</a:t>
            </a:r>
          </a:p>
          <a:p>
            <a:pPr algn="ctr"/>
            <a:r>
              <a:rPr lang="es-E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s-E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Search (optional)</a:t>
            </a:r>
            <a:endParaRPr lang="en-US" altLang="en-US" sz="1400" b="1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92197" name="Line 39"/>
          <p:cNvSpPr>
            <a:spLocks noChangeShapeType="1"/>
          </p:cNvSpPr>
          <p:nvPr/>
        </p:nvSpPr>
        <p:spPr bwMode="auto">
          <a:xfrm flipH="1">
            <a:off x="5064125" y="2327275"/>
            <a:ext cx="287338" cy="28733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 bwMode="auto">
          <a:xfrm rot="16200000" flipV="1">
            <a:off x="4356101" y="2205037"/>
            <a:ext cx="360362" cy="36036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735562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Typical use (2)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2905125" y="3616325"/>
            <a:ext cx="2635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endParaRPr lang="en-GB" altLang="en-US" sz="800">
              <a:cs typeface="Arial" panose="020B0604020202020204" pitchFamily="34" charset="0"/>
            </a:endParaRP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627063" y="2274888"/>
            <a:ext cx="885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(months)</a:t>
            </a:r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1993900" y="2986088"/>
            <a:ext cx="11207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File PCT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94214" name="Rectangle 6"/>
          <p:cNvSpPr>
            <a:spLocks noChangeArrowheads="1"/>
          </p:cNvSpPr>
          <p:nvPr/>
        </p:nvSpPr>
        <p:spPr bwMode="auto">
          <a:xfrm>
            <a:off x="2397125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94215" name="Rectangle 7"/>
          <p:cNvSpPr>
            <a:spLocks noChangeArrowheads="1"/>
          </p:cNvSpPr>
          <p:nvPr/>
        </p:nvSpPr>
        <p:spPr bwMode="auto">
          <a:xfrm>
            <a:off x="885825" y="25288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0</a:t>
            </a:r>
          </a:p>
        </p:txBody>
      </p:sp>
      <p:sp>
        <p:nvSpPr>
          <p:cNvPr id="94216" name="Rectangle 8"/>
          <p:cNvSpPr>
            <a:spLocks noChangeArrowheads="1"/>
          </p:cNvSpPr>
          <p:nvPr/>
        </p:nvSpPr>
        <p:spPr bwMode="auto">
          <a:xfrm>
            <a:off x="7956550" y="254793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30</a:t>
            </a:r>
          </a:p>
        </p:txBody>
      </p:sp>
      <p:sp>
        <p:nvSpPr>
          <p:cNvPr id="94217" name="Line 9"/>
          <p:cNvSpPr>
            <a:spLocks noChangeShapeType="1"/>
          </p:cNvSpPr>
          <p:nvPr/>
        </p:nvSpPr>
        <p:spPr bwMode="auto">
          <a:xfrm>
            <a:off x="1009650" y="2928938"/>
            <a:ext cx="7239000" cy="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8" name="Line 10"/>
          <p:cNvSpPr>
            <a:spLocks noChangeShapeType="1"/>
          </p:cNvSpPr>
          <p:nvPr/>
        </p:nvSpPr>
        <p:spPr bwMode="auto">
          <a:xfrm flipV="1">
            <a:off x="2581275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9" name="Rectangle 11"/>
          <p:cNvSpPr>
            <a:spLocks noChangeArrowheads="1"/>
          </p:cNvSpPr>
          <p:nvPr/>
        </p:nvSpPr>
        <p:spPr bwMode="auto">
          <a:xfrm>
            <a:off x="3241675" y="2990850"/>
            <a:ext cx="14493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report &amp; written opinion</a:t>
            </a:r>
          </a:p>
        </p:txBody>
      </p:sp>
      <p:sp>
        <p:nvSpPr>
          <p:cNvPr id="94220" name="Rectangle 12"/>
          <p:cNvSpPr>
            <a:spLocks noChangeArrowheads="1"/>
          </p:cNvSpPr>
          <p:nvPr/>
        </p:nvSpPr>
        <p:spPr bwMode="auto">
          <a:xfrm>
            <a:off x="3773488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16</a:t>
            </a:r>
          </a:p>
        </p:txBody>
      </p:sp>
      <p:sp>
        <p:nvSpPr>
          <p:cNvPr id="94221" name="Rectangle 13"/>
          <p:cNvSpPr>
            <a:spLocks noChangeArrowheads="1"/>
          </p:cNvSpPr>
          <p:nvPr/>
        </p:nvSpPr>
        <p:spPr bwMode="auto">
          <a:xfrm>
            <a:off x="4559300" y="25304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18</a:t>
            </a:r>
          </a:p>
        </p:txBody>
      </p:sp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3132138" y="1628775"/>
            <a:ext cx="157321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publication</a:t>
            </a:r>
          </a:p>
        </p:txBody>
      </p:sp>
      <p:sp>
        <p:nvSpPr>
          <p:cNvPr id="94223" name="Line 15"/>
          <p:cNvSpPr>
            <a:spLocks noChangeShapeType="1"/>
          </p:cNvSpPr>
          <p:nvPr/>
        </p:nvSpPr>
        <p:spPr bwMode="auto">
          <a:xfrm flipV="1">
            <a:off x="3956050" y="2792413"/>
            <a:ext cx="0" cy="134937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24" name="Rectangle 16"/>
          <p:cNvSpPr>
            <a:spLocks noChangeArrowheads="1"/>
          </p:cNvSpPr>
          <p:nvPr/>
        </p:nvSpPr>
        <p:spPr bwMode="auto">
          <a:xfrm>
            <a:off x="4819650" y="3005138"/>
            <a:ext cx="1674813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demand for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 preliminary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examination</a:t>
            </a:r>
          </a:p>
          <a:p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grpSp>
        <p:nvGrpSpPr>
          <p:cNvPr id="94225" name="Group 17"/>
          <p:cNvGrpSpPr>
            <a:grpSpLocks/>
          </p:cNvGrpSpPr>
          <p:nvPr/>
        </p:nvGrpSpPr>
        <p:grpSpPr bwMode="auto">
          <a:xfrm>
            <a:off x="8172450" y="2319338"/>
            <a:ext cx="647700" cy="1219200"/>
            <a:chOff x="4047" y="342"/>
            <a:chExt cx="651" cy="1134"/>
          </a:xfrm>
        </p:grpSpPr>
        <p:sp>
          <p:nvSpPr>
            <p:cNvPr id="94226" name="Line 18"/>
            <p:cNvSpPr>
              <a:spLocks noChangeShapeType="1"/>
            </p:cNvSpPr>
            <p:nvPr/>
          </p:nvSpPr>
          <p:spPr bwMode="auto">
            <a:xfrm rot="-2700000">
              <a:off x="4047" y="705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27" name="Line 19"/>
            <p:cNvSpPr>
              <a:spLocks noChangeShapeType="1"/>
            </p:cNvSpPr>
            <p:nvPr/>
          </p:nvSpPr>
          <p:spPr bwMode="auto">
            <a:xfrm rot="900000">
              <a:off x="4122" y="98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28" name="Line 20"/>
            <p:cNvSpPr>
              <a:spLocks noChangeShapeType="1"/>
            </p:cNvSpPr>
            <p:nvPr/>
          </p:nvSpPr>
          <p:spPr bwMode="auto">
            <a:xfrm rot="2700000">
              <a:off x="4047" y="1113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29" name="Line 21"/>
            <p:cNvSpPr>
              <a:spLocks noChangeShapeType="1"/>
            </p:cNvSpPr>
            <p:nvPr/>
          </p:nvSpPr>
          <p:spPr bwMode="auto">
            <a:xfrm rot="4500000">
              <a:off x="3918" y="1188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30" name="Line 22"/>
            <p:cNvSpPr>
              <a:spLocks noChangeShapeType="1"/>
            </p:cNvSpPr>
            <p:nvPr/>
          </p:nvSpPr>
          <p:spPr bwMode="auto">
            <a:xfrm rot="-900000">
              <a:off x="4122" y="83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31" name="Line 23"/>
            <p:cNvSpPr>
              <a:spLocks noChangeShapeType="1"/>
            </p:cNvSpPr>
            <p:nvPr/>
          </p:nvSpPr>
          <p:spPr bwMode="auto">
            <a:xfrm rot="-4500000">
              <a:off x="3919" y="629"/>
              <a:ext cx="576" cy="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232" name="Rectangle 24"/>
          <p:cNvSpPr>
            <a:spLocks noChangeArrowheads="1"/>
          </p:cNvSpPr>
          <p:nvPr/>
        </p:nvSpPr>
        <p:spPr bwMode="auto">
          <a:xfrm>
            <a:off x="566738" y="2965450"/>
            <a:ext cx="10318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local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  <a:p>
            <a:pPr algn="ctr"/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94233" name="Rectangle 25"/>
          <p:cNvSpPr>
            <a:spLocks noChangeArrowheads="1"/>
          </p:cNvSpPr>
          <p:nvPr/>
        </p:nvSpPr>
        <p:spPr bwMode="auto">
          <a:xfrm>
            <a:off x="8101013" y="1471613"/>
            <a:ext cx="8080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Enter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phase</a:t>
            </a:r>
          </a:p>
        </p:txBody>
      </p:sp>
      <p:sp>
        <p:nvSpPr>
          <p:cNvPr id="94234" name="Line 26"/>
          <p:cNvSpPr>
            <a:spLocks noChangeShapeType="1"/>
          </p:cNvSpPr>
          <p:nvPr/>
        </p:nvSpPr>
        <p:spPr bwMode="auto">
          <a:xfrm flipV="1">
            <a:off x="47434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35" name="Line 27"/>
          <p:cNvSpPr>
            <a:spLocks noChangeShapeType="1"/>
          </p:cNvSpPr>
          <p:nvPr/>
        </p:nvSpPr>
        <p:spPr bwMode="auto">
          <a:xfrm flipV="1">
            <a:off x="1009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36" name="Rectangle 28"/>
          <p:cNvSpPr>
            <a:spLocks noChangeArrowheads="1"/>
          </p:cNvSpPr>
          <p:nvPr/>
        </p:nvSpPr>
        <p:spPr bwMode="auto">
          <a:xfrm>
            <a:off x="53530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94237" name="Line 29"/>
          <p:cNvSpPr>
            <a:spLocks noChangeShapeType="1"/>
          </p:cNvSpPr>
          <p:nvPr/>
        </p:nvSpPr>
        <p:spPr bwMode="auto">
          <a:xfrm flipV="1">
            <a:off x="56578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38" name="Rectangle 30"/>
          <p:cNvSpPr>
            <a:spLocks noChangeArrowheads="1"/>
          </p:cNvSpPr>
          <p:nvPr/>
        </p:nvSpPr>
        <p:spPr bwMode="auto">
          <a:xfrm>
            <a:off x="71818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28</a:t>
            </a:r>
          </a:p>
        </p:txBody>
      </p:sp>
      <p:sp>
        <p:nvSpPr>
          <p:cNvPr id="94239" name="Line 31"/>
          <p:cNvSpPr>
            <a:spLocks noChangeShapeType="1"/>
          </p:cNvSpPr>
          <p:nvPr/>
        </p:nvSpPr>
        <p:spPr bwMode="auto">
          <a:xfrm flipV="1">
            <a:off x="7486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40" name="Rectangle 32"/>
          <p:cNvSpPr>
            <a:spLocks noChangeArrowheads="1"/>
          </p:cNvSpPr>
          <p:nvPr/>
        </p:nvSpPr>
        <p:spPr bwMode="auto">
          <a:xfrm>
            <a:off x="6800850" y="3005138"/>
            <a:ext cx="14493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preliminary report on patentability</a:t>
            </a:r>
          </a:p>
        </p:txBody>
      </p:sp>
      <p:sp>
        <p:nvSpPr>
          <p:cNvPr id="94241" name="Text Box 33"/>
          <p:cNvSpPr txBox="1">
            <a:spLocks noChangeArrowheads="1"/>
          </p:cNvSpPr>
          <p:nvPr/>
        </p:nvSpPr>
        <p:spPr bwMode="auto">
          <a:xfrm>
            <a:off x="1416050" y="3933825"/>
            <a:ext cx="2265363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  <a:t>Typically also filed with local Patent Office.</a:t>
            </a:r>
            <a:b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  <a:t>One set of fees, one language, one set of formality requirements.</a:t>
            </a:r>
            <a:b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  <a:t> Legal effect in all PCT States.</a:t>
            </a:r>
            <a:endParaRPr lang="en-US" altLang="en-US" sz="1400" b="1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4242" name="Line 34"/>
          <p:cNvSpPr>
            <a:spLocks noChangeShapeType="1"/>
          </p:cNvSpPr>
          <p:nvPr/>
        </p:nvSpPr>
        <p:spPr bwMode="auto">
          <a:xfrm>
            <a:off x="2555875" y="3500438"/>
            <a:ext cx="0" cy="36036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4243" name="Rectangle 38"/>
          <p:cNvSpPr>
            <a:spLocks noChangeArrowheads="1"/>
          </p:cNvSpPr>
          <p:nvPr/>
        </p:nvSpPr>
        <p:spPr bwMode="auto">
          <a:xfrm>
            <a:off x="4932363" y="25304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19</a:t>
            </a:r>
          </a:p>
        </p:txBody>
      </p:sp>
      <p:sp>
        <p:nvSpPr>
          <p:cNvPr id="94244" name="Line 40"/>
          <p:cNvSpPr>
            <a:spLocks noChangeShapeType="1"/>
          </p:cNvSpPr>
          <p:nvPr/>
        </p:nvSpPr>
        <p:spPr bwMode="auto">
          <a:xfrm flipV="1">
            <a:off x="5148263" y="2781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45" name="Text Box 41"/>
          <p:cNvSpPr txBox="1">
            <a:spLocks noChangeArrowheads="1"/>
          </p:cNvSpPr>
          <p:nvPr/>
        </p:nvSpPr>
        <p:spPr bwMode="auto">
          <a:xfrm>
            <a:off x="4654550" y="1616075"/>
            <a:ext cx="15367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Suplementary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(optional)</a:t>
            </a:r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94246" name="Line 42"/>
          <p:cNvSpPr>
            <a:spLocks noChangeShapeType="1"/>
          </p:cNvSpPr>
          <p:nvPr/>
        </p:nvSpPr>
        <p:spPr bwMode="auto">
          <a:xfrm flipH="1">
            <a:off x="5122863" y="2314575"/>
            <a:ext cx="287337" cy="28733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 bwMode="auto">
          <a:xfrm rot="16200000" flipV="1">
            <a:off x="4284663" y="2133600"/>
            <a:ext cx="431800" cy="431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131323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Typical use (3)</a:t>
            </a:r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2905125" y="3616325"/>
            <a:ext cx="2635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endParaRPr lang="en-GB" altLang="en-US" sz="800">
              <a:cs typeface="Arial" panose="020B0604020202020204" pitchFamily="34" charset="0"/>
            </a:endParaRP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627063" y="2274888"/>
            <a:ext cx="885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(months)</a:t>
            </a:r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2036763" y="2986088"/>
            <a:ext cx="10350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PCT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96262" name="Rectangle 6"/>
          <p:cNvSpPr>
            <a:spLocks noChangeArrowheads="1"/>
          </p:cNvSpPr>
          <p:nvPr/>
        </p:nvSpPr>
        <p:spPr bwMode="auto">
          <a:xfrm>
            <a:off x="2397125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96263" name="Rectangle 7"/>
          <p:cNvSpPr>
            <a:spLocks noChangeArrowheads="1"/>
          </p:cNvSpPr>
          <p:nvPr/>
        </p:nvSpPr>
        <p:spPr bwMode="auto">
          <a:xfrm>
            <a:off x="885825" y="25288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0</a:t>
            </a:r>
          </a:p>
        </p:txBody>
      </p:sp>
      <p:sp>
        <p:nvSpPr>
          <p:cNvPr id="96264" name="Rectangle 8"/>
          <p:cNvSpPr>
            <a:spLocks noChangeArrowheads="1"/>
          </p:cNvSpPr>
          <p:nvPr/>
        </p:nvSpPr>
        <p:spPr bwMode="auto">
          <a:xfrm>
            <a:off x="7956550" y="254793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30</a:t>
            </a:r>
          </a:p>
        </p:txBody>
      </p:sp>
      <p:sp>
        <p:nvSpPr>
          <p:cNvPr id="96265" name="Line 9"/>
          <p:cNvSpPr>
            <a:spLocks noChangeShapeType="1"/>
          </p:cNvSpPr>
          <p:nvPr/>
        </p:nvSpPr>
        <p:spPr bwMode="auto">
          <a:xfrm>
            <a:off x="1009650" y="2928938"/>
            <a:ext cx="7239000" cy="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6" name="Line 10"/>
          <p:cNvSpPr>
            <a:spLocks noChangeShapeType="1"/>
          </p:cNvSpPr>
          <p:nvPr/>
        </p:nvSpPr>
        <p:spPr bwMode="auto">
          <a:xfrm flipV="1">
            <a:off x="2581275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7" name="Rectangle 11"/>
          <p:cNvSpPr>
            <a:spLocks noChangeArrowheads="1"/>
          </p:cNvSpPr>
          <p:nvPr/>
        </p:nvSpPr>
        <p:spPr bwMode="auto">
          <a:xfrm>
            <a:off x="3241675" y="2990850"/>
            <a:ext cx="14493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search report &amp; written opinion</a:t>
            </a:r>
          </a:p>
        </p:txBody>
      </p:sp>
      <p:sp>
        <p:nvSpPr>
          <p:cNvPr id="96268" name="Rectangle 12"/>
          <p:cNvSpPr>
            <a:spLocks noChangeArrowheads="1"/>
          </p:cNvSpPr>
          <p:nvPr/>
        </p:nvSpPr>
        <p:spPr bwMode="auto">
          <a:xfrm>
            <a:off x="3773488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16</a:t>
            </a:r>
          </a:p>
        </p:txBody>
      </p:sp>
      <p:sp>
        <p:nvSpPr>
          <p:cNvPr id="96269" name="Rectangle 13"/>
          <p:cNvSpPr>
            <a:spLocks noChangeArrowheads="1"/>
          </p:cNvSpPr>
          <p:nvPr/>
        </p:nvSpPr>
        <p:spPr bwMode="auto">
          <a:xfrm>
            <a:off x="4559300" y="25304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18</a:t>
            </a:r>
          </a:p>
        </p:txBody>
      </p:sp>
      <p:sp>
        <p:nvSpPr>
          <p:cNvPr id="96270" name="Text Box 14"/>
          <p:cNvSpPr txBox="1">
            <a:spLocks noChangeArrowheads="1"/>
          </p:cNvSpPr>
          <p:nvPr/>
        </p:nvSpPr>
        <p:spPr bwMode="auto">
          <a:xfrm>
            <a:off x="2987675" y="1628775"/>
            <a:ext cx="15732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publication</a:t>
            </a:r>
          </a:p>
        </p:txBody>
      </p:sp>
      <p:sp>
        <p:nvSpPr>
          <p:cNvPr id="96271" name="Line 15"/>
          <p:cNvSpPr>
            <a:spLocks noChangeShapeType="1"/>
          </p:cNvSpPr>
          <p:nvPr/>
        </p:nvSpPr>
        <p:spPr bwMode="auto">
          <a:xfrm flipV="1">
            <a:off x="3956050" y="2792413"/>
            <a:ext cx="0" cy="134937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72" name="Rectangle 16"/>
          <p:cNvSpPr>
            <a:spLocks noChangeArrowheads="1"/>
          </p:cNvSpPr>
          <p:nvPr/>
        </p:nvSpPr>
        <p:spPr bwMode="auto">
          <a:xfrm>
            <a:off x="4819650" y="3005138"/>
            <a:ext cx="1674813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demand for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 preliminary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examination</a:t>
            </a:r>
          </a:p>
          <a:p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grpSp>
        <p:nvGrpSpPr>
          <p:cNvPr id="96273" name="Group 17"/>
          <p:cNvGrpSpPr>
            <a:grpSpLocks/>
          </p:cNvGrpSpPr>
          <p:nvPr/>
        </p:nvGrpSpPr>
        <p:grpSpPr bwMode="auto">
          <a:xfrm>
            <a:off x="8172450" y="2319338"/>
            <a:ext cx="647700" cy="1219200"/>
            <a:chOff x="4047" y="342"/>
            <a:chExt cx="651" cy="1134"/>
          </a:xfrm>
        </p:grpSpPr>
        <p:sp>
          <p:nvSpPr>
            <p:cNvPr id="96274" name="Line 18"/>
            <p:cNvSpPr>
              <a:spLocks noChangeShapeType="1"/>
            </p:cNvSpPr>
            <p:nvPr/>
          </p:nvSpPr>
          <p:spPr bwMode="auto">
            <a:xfrm rot="-2700000">
              <a:off x="4047" y="705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75" name="Line 19"/>
            <p:cNvSpPr>
              <a:spLocks noChangeShapeType="1"/>
            </p:cNvSpPr>
            <p:nvPr/>
          </p:nvSpPr>
          <p:spPr bwMode="auto">
            <a:xfrm rot="900000">
              <a:off x="4122" y="98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76" name="Line 20"/>
            <p:cNvSpPr>
              <a:spLocks noChangeShapeType="1"/>
            </p:cNvSpPr>
            <p:nvPr/>
          </p:nvSpPr>
          <p:spPr bwMode="auto">
            <a:xfrm rot="2700000">
              <a:off x="4047" y="1113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77" name="Line 21"/>
            <p:cNvSpPr>
              <a:spLocks noChangeShapeType="1"/>
            </p:cNvSpPr>
            <p:nvPr/>
          </p:nvSpPr>
          <p:spPr bwMode="auto">
            <a:xfrm rot="4500000">
              <a:off x="3918" y="1188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78" name="Line 22"/>
            <p:cNvSpPr>
              <a:spLocks noChangeShapeType="1"/>
            </p:cNvSpPr>
            <p:nvPr/>
          </p:nvSpPr>
          <p:spPr bwMode="auto">
            <a:xfrm rot="-900000">
              <a:off x="4122" y="83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79" name="Line 23"/>
            <p:cNvSpPr>
              <a:spLocks noChangeShapeType="1"/>
            </p:cNvSpPr>
            <p:nvPr/>
          </p:nvSpPr>
          <p:spPr bwMode="auto">
            <a:xfrm rot="-4500000">
              <a:off x="3919" y="629"/>
              <a:ext cx="576" cy="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6280" name="Rectangle 24"/>
          <p:cNvSpPr>
            <a:spLocks noChangeArrowheads="1"/>
          </p:cNvSpPr>
          <p:nvPr/>
        </p:nvSpPr>
        <p:spPr bwMode="auto">
          <a:xfrm>
            <a:off x="566738" y="2965450"/>
            <a:ext cx="10318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local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  <a:p>
            <a:pPr algn="ctr"/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96281" name="Rectangle 25"/>
          <p:cNvSpPr>
            <a:spLocks noChangeArrowheads="1"/>
          </p:cNvSpPr>
          <p:nvPr/>
        </p:nvSpPr>
        <p:spPr bwMode="auto">
          <a:xfrm>
            <a:off x="8101013" y="1471613"/>
            <a:ext cx="8080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Enter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phase</a:t>
            </a:r>
          </a:p>
        </p:txBody>
      </p:sp>
      <p:sp>
        <p:nvSpPr>
          <p:cNvPr id="96282" name="Line 26"/>
          <p:cNvSpPr>
            <a:spLocks noChangeShapeType="1"/>
          </p:cNvSpPr>
          <p:nvPr/>
        </p:nvSpPr>
        <p:spPr bwMode="auto">
          <a:xfrm flipV="1">
            <a:off x="47434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83" name="Line 27"/>
          <p:cNvSpPr>
            <a:spLocks noChangeShapeType="1"/>
          </p:cNvSpPr>
          <p:nvPr/>
        </p:nvSpPr>
        <p:spPr bwMode="auto">
          <a:xfrm flipV="1">
            <a:off x="1009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84" name="Rectangle 28"/>
          <p:cNvSpPr>
            <a:spLocks noChangeArrowheads="1"/>
          </p:cNvSpPr>
          <p:nvPr/>
        </p:nvSpPr>
        <p:spPr bwMode="auto">
          <a:xfrm>
            <a:off x="53530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96285" name="Line 29"/>
          <p:cNvSpPr>
            <a:spLocks noChangeShapeType="1"/>
          </p:cNvSpPr>
          <p:nvPr/>
        </p:nvSpPr>
        <p:spPr bwMode="auto">
          <a:xfrm flipV="1">
            <a:off x="56578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86" name="Rectangle 30"/>
          <p:cNvSpPr>
            <a:spLocks noChangeArrowheads="1"/>
          </p:cNvSpPr>
          <p:nvPr/>
        </p:nvSpPr>
        <p:spPr bwMode="auto">
          <a:xfrm>
            <a:off x="71818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28</a:t>
            </a:r>
          </a:p>
        </p:txBody>
      </p:sp>
      <p:sp>
        <p:nvSpPr>
          <p:cNvPr id="96287" name="Line 31"/>
          <p:cNvSpPr>
            <a:spLocks noChangeShapeType="1"/>
          </p:cNvSpPr>
          <p:nvPr/>
        </p:nvSpPr>
        <p:spPr bwMode="auto">
          <a:xfrm flipV="1">
            <a:off x="7486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88" name="Rectangle 32"/>
          <p:cNvSpPr>
            <a:spLocks noChangeArrowheads="1"/>
          </p:cNvSpPr>
          <p:nvPr/>
        </p:nvSpPr>
        <p:spPr bwMode="auto">
          <a:xfrm>
            <a:off x="6800850" y="3005138"/>
            <a:ext cx="14493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preliminary report on patentability</a:t>
            </a:r>
          </a:p>
        </p:txBody>
      </p:sp>
      <p:sp>
        <p:nvSpPr>
          <p:cNvPr id="96289" name="Text Box 33"/>
          <p:cNvSpPr txBox="1">
            <a:spLocks noChangeArrowheads="1"/>
          </p:cNvSpPr>
          <p:nvPr/>
        </p:nvSpPr>
        <p:spPr bwMode="auto">
          <a:xfrm>
            <a:off x="2946400" y="4437063"/>
            <a:ext cx="1951038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  <a:t>Report on state of the art (prior art documents and their relevance) + initial opinion on patentability</a:t>
            </a:r>
          </a:p>
        </p:txBody>
      </p:sp>
      <p:sp>
        <p:nvSpPr>
          <p:cNvPr id="96290" name="Line 34"/>
          <p:cNvSpPr>
            <a:spLocks noChangeShapeType="1"/>
          </p:cNvSpPr>
          <p:nvPr/>
        </p:nvSpPr>
        <p:spPr bwMode="auto">
          <a:xfrm>
            <a:off x="3924300" y="3932238"/>
            <a:ext cx="0" cy="504825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6291" name="Rectangle 35"/>
          <p:cNvSpPr>
            <a:spLocks noChangeArrowheads="1"/>
          </p:cNvSpPr>
          <p:nvPr/>
        </p:nvSpPr>
        <p:spPr bwMode="auto">
          <a:xfrm>
            <a:off x="4884738" y="2530475"/>
            <a:ext cx="504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19</a:t>
            </a:r>
          </a:p>
        </p:txBody>
      </p:sp>
      <p:sp>
        <p:nvSpPr>
          <p:cNvPr id="96292" name="Line 37"/>
          <p:cNvSpPr>
            <a:spLocks noChangeShapeType="1"/>
          </p:cNvSpPr>
          <p:nvPr/>
        </p:nvSpPr>
        <p:spPr bwMode="auto">
          <a:xfrm flipV="1">
            <a:off x="5148263" y="2781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93" name="Text Box 38"/>
          <p:cNvSpPr txBox="1">
            <a:spLocks noChangeArrowheads="1"/>
          </p:cNvSpPr>
          <p:nvPr/>
        </p:nvSpPr>
        <p:spPr bwMode="auto">
          <a:xfrm>
            <a:off x="4629150" y="1654175"/>
            <a:ext cx="15367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Suplementary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(optional)</a:t>
            </a:r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96294" name="Line 39"/>
          <p:cNvSpPr>
            <a:spLocks noChangeShapeType="1"/>
          </p:cNvSpPr>
          <p:nvPr/>
        </p:nvSpPr>
        <p:spPr bwMode="auto">
          <a:xfrm flipH="1">
            <a:off x="5102225" y="2314575"/>
            <a:ext cx="287338" cy="28733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 bwMode="auto">
          <a:xfrm rot="16200000" flipV="1">
            <a:off x="4284663" y="2133600"/>
            <a:ext cx="431800" cy="431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630547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Typical use (4)</a:t>
            </a: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2905125" y="4546600"/>
            <a:ext cx="2635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endParaRPr lang="en-GB" altLang="en-US" sz="800">
              <a:cs typeface="Arial" panose="020B0604020202020204" pitchFamily="34" charset="0"/>
            </a:endParaRP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627063" y="3205163"/>
            <a:ext cx="885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(months)</a:t>
            </a: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2036763" y="3916363"/>
            <a:ext cx="10350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PCT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auto">
          <a:xfrm>
            <a:off x="2397125" y="3459163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98311" name="Rectangle 7"/>
          <p:cNvSpPr>
            <a:spLocks noChangeArrowheads="1"/>
          </p:cNvSpPr>
          <p:nvPr/>
        </p:nvSpPr>
        <p:spPr bwMode="auto">
          <a:xfrm>
            <a:off x="885825" y="3459163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0</a:t>
            </a:r>
          </a:p>
        </p:txBody>
      </p:sp>
      <p:sp>
        <p:nvSpPr>
          <p:cNvPr id="98312" name="Rectangle 8"/>
          <p:cNvSpPr>
            <a:spLocks noChangeArrowheads="1"/>
          </p:cNvSpPr>
          <p:nvPr/>
        </p:nvSpPr>
        <p:spPr bwMode="auto">
          <a:xfrm>
            <a:off x="7956550" y="3478213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30</a:t>
            </a:r>
          </a:p>
        </p:txBody>
      </p:sp>
      <p:sp>
        <p:nvSpPr>
          <p:cNvPr id="98313" name="Line 9"/>
          <p:cNvSpPr>
            <a:spLocks noChangeShapeType="1"/>
          </p:cNvSpPr>
          <p:nvPr/>
        </p:nvSpPr>
        <p:spPr bwMode="auto">
          <a:xfrm>
            <a:off x="1009650" y="3859213"/>
            <a:ext cx="7239000" cy="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4" name="Line 10"/>
          <p:cNvSpPr>
            <a:spLocks noChangeShapeType="1"/>
          </p:cNvSpPr>
          <p:nvPr/>
        </p:nvSpPr>
        <p:spPr bwMode="auto">
          <a:xfrm flipV="1">
            <a:off x="2581275" y="3706813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5" name="Rectangle 11"/>
          <p:cNvSpPr>
            <a:spLocks noChangeArrowheads="1"/>
          </p:cNvSpPr>
          <p:nvPr/>
        </p:nvSpPr>
        <p:spPr bwMode="auto">
          <a:xfrm>
            <a:off x="3241675" y="3921125"/>
            <a:ext cx="14493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report &amp; written opinion</a:t>
            </a:r>
          </a:p>
        </p:txBody>
      </p:sp>
      <p:sp>
        <p:nvSpPr>
          <p:cNvPr id="98316" name="Rectangle 12"/>
          <p:cNvSpPr>
            <a:spLocks noChangeArrowheads="1"/>
          </p:cNvSpPr>
          <p:nvPr/>
        </p:nvSpPr>
        <p:spPr bwMode="auto">
          <a:xfrm>
            <a:off x="3773488" y="3459163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16</a:t>
            </a:r>
          </a:p>
        </p:txBody>
      </p:sp>
      <p:sp>
        <p:nvSpPr>
          <p:cNvPr id="98317" name="Rectangle 13"/>
          <p:cNvSpPr>
            <a:spLocks noChangeArrowheads="1"/>
          </p:cNvSpPr>
          <p:nvPr/>
        </p:nvSpPr>
        <p:spPr bwMode="auto">
          <a:xfrm>
            <a:off x="4559300" y="3460750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18</a:t>
            </a:r>
          </a:p>
        </p:txBody>
      </p:sp>
      <p:sp>
        <p:nvSpPr>
          <p:cNvPr id="98318" name="Text Box 14"/>
          <p:cNvSpPr txBox="1">
            <a:spLocks noChangeArrowheads="1"/>
          </p:cNvSpPr>
          <p:nvPr/>
        </p:nvSpPr>
        <p:spPr bwMode="auto">
          <a:xfrm>
            <a:off x="3132138" y="2492375"/>
            <a:ext cx="157321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publication</a:t>
            </a:r>
          </a:p>
        </p:txBody>
      </p:sp>
      <p:sp>
        <p:nvSpPr>
          <p:cNvPr id="98319" name="Line 15"/>
          <p:cNvSpPr>
            <a:spLocks noChangeShapeType="1"/>
          </p:cNvSpPr>
          <p:nvPr/>
        </p:nvSpPr>
        <p:spPr bwMode="auto">
          <a:xfrm flipV="1">
            <a:off x="3956050" y="3722688"/>
            <a:ext cx="0" cy="134937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20" name="Rectangle 16"/>
          <p:cNvSpPr>
            <a:spLocks noChangeArrowheads="1"/>
          </p:cNvSpPr>
          <p:nvPr/>
        </p:nvSpPr>
        <p:spPr bwMode="auto">
          <a:xfrm>
            <a:off x="4819650" y="3935413"/>
            <a:ext cx="1674813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demand for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 preliminary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examination</a:t>
            </a:r>
          </a:p>
          <a:p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grpSp>
        <p:nvGrpSpPr>
          <p:cNvPr id="98321" name="Group 17"/>
          <p:cNvGrpSpPr>
            <a:grpSpLocks/>
          </p:cNvGrpSpPr>
          <p:nvPr/>
        </p:nvGrpSpPr>
        <p:grpSpPr bwMode="auto">
          <a:xfrm>
            <a:off x="8172450" y="3249613"/>
            <a:ext cx="647700" cy="1219200"/>
            <a:chOff x="4047" y="342"/>
            <a:chExt cx="651" cy="1134"/>
          </a:xfrm>
        </p:grpSpPr>
        <p:sp>
          <p:nvSpPr>
            <p:cNvPr id="98322" name="Line 18"/>
            <p:cNvSpPr>
              <a:spLocks noChangeShapeType="1"/>
            </p:cNvSpPr>
            <p:nvPr/>
          </p:nvSpPr>
          <p:spPr bwMode="auto">
            <a:xfrm rot="-2700000">
              <a:off x="4047" y="705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23" name="Line 19"/>
            <p:cNvSpPr>
              <a:spLocks noChangeShapeType="1"/>
            </p:cNvSpPr>
            <p:nvPr/>
          </p:nvSpPr>
          <p:spPr bwMode="auto">
            <a:xfrm rot="900000">
              <a:off x="4122" y="98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24" name="Line 20"/>
            <p:cNvSpPr>
              <a:spLocks noChangeShapeType="1"/>
            </p:cNvSpPr>
            <p:nvPr/>
          </p:nvSpPr>
          <p:spPr bwMode="auto">
            <a:xfrm rot="2700000">
              <a:off x="4047" y="1113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25" name="Line 21"/>
            <p:cNvSpPr>
              <a:spLocks noChangeShapeType="1"/>
            </p:cNvSpPr>
            <p:nvPr/>
          </p:nvSpPr>
          <p:spPr bwMode="auto">
            <a:xfrm rot="4500000">
              <a:off x="3918" y="1188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26" name="Line 22"/>
            <p:cNvSpPr>
              <a:spLocks noChangeShapeType="1"/>
            </p:cNvSpPr>
            <p:nvPr/>
          </p:nvSpPr>
          <p:spPr bwMode="auto">
            <a:xfrm rot="-900000">
              <a:off x="4122" y="83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27" name="Line 23"/>
            <p:cNvSpPr>
              <a:spLocks noChangeShapeType="1"/>
            </p:cNvSpPr>
            <p:nvPr/>
          </p:nvSpPr>
          <p:spPr bwMode="auto">
            <a:xfrm rot="-4500000">
              <a:off x="3919" y="629"/>
              <a:ext cx="576" cy="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8328" name="Rectangle 24"/>
          <p:cNvSpPr>
            <a:spLocks noChangeArrowheads="1"/>
          </p:cNvSpPr>
          <p:nvPr/>
        </p:nvSpPr>
        <p:spPr bwMode="auto">
          <a:xfrm>
            <a:off x="566738" y="3895725"/>
            <a:ext cx="10318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local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  <a:p>
            <a:pPr algn="ctr"/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98329" name="Rectangle 25"/>
          <p:cNvSpPr>
            <a:spLocks noChangeArrowheads="1"/>
          </p:cNvSpPr>
          <p:nvPr/>
        </p:nvSpPr>
        <p:spPr bwMode="auto">
          <a:xfrm>
            <a:off x="8101013" y="2401888"/>
            <a:ext cx="8080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Enter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phase</a:t>
            </a:r>
          </a:p>
        </p:txBody>
      </p:sp>
      <p:sp>
        <p:nvSpPr>
          <p:cNvPr id="98330" name="Line 26"/>
          <p:cNvSpPr>
            <a:spLocks noChangeShapeType="1"/>
          </p:cNvSpPr>
          <p:nvPr/>
        </p:nvSpPr>
        <p:spPr bwMode="auto">
          <a:xfrm flipV="1">
            <a:off x="4743450" y="3706813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1" name="Line 27"/>
          <p:cNvSpPr>
            <a:spLocks noChangeShapeType="1"/>
          </p:cNvSpPr>
          <p:nvPr/>
        </p:nvSpPr>
        <p:spPr bwMode="auto">
          <a:xfrm flipV="1">
            <a:off x="1009650" y="3706813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2" name="Rectangle 28"/>
          <p:cNvSpPr>
            <a:spLocks noChangeArrowheads="1"/>
          </p:cNvSpPr>
          <p:nvPr/>
        </p:nvSpPr>
        <p:spPr bwMode="auto">
          <a:xfrm>
            <a:off x="5353050" y="3478213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98333" name="Line 29"/>
          <p:cNvSpPr>
            <a:spLocks noChangeShapeType="1"/>
          </p:cNvSpPr>
          <p:nvPr/>
        </p:nvSpPr>
        <p:spPr bwMode="auto">
          <a:xfrm flipV="1">
            <a:off x="5657850" y="3706813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4" name="Rectangle 30"/>
          <p:cNvSpPr>
            <a:spLocks noChangeArrowheads="1"/>
          </p:cNvSpPr>
          <p:nvPr/>
        </p:nvSpPr>
        <p:spPr bwMode="auto">
          <a:xfrm>
            <a:off x="7181850" y="3478213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28</a:t>
            </a:r>
          </a:p>
        </p:txBody>
      </p:sp>
      <p:sp>
        <p:nvSpPr>
          <p:cNvPr id="98335" name="Line 31"/>
          <p:cNvSpPr>
            <a:spLocks noChangeShapeType="1"/>
          </p:cNvSpPr>
          <p:nvPr/>
        </p:nvSpPr>
        <p:spPr bwMode="auto">
          <a:xfrm flipV="1">
            <a:off x="7486650" y="3706813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36" name="Rectangle 32"/>
          <p:cNvSpPr>
            <a:spLocks noChangeArrowheads="1"/>
          </p:cNvSpPr>
          <p:nvPr/>
        </p:nvSpPr>
        <p:spPr bwMode="auto">
          <a:xfrm>
            <a:off x="6800850" y="3935413"/>
            <a:ext cx="14493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preliminary report on patentability</a:t>
            </a:r>
          </a:p>
        </p:txBody>
      </p:sp>
      <p:sp>
        <p:nvSpPr>
          <p:cNvPr id="98337" name="Text Box 33"/>
          <p:cNvSpPr txBox="1">
            <a:spLocks noChangeArrowheads="1"/>
          </p:cNvSpPr>
          <p:nvPr/>
        </p:nvSpPr>
        <p:spPr bwMode="auto">
          <a:xfrm>
            <a:off x="3059113" y="1196975"/>
            <a:ext cx="1727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  <a:t>Public disclosure to the world of content of application in standardized way</a:t>
            </a:r>
          </a:p>
        </p:txBody>
      </p:sp>
      <p:sp>
        <p:nvSpPr>
          <p:cNvPr id="98338" name="Line 34"/>
          <p:cNvSpPr>
            <a:spLocks noChangeShapeType="1"/>
          </p:cNvSpPr>
          <p:nvPr/>
        </p:nvSpPr>
        <p:spPr bwMode="auto">
          <a:xfrm flipV="1">
            <a:off x="3924300" y="2060575"/>
            <a:ext cx="0" cy="4302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8339" name="Rectangle 35"/>
          <p:cNvSpPr>
            <a:spLocks noChangeArrowheads="1"/>
          </p:cNvSpPr>
          <p:nvPr/>
        </p:nvSpPr>
        <p:spPr bwMode="auto">
          <a:xfrm>
            <a:off x="5029200" y="3454400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19</a:t>
            </a:r>
          </a:p>
        </p:txBody>
      </p:sp>
      <p:sp>
        <p:nvSpPr>
          <p:cNvPr id="98340" name="Line 37"/>
          <p:cNvSpPr>
            <a:spLocks noChangeShapeType="1"/>
          </p:cNvSpPr>
          <p:nvPr/>
        </p:nvSpPr>
        <p:spPr bwMode="auto">
          <a:xfrm flipV="1">
            <a:off x="5219700" y="37163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41" name="Text Box 38"/>
          <p:cNvSpPr txBox="1">
            <a:spLocks noChangeArrowheads="1"/>
          </p:cNvSpPr>
          <p:nvPr/>
        </p:nvSpPr>
        <p:spPr bwMode="auto">
          <a:xfrm>
            <a:off x="4683125" y="2517775"/>
            <a:ext cx="163353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s-E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Suplementary</a:t>
            </a:r>
          </a:p>
          <a:p>
            <a:pPr algn="ctr"/>
            <a:r>
              <a:rPr lang="es-E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s-E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Search (optional)</a:t>
            </a:r>
            <a:endParaRPr lang="en-US" altLang="en-US" sz="1400" b="1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8342" name="Line 39"/>
          <p:cNvSpPr>
            <a:spLocks noChangeShapeType="1"/>
          </p:cNvSpPr>
          <p:nvPr/>
        </p:nvSpPr>
        <p:spPr bwMode="auto">
          <a:xfrm flipH="1">
            <a:off x="5229225" y="3225800"/>
            <a:ext cx="287338" cy="28733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 bwMode="auto">
          <a:xfrm rot="16200000" flipV="1">
            <a:off x="4355306" y="2997994"/>
            <a:ext cx="433388" cy="431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404817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8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8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Typical use (5)</a:t>
            </a:r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2905125" y="3616325"/>
            <a:ext cx="2635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endParaRPr lang="en-GB" altLang="en-US" sz="800">
              <a:cs typeface="Arial" panose="020B0604020202020204" pitchFamily="34" charset="0"/>
            </a:endParaRPr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627063" y="2274888"/>
            <a:ext cx="885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(months)</a:t>
            </a:r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2036763" y="2986088"/>
            <a:ext cx="10350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PCT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auto">
          <a:xfrm>
            <a:off x="2397125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100359" name="Rectangle 7"/>
          <p:cNvSpPr>
            <a:spLocks noChangeArrowheads="1"/>
          </p:cNvSpPr>
          <p:nvPr/>
        </p:nvSpPr>
        <p:spPr bwMode="auto">
          <a:xfrm>
            <a:off x="885825" y="25288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0</a:t>
            </a:r>
          </a:p>
        </p:txBody>
      </p:sp>
      <p:sp>
        <p:nvSpPr>
          <p:cNvPr id="100360" name="Rectangle 8"/>
          <p:cNvSpPr>
            <a:spLocks noChangeArrowheads="1"/>
          </p:cNvSpPr>
          <p:nvPr/>
        </p:nvSpPr>
        <p:spPr bwMode="auto">
          <a:xfrm>
            <a:off x="7956550" y="254793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30</a:t>
            </a:r>
          </a:p>
        </p:txBody>
      </p:sp>
      <p:sp>
        <p:nvSpPr>
          <p:cNvPr id="100361" name="Line 9"/>
          <p:cNvSpPr>
            <a:spLocks noChangeShapeType="1"/>
          </p:cNvSpPr>
          <p:nvPr/>
        </p:nvSpPr>
        <p:spPr bwMode="auto">
          <a:xfrm>
            <a:off x="1009650" y="2928938"/>
            <a:ext cx="7239000" cy="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62" name="Line 10"/>
          <p:cNvSpPr>
            <a:spLocks noChangeShapeType="1"/>
          </p:cNvSpPr>
          <p:nvPr/>
        </p:nvSpPr>
        <p:spPr bwMode="auto">
          <a:xfrm flipV="1">
            <a:off x="2581275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63" name="Rectangle 11"/>
          <p:cNvSpPr>
            <a:spLocks noChangeArrowheads="1"/>
          </p:cNvSpPr>
          <p:nvPr/>
        </p:nvSpPr>
        <p:spPr bwMode="auto">
          <a:xfrm>
            <a:off x="3241675" y="2990850"/>
            <a:ext cx="14493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report &amp; written opinion</a:t>
            </a:r>
          </a:p>
        </p:txBody>
      </p:sp>
      <p:sp>
        <p:nvSpPr>
          <p:cNvPr id="100364" name="Rectangle 12"/>
          <p:cNvSpPr>
            <a:spLocks noChangeArrowheads="1"/>
          </p:cNvSpPr>
          <p:nvPr/>
        </p:nvSpPr>
        <p:spPr bwMode="auto">
          <a:xfrm>
            <a:off x="3773488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16</a:t>
            </a:r>
          </a:p>
        </p:txBody>
      </p:sp>
      <p:sp>
        <p:nvSpPr>
          <p:cNvPr id="100365" name="Rectangle 13"/>
          <p:cNvSpPr>
            <a:spLocks noChangeArrowheads="1"/>
          </p:cNvSpPr>
          <p:nvPr/>
        </p:nvSpPr>
        <p:spPr bwMode="auto">
          <a:xfrm>
            <a:off x="4559300" y="25304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18</a:t>
            </a:r>
          </a:p>
        </p:txBody>
      </p:sp>
      <p:sp>
        <p:nvSpPr>
          <p:cNvPr id="100366" name="Text Box 14"/>
          <p:cNvSpPr txBox="1">
            <a:spLocks noChangeArrowheads="1"/>
          </p:cNvSpPr>
          <p:nvPr/>
        </p:nvSpPr>
        <p:spPr bwMode="auto">
          <a:xfrm>
            <a:off x="3276600" y="1628775"/>
            <a:ext cx="157321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publication</a:t>
            </a:r>
          </a:p>
        </p:txBody>
      </p:sp>
      <p:sp>
        <p:nvSpPr>
          <p:cNvPr id="100367" name="Line 15"/>
          <p:cNvSpPr>
            <a:spLocks noChangeShapeType="1"/>
          </p:cNvSpPr>
          <p:nvPr/>
        </p:nvSpPr>
        <p:spPr bwMode="auto">
          <a:xfrm flipV="1">
            <a:off x="3956050" y="2792413"/>
            <a:ext cx="0" cy="134937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68" name="Rectangle 16"/>
          <p:cNvSpPr>
            <a:spLocks noChangeArrowheads="1"/>
          </p:cNvSpPr>
          <p:nvPr/>
        </p:nvSpPr>
        <p:spPr bwMode="auto">
          <a:xfrm>
            <a:off x="4819650" y="3005138"/>
            <a:ext cx="1674813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File</a:t>
            </a:r>
            <a:b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 demand for</a:t>
            </a:r>
            <a:b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</a:br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international</a:t>
            </a:r>
          </a:p>
          <a:p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       preliminary</a:t>
            </a:r>
          </a:p>
          <a:p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      examination</a:t>
            </a:r>
          </a:p>
          <a:p>
            <a:endParaRPr lang="en-US" altLang="en-US" sz="1400" b="1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100369" name="Group 17"/>
          <p:cNvGrpSpPr>
            <a:grpSpLocks/>
          </p:cNvGrpSpPr>
          <p:nvPr/>
        </p:nvGrpSpPr>
        <p:grpSpPr bwMode="auto">
          <a:xfrm>
            <a:off x="8172450" y="2319338"/>
            <a:ext cx="647700" cy="1219200"/>
            <a:chOff x="4047" y="342"/>
            <a:chExt cx="651" cy="1134"/>
          </a:xfrm>
        </p:grpSpPr>
        <p:sp>
          <p:nvSpPr>
            <p:cNvPr id="100370" name="Line 18"/>
            <p:cNvSpPr>
              <a:spLocks noChangeShapeType="1"/>
            </p:cNvSpPr>
            <p:nvPr/>
          </p:nvSpPr>
          <p:spPr bwMode="auto">
            <a:xfrm rot="-2700000">
              <a:off x="4047" y="705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1" name="Line 19"/>
            <p:cNvSpPr>
              <a:spLocks noChangeShapeType="1"/>
            </p:cNvSpPr>
            <p:nvPr/>
          </p:nvSpPr>
          <p:spPr bwMode="auto">
            <a:xfrm rot="900000">
              <a:off x="4122" y="98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2" name="Line 20"/>
            <p:cNvSpPr>
              <a:spLocks noChangeShapeType="1"/>
            </p:cNvSpPr>
            <p:nvPr/>
          </p:nvSpPr>
          <p:spPr bwMode="auto">
            <a:xfrm rot="2700000">
              <a:off x="4047" y="1113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3" name="Line 21"/>
            <p:cNvSpPr>
              <a:spLocks noChangeShapeType="1"/>
            </p:cNvSpPr>
            <p:nvPr/>
          </p:nvSpPr>
          <p:spPr bwMode="auto">
            <a:xfrm rot="4500000">
              <a:off x="3918" y="1188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4" name="Line 22"/>
            <p:cNvSpPr>
              <a:spLocks noChangeShapeType="1"/>
            </p:cNvSpPr>
            <p:nvPr/>
          </p:nvSpPr>
          <p:spPr bwMode="auto">
            <a:xfrm rot="-900000">
              <a:off x="4122" y="83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75" name="Line 23"/>
            <p:cNvSpPr>
              <a:spLocks noChangeShapeType="1"/>
            </p:cNvSpPr>
            <p:nvPr/>
          </p:nvSpPr>
          <p:spPr bwMode="auto">
            <a:xfrm rot="-4500000">
              <a:off x="3919" y="629"/>
              <a:ext cx="576" cy="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0376" name="Rectangle 24"/>
          <p:cNvSpPr>
            <a:spLocks noChangeArrowheads="1"/>
          </p:cNvSpPr>
          <p:nvPr/>
        </p:nvSpPr>
        <p:spPr bwMode="auto">
          <a:xfrm>
            <a:off x="566738" y="2965450"/>
            <a:ext cx="10318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local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  <a:p>
            <a:pPr algn="ctr"/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100377" name="Rectangle 25"/>
          <p:cNvSpPr>
            <a:spLocks noChangeArrowheads="1"/>
          </p:cNvSpPr>
          <p:nvPr/>
        </p:nvSpPr>
        <p:spPr bwMode="auto">
          <a:xfrm>
            <a:off x="8101013" y="1471613"/>
            <a:ext cx="8080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Enter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phase</a:t>
            </a:r>
          </a:p>
        </p:txBody>
      </p:sp>
      <p:sp>
        <p:nvSpPr>
          <p:cNvPr id="100378" name="Line 26"/>
          <p:cNvSpPr>
            <a:spLocks noChangeShapeType="1"/>
          </p:cNvSpPr>
          <p:nvPr/>
        </p:nvSpPr>
        <p:spPr bwMode="auto">
          <a:xfrm flipV="1">
            <a:off x="47434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79" name="Line 27"/>
          <p:cNvSpPr>
            <a:spLocks noChangeShapeType="1"/>
          </p:cNvSpPr>
          <p:nvPr/>
        </p:nvSpPr>
        <p:spPr bwMode="auto">
          <a:xfrm flipV="1">
            <a:off x="1009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80" name="Rectangle 28"/>
          <p:cNvSpPr>
            <a:spLocks noChangeArrowheads="1"/>
          </p:cNvSpPr>
          <p:nvPr/>
        </p:nvSpPr>
        <p:spPr bwMode="auto">
          <a:xfrm>
            <a:off x="53530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100381" name="Line 29"/>
          <p:cNvSpPr>
            <a:spLocks noChangeShapeType="1"/>
          </p:cNvSpPr>
          <p:nvPr/>
        </p:nvSpPr>
        <p:spPr bwMode="auto">
          <a:xfrm flipV="1">
            <a:off x="56578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82" name="Rectangle 30"/>
          <p:cNvSpPr>
            <a:spLocks noChangeArrowheads="1"/>
          </p:cNvSpPr>
          <p:nvPr/>
        </p:nvSpPr>
        <p:spPr bwMode="auto">
          <a:xfrm>
            <a:off x="71818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28</a:t>
            </a:r>
          </a:p>
        </p:txBody>
      </p:sp>
      <p:sp>
        <p:nvSpPr>
          <p:cNvPr id="100383" name="Line 31"/>
          <p:cNvSpPr>
            <a:spLocks noChangeShapeType="1"/>
          </p:cNvSpPr>
          <p:nvPr/>
        </p:nvSpPr>
        <p:spPr bwMode="auto">
          <a:xfrm flipV="1">
            <a:off x="7486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84" name="Rectangle 32"/>
          <p:cNvSpPr>
            <a:spLocks noChangeArrowheads="1"/>
          </p:cNvSpPr>
          <p:nvPr/>
        </p:nvSpPr>
        <p:spPr bwMode="auto">
          <a:xfrm>
            <a:off x="6800850" y="3005138"/>
            <a:ext cx="14493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preliminary report on patentability</a:t>
            </a:r>
          </a:p>
        </p:txBody>
      </p:sp>
      <p:sp>
        <p:nvSpPr>
          <p:cNvPr id="100385" name="Text Box 33"/>
          <p:cNvSpPr txBox="1">
            <a:spLocks noChangeArrowheads="1"/>
          </p:cNvSpPr>
          <p:nvPr/>
        </p:nvSpPr>
        <p:spPr bwMode="auto">
          <a:xfrm>
            <a:off x="4810125" y="4652963"/>
            <a:ext cx="18002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  <a:t>Request an additional patentability analysis on basis of amended application</a:t>
            </a:r>
          </a:p>
        </p:txBody>
      </p:sp>
      <p:sp>
        <p:nvSpPr>
          <p:cNvPr id="100386" name="Line 34"/>
          <p:cNvSpPr>
            <a:spLocks noChangeShapeType="1"/>
          </p:cNvSpPr>
          <p:nvPr/>
        </p:nvSpPr>
        <p:spPr bwMode="auto">
          <a:xfrm>
            <a:off x="5715000" y="4332288"/>
            <a:ext cx="0" cy="320675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0387" name="Rectangle 35"/>
          <p:cNvSpPr>
            <a:spLocks noChangeArrowheads="1"/>
          </p:cNvSpPr>
          <p:nvPr/>
        </p:nvSpPr>
        <p:spPr bwMode="auto">
          <a:xfrm>
            <a:off x="4884738" y="25304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19</a:t>
            </a:r>
          </a:p>
        </p:txBody>
      </p:sp>
      <p:sp>
        <p:nvSpPr>
          <p:cNvPr id="100388" name="Line 37"/>
          <p:cNvSpPr>
            <a:spLocks noChangeShapeType="1"/>
          </p:cNvSpPr>
          <p:nvPr/>
        </p:nvSpPr>
        <p:spPr bwMode="auto">
          <a:xfrm flipV="1">
            <a:off x="5076825" y="2781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389" name="Text Box 38"/>
          <p:cNvSpPr txBox="1">
            <a:spLocks noChangeArrowheads="1"/>
          </p:cNvSpPr>
          <p:nvPr/>
        </p:nvSpPr>
        <p:spPr bwMode="auto">
          <a:xfrm>
            <a:off x="4787900" y="1557338"/>
            <a:ext cx="15367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Suplementary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(optional)</a:t>
            </a:r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100390" name="Line 39"/>
          <p:cNvSpPr>
            <a:spLocks noChangeShapeType="1"/>
          </p:cNvSpPr>
          <p:nvPr/>
        </p:nvSpPr>
        <p:spPr bwMode="auto">
          <a:xfrm flipH="1">
            <a:off x="5089525" y="2289175"/>
            <a:ext cx="287338" cy="28733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 bwMode="auto">
          <a:xfrm rot="16200000" flipV="1">
            <a:off x="4284663" y="2133600"/>
            <a:ext cx="431800" cy="431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693103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Typical use (6)</a:t>
            </a:r>
          </a:p>
        </p:txBody>
      </p:sp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2905125" y="3616325"/>
            <a:ext cx="2635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endParaRPr lang="en-GB" altLang="en-US" sz="800">
              <a:cs typeface="Arial" panose="020B0604020202020204" pitchFamily="34" charset="0"/>
            </a:endParaRP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627063" y="2274888"/>
            <a:ext cx="885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(months)</a:t>
            </a:r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2036763" y="2986088"/>
            <a:ext cx="10350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PCT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102406" name="Rectangle 6"/>
          <p:cNvSpPr>
            <a:spLocks noChangeArrowheads="1"/>
          </p:cNvSpPr>
          <p:nvPr/>
        </p:nvSpPr>
        <p:spPr bwMode="auto">
          <a:xfrm>
            <a:off x="2397125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102407" name="Rectangle 7"/>
          <p:cNvSpPr>
            <a:spLocks noChangeArrowheads="1"/>
          </p:cNvSpPr>
          <p:nvPr/>
        </p:nvSpPr>
        <p:spPr bwMode="auto">
          <a:xfrm>
            <a:off x="885825" y="25288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0</a:t>
            </a:r>
          </a:p>
        </p:txBody>
      </p:sp>
      <p:sp>
        <p:nvSpPr>
          <p:cNvPr id="102408" name="Rectangle 8"/>
          <p:cNvSpPr>
            <a:spLocks noChangeArrowheads="1"/>
          </p:cNvSpPr>
          <p:nvPr/>
        </p:nvSpPr>
        <p:spPr bwMode="auto">
          <a:xfrm>
            <a:off x="7956550" y="254793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30</a:t>
            </a:r>
          </a:p>
        </p:txBody>
      </p:sp>
      <p:sp>
        <p:nvSpPr>
          <p:cNvPr id="102409" name="Line 9"/>
          <p:cNvSpPr>
            <a:spLocks noChangeShapeType="1"/>
          </p:cNvSpPr>
          <p:nvPr/>
        </p:nvSpPr>
        <p:spPr bwMode="auto">
          <a:xfrm>
            <a:off x="1009650" y="2928938"/>
            <a:ext cx="7239000" cy="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10" name="Line 10"/>
          <p:cNvSpPr>
            <a:spLocks noChangeShapeType="1"/>
          </p:cNvSpPr>
          <p:nvPr/>
        </p:nvSpPr>
        <p:spPr bwMode="auto">
          <a:xfrm flipV="1">
            <a:off x="2581275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11" name="Rectangle 11"/>
          <p:cNvSpPr>
            <a:spLocks noChangeArrowheads="1"/>
          </p:cNvSpPr>
          <p:nvPr/>
        </p:nvSpPr>
        <p:spPr bwMode="auto">
          <a:xfrm>
            <a:off x="3241675" y="2990850"/>
            <a:ext cx="14493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report &amp; written opinion</a:t>
            </a:r>
          </a:p>
        </p:txBody>
      </p:sp>
      <p:sp>
        <p:nvSpPr>
          <p:cNvPr id="102412" name="Rectangle 12"/>
          <p:cNvSpPr>
            <a:spLocks noChangeArrowheads="1"/>
          </p:cNvSpPr>
          <p:nvPr/>
        </p:nvSpPr>
        <p:spPr bwMode="auto">
          <a:xfrm>
            <a:off x="3773488" y="252888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16</a:t>
            </a:r>
          </a:p>
        </p:txBody>
      </p:sp>
      <p:sp>
        <p:nvSpPr>
          <p:cNvPr id="102413" name="Rectangle 13"/>
          <p:cNvSpPr>
            <a:spLocks noChangeArrowheads="1"/>
          </p:cNvSpPr>
          <p:nvPr/>
        </p:nvSpPr>
        <p:spPr bwMode="auto">
          <a:xfrm>
            <a:off x="4559300" y="25304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18</a:t>
            </a:r>
          </a:p>
        </p:txBody>
      </p:sp>
      <p:sp>
        <p:nvSpPr>
          <p:cNvPr id="102414" name="Text Box 14"/>
          <p:cNvSpPr txBox="1">
            <a:spLocks noChangeArrowheads="1"/>
          </p:cNvSpPr>
          <p:nvPr/>
        </p:nvSpPr>
        <p:spPr bwMode="auto">
          <a:xfrm>
            <a:off x="3348038" y="1628775"/>
            <a:ext cx="157321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publication</a:t>
            </a:r>
          </a:p>
        </p:txBody>
      </p:sp>
      <p:sp>
        <p:nvSpPr>
          <p:cNvPr id="102415" name="Line 15"/>
          <p:cNvSpPr>
            <a:spLocks noChangeShapeType="1"/>
          </p:cNvSpPr>
          <p:nvPr/>
        </p:nvSpPr>
        <p:spPr bwMode="auto">
          <a:xfrm flipV="1">
            <a:off x="3956050" y="2792413"/>
            <a:ext cx="0" cy="134937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16" name="Rectangle 16"/>
          <p:cNvSpPr>
            <a:spLocks noChangeArrowheads="1"/>
          </p:cNvSpPr>
          <p:nvPr/>
        </p:nvSpPr>
        <p:spPr bwMode="auto">
          <a:xfrm>
            <a:off x="4819650" y="3005138"/>
            <a:ext cx="1674813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demand for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 preliminary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examination</a:t>
            </a:r>
          </a:p>
          <a:p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grpSp>
        <p:nvGrpSpPr>
          <p:cNvPr id="102417" name="Group 17"/>
          <p:cNvGrpSpPr>
            <a:grpSpLocks/>
          </p:cNvGrpSpPr>
          <p:nvPr/>
        </p:nvGrpSpPr>
        <p:grpSpPr bwMode="auto">
          <a:xfrm>
            <a:off x="8172450" y="2319338"/>
            <a:ext cx="647700" cy="1219200"/>
            <a:chOff x="4047" y="342"/>
            <a:chExt cx="651" cy="1134"/>
          </a:xfrm>
        </p:grpSpPr>
        <p:sp>
          <p:nvSpPr>
            <p:cNvPr id="102418" name="Line 18"/>
            <p:cNvSpPr>
              <a:spLocks noChangeShapeType="1"/>
            </p:cNvSpPr>
            <p:nvPr/>
          </p:nvSpPr>
          <p:spPr bwMode="auto">
            <a:xfrm rot="-2700000">
              <a:off x="4047" y="705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19" name="Line 19"/>
            <p:cNvSpPr>
              <a:spLocks noChangeShapeType="1"/>
            </p:cNvSpPr>
            <p:nvPr/>
          </p:nvSpPr>
          <p:spPr bwMode="auto">
            <a:xfrm rot="900000">
              <a:off x="4122" y="98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0" name="Line 20"/>
            <p:cNvSpPr>
              <a:spLocks noChangeShapeType="1"/>
            </p:cNvSpPr>
            <p:nvPr/>
          </p:nvSpPr>
          <p:spPr bwMode="auto">
            <a:xfrm rot="2700000">
              <a:off x="4047" y="1113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1" name="Line 21"/>
            <p:cNvSpPr>
              <a:spLocks noChangeShapeType="1"/>
            </p:cNvSpPr>
            <p:nvPr/>
          </p:nvSpPr>
          <p:spPr bwMode="auto">
            <a:xfrm rot="4500000">
              <a:off x="3918" y="1188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2" name="Line 22"/>
            <p:cNvSpPr>
              <a:spLocks noChangeShapeType="1"/>
            </p:cNvSpPr>
            <p:nvPr/>
          </p:nvSpPr>
          <p:spPr bwMode="auto">
            <a:xfrm rot="-900000">
              <a:off x="4122" y="83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23" name="Line 23"/>
            <p:cNvSpPr>
              <a:spLocks noChangeShapeType="1"/>
            </p:cNvSpPr>
            <p:nvPr/>
          </p:nvSpPr>
          <p:spPr bwMode="auto">
            <a:xfrm rot="-4500000">
              <a:off x="3919" y="629"/>
              <a:ext cx="576" cy="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24" name="Rectangle 24"/>
          <p:cNvSpPr>
            <a:spLocks noChangeArrowheads="1"/>
          </p:cNvSpPr>
          <p:nvPr/>
        </p:nvSpPr>
        <p:spPr bwMode="auto">
          <a:xfrm>
            <a:off x="566738" y="2965450"/>
            <a:ext cx="10318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local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  <a:p>
            <a:pPr algn="ctr"/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102425" name="Rectangle 25"/>
          <p:cNvSpPr>
            <a:spLocks noChangeArrowheads="1"/>
          </p:cNvSpPr>
          <p:nvPr/>
        </p:nvSpPr>
        <p:spPr bwMode="auto">
          <a:xfrm>
            <a:off x="8101013" y="1471613"/>
            <a:ext cx="8080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Enter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phase</a:t>
            </a:r>
          </a:p>
        </p:txBody>
      </p:sp>
      <p:sp>
        <p:nvSpPr>
          <p:cNvPr id="102426" name="Line 26"/>
          <p:cNvSpPr>
            <a:spLocks noChangeShapeType="1"/>
          </p:cNvSpPr>
          <p:nvPr/>
        </p:nvSpPr>
        <p:spPr bwMode="auto">
          <a:xfrm flipV="1">
            <a:off x="47434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27" name="Line 27"/>
          <p:cNvSpPr>
            <a:spLocks noChangeShapeType="1"/>
          </p:cNvSpPr>
          <p:nvPr/>
        </p:nvSpPr>
        <p:spPr bwMode="auto">
          <a:xfrm flipV="1">
            <a:off x="1009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28" name="Rectangle 28"/>
          <p:cNvSpPr>
            <a:spLocks noChangeArrowheads="1"/>
          </p:cNvSpPr>
          <p:nvPr/>
        </p:nvSpPr>
        <p:spPr bwMode="auto">
          <a:xfrm>
            <a:off x="53530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102429" name="Line 29"/>
          <p:cNvSpPr>
            <a:spLocks noChangeShapeType="1"/>
          </p:cNvSpPr>
          <p:nvPr/>
        </p:nvSpPr>
        <p:spPr bwMode="auto">
          <a:xfrm flipV="1">
            <a:off x="56578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0" name="Rectangle 30"/>
          <p:cNvSpPr>
            <a:spLocks noChangeArrowheads="1"/>
          </p:cNvSpPr>
          <p:nvPr/>
        </p:nvSpPr>
        <p:spPr bwMode="auto">
          <a:xfrm>
            <a:off x="7181850" y="2547938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28</a:t>
            </a:r>
          </a:p>
        </p:txBody>
      </p:sp>
      <p:sp>
        <p:nvSpPr>
          <p:cNvPr id="102431" name="Line 31"/>
          <p:cNvSpPr>
            <a:spLocks noChangeShapeType="1"/>
          </p:cNvSpPr>
          <p:nvPr/>
        </p:nvSpPr>
        <p:spPr bwMode="auto">
          <a:xfrm flipV="1">
            <a:off x="7486650" y="2776538"/>
            <a:ext cx="0" cy="1381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2" name="Rectangle 32"/>
          <p:cNvSpPr>
            <a:spLocks noChangeArrowheads="1"/>
          </p:cNvSpPr>
          <p:nvPr/>
        </p:nvSpPr>
        <p:spPr bwMode="auto">
          <a:xfrm>
            <a:off x="6800850" y="3005138"/>
            <a:ext cx="14493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preliminary report on patentability</a:t>
            </a:r>
          </a:p>
        </p:txBody>
      </p:sp>
      <p:sp>
        <p:nvSpPr>
          <p:cNvPr id="102433" name="Text Box 33"/>
          <p:cNvSpPr txBox="1">
            <a:spLocks noChangeArrowheads="1"/>
          </p:cNvSpPr>
          <p:nvPr/>
        </p:nvSpPr>
        <p:spPr bwMode="auto">
          <a:xfrm>
            <a:off x="6443663" y="4622800"/>
            <a:ext cx="21701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 b="1">
                <a:solidFill>
                  <a:srgbClr val="FF0000"/>
                </a:solidFill>
                <a:cs typeface="Arial" panose="020B0604020202020204" pitchFamily="34" charset="0"/>
              </a:rPr>
              <a:t>Additional patentability analysis, designed to assist in national phase  decision-making</a:t>
            </a:r>
          </a:p>
        </p:txBody>
      </p:sp>
      <p:sp>
        <p:nvSpPr>
          <p:cNvPr id="102434" name="Line 34"/>
          <p:cNvSpPr>
            <a:spLocks noChangeShapeType="1"/>
          </p:cNvSpPr>
          <p:nvPr/>
        </p:nvSpPr>
        <p:spPr bwMode="auto">
          <a:xfrm>
            <a:off x="7524750" y="4149725"/>
            <a:ext cx="0" cy="43180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435" name="Rectangle 35"/>
          <p:cNvSpPr>
            <a:spLocks noChangeArrowheads="1"/>
          </p:cNvSpPr>
          <p:nvPr/>
        </p:nvSpPr>
        <p:spPr bwMode="auto">
          <a:xfrm>
            <a:off x="4897438" y="2530475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19</a:t>
            </a:r>
          </a:p>
        </p:txBody>
      </p:sp>
      <p:sp>
        <p:nvSpPr>
          <p:cNvPr id="102436" name="Line 37"/>
          <p:cNvSpPr>
            <a:spLocks noChangeShapeType="1"/>
          </p:cNvSpPr>
          <p:nvPr/>
        </p:nvSpPr>
        <p:spPr bwMode="auto">
          <a:xfrm flipV="1">
            <a:off x="5076825" y="2781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37" name="Text Box 38"/>
          <p:cNvSpPr txBox="1">
            <a:spLocks noChangeArrowheads="1"/>
          </p:cNvSpPr>
          <p:nvPr/>
        </p:nvSpPr>
        <p:spPr bwMode="auto">
          <a:xfrm>
            <a:off x="4773613" y="1573213"/>
            <a:ext cx="15367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Suplementary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(optional)</a:t>
            </a:r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102438" name="Line 39"/>
          <p:cNvSpPr>
            <a:spLocks noChangeShapeType="1"/>
          </p:cNvSpPr>
          <p:nvPr/>
        </p:nvSpPr>
        <p:spPr bwMode="auto">
          <a:xfrm flipH="1">
            <a:off x="5110163" y="2289175"/>
            <a:ext cx="287337" cy="28733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 bwMode="auto">
          <a:xfrm rot="16200000" flipV="1">
            <a:off x="4284663" y="2133600"/>
            <a:ext cx="431800" cy="431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024719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Typical use (7)</a:t>
            </a: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2806700" y="4764088"/>
            <a:ext cx="263525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endParaRPr lang="en-GB" altLang="en-US" sz="800">
              <a:cs typeface="Arial" panose="020B0604020202020204" pitchFamily="34" charset="0"/>
            </a:endParaRPr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528638" y="3422650"/>
            <a:ext cx="885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(months)</a:t>
            </a:r>
          </a:p>
        </p:txBody>
      </p:sp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1938338" y="4133850"/>
            <a:ext cx="10350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PCT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2298700" y="3676650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12</a:t>
            </a:r>
          </a:p>
        </p:txBody>
      </p:sp>
      <p:sp>
        <p:nvSpPr>
          <p:cNvPr id="104455" name="Rectangle 7"/>
          <p:cNvSpPr>
            <a:spLocks noChangeArrowheads="1"/>
          </p:cNvSpPr>
          <p:nvPr/>
        </p:nvSpPr>
        <p:spPr bwMode="auto">
          <a:xfrm>
            <a:off x="787400" y="3676650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0</a:t>
            </a:r>
          </a:p>
        </p:txBody>
      </p:sp>
      <p:sp>
        <p:nvSpPr>
          <p:cNvPr id="104456" name="Rectangle 8"/>
          <p:cNvSpPr>
            <a:spLocks noChangeArrowheads="1"/>
          </p:cNvSpPr>
          <p:nvPr/>
        </p:nvSpPr>
        <p:spPr bwMode="auto">
          <a:xfrm>
            <a:off x="7858125" y="3695700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000099"/>
                </a:solidFill>
                <a:cs typeface="Arial" panose="020B0604020202020204" pitchFamily="34" charset="0"/>
              </a:rPr>
              <a:t>30</a:t>
            </a:r>
          </a:p>
        </p:txBody>
      </p:sp>
      <p:sp>
        <p:nvSpPr>
          <p:cNvPr id="104457" name="Line 9"/>
          <p:cNvSpPr>
            <a:spLocks noChangeShapeType="1"/>
          </p:cNvSpPr>
          <p:nvPr/>
        </p:nvSpPr>
        <p:spPr bwMode="auto">
          <a:xfrm>
            <a:off x="911225" y="4076700"/>
            <a:ext cx="7239000" cy="0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8" name="Line 10"/>
          <p:cNvSpPr>
            <a:spLocks noChangeShapeType="1"/>
          </p:cNvSpPr>
          <p:nvPr/>
        </p:nvSpPr>
        <p:spPr bwMode="auto">
          <a:xfrm flipV="1">
            <a:off x="2482850" y="3924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9" name="Rectangle 11"/>
          <p:cNvSpPr>
            <a:spLocks noChangeArrowheads="1"/>
          </p:cNvSpPr>
          <p:nvPr/>
        </p:nvSpPr>
        <p:spPr bwMode="auto">
          <a:xfrm>
            <a:off x="3143250" y="4138613"/>
            <a:ext cx="14493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report &amp; written opinion</a:t>
            </a:r>
          </a:p>
        </p:txBody>
      </p:sp>
      <p:sp>
        <p:nvSpPr>
          <p:cNvPr id="104460" name="Rectangle 12"/>
          <p:cNvSpPr>
            <a:spLocks noChangeArrowheads="1"/>
          </p:cNvSpPr>
          <p:nvPr/>
        </p:nvSpPr>
        <p:spPr bwMode="auto">
          <a:xfrm>
            <a:off x="3675063" y="3676650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16</a:t>
            </a:r>
          </a:p>
        </p:txBody>
      </p:sp>
      <p:sp>
        <p:nvSpPr>
          <p:cNvPr id="104461" name="Rectangle 13"/>
          <p:cNvSpPr>
            <a:spLocks noChangeArrowheads="1"/>
          </p:cNvSpPr>
          <p:nvPr/>
        </p:nvSpPr>
        <p:spPr bwMode="auto">
          <a:xfrm>
            <a:off x="4460875" y="3678238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18</a:t>
            </a:r>
          </a:p>
        </p:txBody>
      </p:sp>
      <p:sp>
        <p:nvSpPr>
          <p:cNvPr id="104462" name="Text Box 14"/>
          <p:cNvSpPr txBox="1">
            <a:spLocks noChangeArrowheads="1"/>
          </p:cNvSpPr>
          <p:nvPr/>
        </p:nvSpPr>
        <p:spPr bwMode="auto">
          <a:xfrm>
            <a:off x="3132138" y="2565400"/>
            <a:ext cx="157321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publication</a:t>
            </a:r>
          </a:p>
        </p:txBody>
      </p:sp>
      <p:sp>
        <p:nvSpPr>
          <p:cNvPr id="104463" name="Line 15"/>
          <p:cNvSpPr>
            <a:spLocks noChangeShapeType="1"/>
          </p:cNvSpPr>
          <p:nvPr/>
        </p:nvSpPr>
        <p:spPr bwMode="auto">
          <a:xfrm flipV="1">
            <a:off x="3857625" y="3940175"/>
            <a:ext cx="0" cy="134938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64" name="Rectangle 16"/>
          <p:cNvSpPr>
            <a:spLocks noChangeArrowheads="1"/>
          </p:cNvSpPr>
          <p:nvPr/>
        </p:nvSpPr>
        <p:spPr bwMode="auto">
          <a:xfrm>
            <a:off x="4721225" y="4152900"/>
            <a:ext cx="1674813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demand for</a:t>
            </a:r>
            <a:b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 preliminary</a:t>
            </a:r>
          </a:p>
          <a:p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      examination</a:t>
            </a:r>
          </a:p>
          <a:p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grpSp>
        <p:nvGrpSpPr>
          <p:cNvPr id="104465" name="Group 17"/>
          <p:cNvGrpSpPr>
            <a:grpSpLocks/>
          </p:cNvGrpSpPr>
          <p:nvPr/>
        </p:nvGrpSpPr>
        <p:grpSpPr bwMode="auto">
          <a:xfrm>
            <a:off x="8074025" y="3467100"/>
            <a:ext cx="647700" cy="1219200"/>
            <a:chOff x="4047" y="342"/>
            <a:chExt cx="651" cy="1134"/>
          </a:xfrm>
        </p:grpSpPr>
        <p:sp>
          <p:nvSpPr>
            <p:cNvPr id="104466" name="Line 18"/>
            <p:cNvSpPr>
              <a:spLocks noChangeShapeType="1"/>
            </p:cNvSpPr>
            <p:nvPr/>
          </p:nvSpPr>
          <p:spPr bwMode="auto">
            <a:xfrm rot="-2700000">
              <a:off x="4047" y="705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7" name="Line 19"/>
            <p:cNvSpPr>
              <a:spLocks noChangeShapeType="1"/>
            </p:cNvSpPr>
            <p:nvPr/>
          </p:nvSpPr>
          <p:spPr bwMode="auto">
            <a:xfrm rot="900000">
              <a:off x="4122" y="98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8" name="Line 20"/>
            <p:cNvSpPr>
              <a:spLocks noChangeShapeType="1"/>
            </p:cNvSpPr>
            <p:nvPr/>
          </p:nvSpPr>
          <p:spPr bwMode="auto">
            <a:xfrm rot="2700000">
              <a:off x="4047" y="1113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69" name="Line 21"/>
            <p:cNvSpPr>
              <a:spLocks noChangeShapeType="1"/>
            </p:cNvSpPr>
            <p:nvPr/>
          </p:nvSpPr>
          <p:spPr bwMode="auto">
            <a:xfrm rot="4500000">
              <a:off x="3918" y="1188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70" name="Line 22"/>
            <p:cNvSpPr>
              <a:spLocks noChangeShapeType="1"/>
            </p:cNvSpPr>
            <p:nvPr/>
          </p:nvSpPr>
          <p:spPr bwMode="auto">
            <a:xfrm rot="-900000">
              <a:off x="4122" y="834"/>
              <a:ext cx="576" cy="0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71" name="Line 23"/>
            <p:cNvSpPr>
              <a:spLocks noChangeShapeType="1"/>
            </p:cNvSpPr>
            <p:nvPr/>
          </p:nvSpPr>
          <p:spPr bwMode="auto">
            <a:xfrm rot="-4500000">
              <a:off x="3919" y="629"/>
              <a:ext cx="576" cy="1"/>
            </a:xfrm>
            <a:prstGeom prst="line">
              <a:avLst/>
            </a:prstGeom>
            <a:noFill/>
            <a:ln w="12700">
              <a:solidFill>
                <a:srgbClr val="0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472" name="Rectangle 24"/>
          <p:cNvSpPr>
            <a:spLocks noChangeArrowheads="1"/>
          </p:cNvSpPr>
          <p:nvPr/>
        </p:nvSpPr>
        <p:spPr bwMode="auto">
          <a:xfrm>
            <a:off x="468313" y="4113213"/>
            <a:ext cx="10318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File local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application</a:t>
            </a:r>
          </a:p>
          <a:p>
            <a:pPr algn="ctr"/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104473" name="Rectangle 25"/>
          <p:cNvSpPr>
            <a:spLocks noChangeArrowheads="1"/>
          </p:cNvSpPr>
          <p:nvPr/>
        </p:nvSpPr>
        <p:spPr bwMode="auto">
          <a:xfrm>
            <a:off x="7974013" y="2619375"/>
            <a:ext cx="86518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Enter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national</a:t>
            </a:r>
          </a:p>
          <a:p>
            <a:pPr algn="ctr"/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phase</a:t>
            </a:r>
          </a:p>
        </p:txBody>
      </p:sp>
      <p:sp>
        <p:nvSpPr>
          <p:cNvPr id="104474" name="Line 26"/>
          <p:cNvSpPr>
            <a:spLocks noChangeShapeType="1"/>
          </p:cNvSpPr>
          <p:nvPr/>
        </p:nvSpPr>
        <p:spPr bwMode="auto">
          <a:xfrm flipV="1">
            <a:off x="4645025" y="3924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5" name="Line 27"/>
          <p:cNvSpPr>
            <a:spLocks noChangeShapeType="1"/>
          </p:cNvSpPr>
          <p:nvPr/>
        </p:nvSpPr>
        <p:spPr bwMode="auto">
          <a:xfrm flipV="1">
            <a:off x="911225" y="3924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6" name="Rectangle 28"/>
          <p:cNvSpPr>
            <a:spLocks noChangeArrowheads="1"/>
          </p:cNvSpPr>
          <p:nvPr/>
        </p:nvSpPr>
        <p:spPr bwMode="auto">
          <a:xfrm>
            <a:off x="5254625" y="3695700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22</a:t>
            </a:r>
          </a:p>
        </p:txBody>
      </p:sp>
      <p:sp>
        <p:nvSpPr>
          <p:cNvPr id="104477" name="Line 29"/>
          <p:cNvSpPr>
            <a:spLocks noChangeShapeType="1"/>
          </p:cNvSpPr>
          <p:nvPr/>
        </p:nvSpPr>
        <p:spPr bwMode="auto">
          <a:xfrm flipV="1">
            <a:off x="5559425" y="3924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78" name="Rectangle 30"/>
          <p:cNvSpPr>
            <a:spLocks noChangeArrowheads="1"/>
          </p:cNvSpPr>
          <p:nvPr/>
        </p:nvSpPr>
        <p:spPr bwMode="auto">
          <a:xfrm>
            <a:off x="7083425" y="3695700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28</a:t>
            </a:r>
          </a:p>
        </p:txBody>
      </p:sp>
      <p:sp>
        <p:nvSpPr>
          <p:cNvPr id="104479" name="Line 31"/>
          <p:cNvSpPr>
            <a:spLocks noChangeShapeType="1"/>
          </p:cNvSpPr>
          <p:nvPr/>
        </p:nvSpPr>
        <p:spPr bwMode="auto">
          <a:xfrm flipV="1">
            <a:off x="7388225" y="3924300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0" name="Rectangle 32"/>
          <p:cNvSpPr>
            <a:spLocks noChangeArrowheads="1"/>
          </p:cNvSpPr>
          <p:nvPr/>
        </p:nvSpPr>
        <p:spPr bwMode="auto">
          <a:xfrm>
            <a:off x="6702425" y="4152900"/>
            <a:ext cx="1449388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(optional)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 </a:t>
            </a:r>
          </a:p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preliminary report on patentability</a:t>
            </a:r>
          </a:p>
        </p:txBody>
      </p:sp>
      <p:sp>
        <p:nvSpPr>
          <p:cNvPr id="104481" name="Text Box 33"/>
          <p:cNvSpPr txBox="1">
            <a:spLocks noChangeArrowheads="1"/>
          </p:cNvSpPr>
          <p:nvPr/>
        </p:nvSpPr>
        <p:spPr bwMode="auto">
          <a:xfrm>
            <a:off x="7413625" y="1293813"/>
            <a:ext cx="16922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b="1">
                <a:solidFill>
                  <a:srgbClr val="FF0000"/>
                </a:solidFill>
                <a:cs typeface="Arial" panose="020B0604020202020204" pitchFamily="34" charset="0"/>
              </a:rPr>
              <a:t>Express intention and take steps to pursue to grant in various States</a:t>
            </a:r>
          </a:p>
        </p:txBody>
      </p:sp>
      <p:sp>
        <p:nvSpPr>
          <p:cNvPr id="104482" name="Line 34"/>
          <p:cNvSpPr>
            <a:spLocks noChangeShapeType="1"/>
          </p:cNvSpPr>
          <p:nvPr/>
        </p:nvSpPr>
        <p:spPr bwMode="auto">
          <a:xfrm flipV="1">
            <a:off x="8388350" y="2205038"/>
            <a:ext cx="0" cy="430212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483" name="Rectangle 35"/>
          <p:cNvSpPr>
            <a:spLocks noChangeArrowheads="1"/>
          </p:cNvSpPr>
          <p:nvPr/>
        </p:nvSpPr>
        <p:spPr bwMode="auto">
          <a:xfrm>
            <a:off x="4872038" y="3702050"/>
            <a:ext cx="3841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n-US" altLang="en-US" sz="1400">
                <a:solidFill>
                  <a:srgbClr val="000099"/>
                </a:solidFill>
                <a:cs typeface="Arial" panose="020B0604020202020204" pitchFamily="34" charset="0"/>
              </a:rPr>
              <a:t>19</a:t>
            </a:r>
          </a:p>
        </p:txBody>
      </p:sp>
      <p:sp>
        <p:nvSpPr>
          <p:cNvPr id="104484" name="Text Box 36"/>
          <p:cNvSpPr txBox="1">
            <a:spLocks noChangeArrowheads="1"/>
          </p:cNvSpPr>
          <p:nvPr/>
        </p:nvSpPr>
        <p:spPr bwMode="auto">
          <a:xfrm>
            <a:off x="4705350" y="2759075"/>
            <a:ext cx="15367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mpd="thickThin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662" tIns="47625" rIns="93662" bIns="47625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 W3" pitchFamily="1" charset="-128"/>
              </a:defRPr>
            </a:lvl9pPr>
          </a:lstStyle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Suplementary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International</a:t>
            </a:r>
          </a:p>
          <a:p>
            <a:pPr algn="ctr"/>
            <a:r>
              <a:rPr lang="es-ES" altLang="en-US" sz="1400">
                <a:solidFill>
                  <a:srgbClr val="000099"/>
                </a:solidFill>
                <a:cs typeface="Arial" panose="020B0604020202020204" pitchFamily="34" charset="0"/>
              </a:rPr>
              <a:t>Search (optional)</a:t>
            </a:r>
            <a:endParaRPr lang="en-US" altLang="en-US" sz="1400">
              <a:solidFill>
                <a:srgbClr val="000099"/>
              </a:solidFill>
              <a:cs typeface="Arial" panose="020B0604020202020204" pitchFamily="34" charset="0"/>
            </a:endParaRPr>
          </a:p>
        </p:txBody>
      </p:sp>
      <p:sp>
        <p:nvSpPr>
          <p:cNvPr id="104485" name="Line 37"/>
          <p:cNvSpPr>
            <a:spLocks noChangeShapeType="1"/>
          </p:cNvSpPr>
          <p:nvPr/>
        </p:nvSpPr>
        <p:spPr bwMode="auto">
          <a:xfrm flipV="1">
            <a:off x="5076825" y="3933825"/>
            <a:ext cx="0" cy="138113"/>
          </a:xfrm>
          <a:prstGeom prst="line">
            <a:avLst/>
          </a:prstGeom>
          <a:noFill/>
          <a:ln w="127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86" name="Line 38"/>
          <p:cNvSpPr>
            <a:spLocks noChangeShapeType="1"/>
          </p:cNvSpPr>
          <p:nvPr/>
        </p:nvSpPr>
        <p:spPr bwMode="auto">
          <a:xfrm flipH="1">
            <a:off x="5076825" y="3467100"/>
            <a:ext cx="287338" cy="287338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9" name="Straight Arrow Connector 38"/>
          <p:cNvCxnSpPr/>
          <p:nvPr/>
        </p:nvCxnSpPr>
        <p:spPr bwMode="auto">
          <a:xfrm rot="16200000" flipV="1">
            <a:off x="4139406" y="3212307"/>
            <a:ext cx="433387" cy="4318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996428"/>
      </p:ext>
    </p:extLst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PCT International Phase</a:t>
            </a:r>
          </a:p>
        </p:txBody>
      </p:sp>
      <p:sp>
        <p:nvSpPr>
          <p:cNvPr id="2048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556792"/>
            <a:ext cx="8229600" cy="4569371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Unified filing procedure consisting of the </a:t>
            </a:r>
            <a:r>
              <a:rPr lang="en-US" altLang="en-US" b="1" u="sng" dirty="0" smtClean="0">
                <a:solidFill>
                  <a:srgbClr val="AF3737"/>
                </a:solidFill>
              </a:rPr>
              <a:t>filing</a:t>
            </a:r>
            <a:r>
              <a:rPr lang="en-US" altLang="en-US" dirty="0" smtClean="0"/>
              <a:t> and </a:t>
            </a:r>
            <a:r>
              <a:rPr lang="en-US" altLang="en-US" b="1" u="sng" dirty="0" smtClean="0">
                <a:solidFill>
                  <a:srgbClr val="AF3737"/>
                </a:solidFill>
              </a:rPr>
              <a:t>processing</a:t>
            </a:r>
            <a:r>
              <a:rPr lang="en-US" altLang="en-US" dirty="0" smtClean="0"/>
              <a:t> of a single application with legal effect in all PCT Contracting States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Information on the potential patentability of an invention prior to the start of national patent procedures (“national phase”)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Publication of the international application together with the International Search Report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Time delay of at least 30 months before the start of the national patent procedure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17644"/>
      </p:ext>
    </p:extLst>
  </p:cSld>
  <p:clrMapOvr>
    <a:masterClrMapping/>
  </p:clrMapOvr>
  <p:transition advTm="14900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mtClean="0"/>
              <a:t>What Does a PCT Application Contain?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A request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A description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One or more claims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Drawings (where necessary)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An abstract</a:t>
            </a:r>
          </a:p>
        </p:txBody>
      </p:sp>
    </p:spTree>
    <p:extLst>
      <p:ext uri="{BB962C8B-B14F-4D97-AF65-F5344CB8AC3E}">
        <p14:creationId xmlns:p14="http://schemas.microsoft.com/office/powerpoint/2010/main" val="313748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Receiving Office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PCT applications are filed with a receiving Office</a:t>
            </a:r>
          </a:p>
          <a:p>
            <a:r>
              <a:rPr lang="en-US" dirty="0"/>
              <a:t>Formalities check of the PCT application</a:t>
            </a:r>
          </a:p>
          <a:p>
            <a:r>
              <a:rPr lang="en-US" dirty="0"/>
              <a:t>Accords or refuses an international filing date</a:t>
            </a:r>
          </a:p>
          <a:p>
            <a:r>
              <a:rPr lang="en-US" dirty="0"/>
              <a:t>Specifies one or more International Authorities for search or examination</a:t>
            </a:r>
          </a:p>
          <a:p>
            <a:r>
              <a:rPr lang="en-US" dirty="0"/>
              <a:t>Collects fees for the receiving Office, International Bureau and the International Searching Authority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586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International Search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6792"/>
            <a:ext cx="8229600" cy="4569371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Performed by an International Searching Authority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PCT Minimum Documentation (PCT Rule 34)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Everything which has been made available to the public,      anywhere in the world, by means of written disclosure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Capable of being of assistance in determining that the claimed invention is or is not new and that it does or does not involve an inventive step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Made available to the public prior to the international filing date</a:t>
            </a:r>
          </a:p>
        </p:txBody>
      </p:sp>
    </p:spTree>
    <p:extLst>
      <p:ext uri="{BB962C8B-B14F-4D97-AF65-F5344CB8AC3E}">
        <p14:creationId xmlns:p14="http://schemas.microsoft.com/office/powerpoint/2010/main" val="85170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International Searching Authorities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09240"/>
            <a:ext cx="8229600" cy="4684056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Australia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Austria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Brazil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Canada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Chile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China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Egypt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Finland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India 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Israel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r>
              <a:rPr lang="en-US" altLang="en-US" sz="1800" dirty="0" smtClean="0"/>
              <a:t>Japan</a:t>
            </a:r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endParaRPr lang="en-US" altLang="en-US" sz="1800" dirty="0" smtClean="0"/>
          </a:p>
          <a:p>
            <a:pPr eaLnBrk="1" hangingPunct="1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</a:pPr>
            <a:endParaRPr lang="en-US" altLang="en-US" sz="1800" dirty="0" smtClean="0"/>
          </a:p>
        </p:txBody>
      </p:sp>
      <p:sp>
        <p:nvSpPr>
          <p:cNvPr id="24581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91880" y="1409240"/>
            <a:ext cx="5292080" cy="4684056"/>
          </a:xfrm>
        </p:spPr>
        <p:txBody>
          <a:bodyPr/>
          <a:lstStyle/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dirty="0" smtClean="0"/>
              <a:t>Republic of Korea</a:t>
            </a:r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dirty="0" smtClean="0"/>
              <a:t>Russian Federation</a:t>
            </a:r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dirty="0" smtClean="0"/>
              <a:t>Singapore </a:t>
            </a:r>
            <a:endParaRPr lang="en-US" altLang="en-US" sz="1800" dirty="0"/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dirty="0" smtClean="0"/>
              <a:t>Spain</a:t>
            </a:r>
            <a:endParaRPr lang="en-US" altLang="en-US" sz="1800" dirty="0"/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dirty="0" smtClean="0"/>
              <a:t>Sweden</a:t>
            </a:r>
            <a:endParaRPr lang="en-US" altLang="en-US" sz="1800" dirty="0"/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i="1" dirty="0" smtClean="0"/>
              <a:t>Ukraine (not yet operating)</a:t>
            </a:r>
            <a:endParaRPr lang="en-US" altLang="en-US" sz="1800" i="1" dirty="0"/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dirty="0" smtClean="0"/>
              <a:t>United States of America</a:t>
            </a:r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dirty="0" smtClean="0"/>
              <a:t>European Patent Office</a:t>
            </a:r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dirty="0" smtClean="0"/>
              <a:t>Nordic Patent Institute (Denmark, Iceland, Norway)</a:t>
            </a:r>
          </a:p>
          <a:p>
            <a:pPr lvl="0">
              <a:lnSpc>
                <a:spcPct val="90000"/>
              </a:lnSpc>
              <a:spcBef>
                <a:spcPct val="25000"/>
              </a:spcBef>
              <a:spcAft>
                <a:spcPct val="35000"/>
              </a:spcAft>
              <a:buClr>
                <a:srgbClr val="9D0A2B"/>
              </a:buClr>
              <a:buSzPct val="150000"/>
              <a:buFont typeface="Arial" pitchFamily="34" charset="0"/>
              <a:buChar char="■"/>
            </a:pPr>
            <a:r>
              <a:rPr lang="en-US" altLang="en-US" sz="1800" i="1" dirty="0" err="1" smtClean="0"/>
              <a:t>Visegrad</a:t>
            </a:r>
            <a:r>
              <a:rPr lang="en-US" altLang="en-US" sz="1800" i="1" dirty="0" smtClean="0"/>
              <a:t> Patent Institute (not yet operating)</a:t>
            </a:r>
            <a:r>
              <a:rPr lang="en-US" altLang="en-US" sz="1800" i="1" dirty="0"/>
              <a:t/>
            </a:r>
            <a:br>
              <a:rPr lang="en-US" altLang="en-US" sz="1800" i="1" dirty="0"/>
            </a:br>
            <a:r>
              <a:rPr lang="en-US" altLang="en-US" sz="1800" i="1" dirty="0" smtClean="0"/>
              <a:t>(Czech Republic, Hungary, Poland, Slovakia)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91923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International Search Report (ISR)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IPC (International Patent Classification) symbols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Indications of the technical areas searched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Indications relating to any finding of lack of unity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A list of the relevant prior art documents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Indications relating to any finding that a meaningful search could not be carried out in respect of certain (but not all) claims</a:t>
            </a:r>
          </a:p>
        </p:txBody>
      </p:sp>
    </p:spTree>
    <p:extLst>
      <p:ext uri="{BB962C8B-B14F-4D97-AF65-F5344CB8AC3E}">
        <p14:creationId xmlns:p14="http://schemas.microsoft.com/office/powerpoint/2010/main" val="59796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of an ISR</a:t>
            </a:r>
          </a:p>
        </p:txBody>
      </p:sp>
      <p:grpSp>
        <p:nvGrpSpPr>
          <p:cNvPr id="27652" name="Group 5"/>
          <p:cNvGrpSpPr>
            <a:grpSpLocks/>
          </p:cNvGrpSpPr>
          <p:nvPr/>
        </p:nvGrpSpPr>
        <p:grpSpPr bwMode="auto">
          <a:xfrm>
            <a:off x="949325" y="1477963"/>
            <a:ext cx="7223125" cy="4975225"/>
            <a:chOff x="159" y="384"/>
            <a:chExt cx="5805" cy="4289"/>
          </a:xfrm>
        </p:grpSpPr>
        <p:pic>
          <p:nvPicPr>
            <p:cNvPr id="27653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384"/>
              <a:ext cx="5424" cy="31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654" name="Oval 7"/>
            <p:cNvSpPr>
              <a:spLocks noChangeArrowheads="1"/>
            </p:cNvSpPr>
            <p:nvPr/>
          </p:nvSpPr>
          <p:spPr bwMode="auto">
            <a:xfrm>
              <a:off x="1056" y="576"/>
              <a:ext cx="2666" cy="297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55" name="Oval 8"/>
            <p:cNvSpPr>
              <a:spLocks noChangeArrowheads="1"/>
            </p:cNvSpPr>
            <p:nvPr/>
          </p:nvSpPr>
          <p:spPr bwMode="auto">
            <a:xfrm>
              <a:off x="4254" y="576"/>
              <a:ext cx="978" cy="2688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56" name="Oval 9"/>
            <p:cNvSpPr>
              <a:spLocks noChangeArrowheads="1"/>
            </p:cNvSpPr>
            <p:nvPr/>
          </p:nvSpPr>
          <p:spPr bwMode="auto">
            <a:xfrm>
              <a:off x="288" y="576"/>
              <a:ext cx="812" cy="297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>
                      <a:alpha val="5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657" name="Oval 10"/>
            <p:cNvSpPr>
              <a:spLocks noChangeArrowheads="1"/>
            </p:cNvSpPr>
            <p:nvPr/>
          </p:nvSpPr>
          <p:spPr bwMode="auto">
            <a:xfrm>
              <a:off x="2429" y="3207"/>
              <a:ext cx="1623" cy="111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100" b="1">
                  <a:solidFill>
                    <a:srgbClr val="00279F"/>
                  </a:solidFill>
                </a:rPr>
                <a:t>Documents relevant to whether or not your invention may be patentable</a:t>
              </a:r>
            </a:p>
          </p:txBody>
        </p:sp>
        <p:sp>
          <p:nvSpPr>
            <p:cNvPr id="27658" name="Oval 11"/>
            <p:cNvSpPr>
              <a:spLocks noChangeArrowheads="1"/>
            </p:cNvSpPr>
            <p:nvPr/>
          </p:nvSpPr>
          <p:spPr bwMode="auto">
            <a:xfrm>
              <a:off x="159" y="3147"/>
              <a:ext cx="2041" cy="15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100" b="1">
                  <a:solidFill>
                    <a:srgbClr val="00279F"/>
                  </a:solidFill>
                </a:rPr>
                <a:t>Symbols indicating</a:t>
              </a:r>
              <a:br>
                <a:rPr lang="en-US" altLang="en-US" sz="1100" b="1">
                  <a:solidFill>
                    <a:srgbClr val="00279F"/>
                  </a:solidFill>
                </a:rPr>
              </a:br>
              <a:r>
                <a:rPr lang="en-US" altLang="en-US" sz="1100" b="1">
                  <a:solidFill>
                    <a:srgbClr val="00279F"/>
                  </a:solidFill>
                </a:rPr>
                <a:t>which aspect of patentability </a:t>
              </a:r>
              <a:br>
                <a:rPr lang="en-US" altLang="en-US" sz="1100" b="1">
                  <a:solidFill>
                    <a:srgbClr val="00279F"/>
                  </a:solidFill>
                </a:rPr>
              </a:br>
              <a:r>
                <a:rPr lang="en-US" altLang="en-US" sz="1100" b="1">
                  <a:solidFill>
                    <a:srgbClr val="00279F"/>
                  </a:solidFill>
                </a:rPr>
                <a:t>the document cited is</a:t>
              </a:r>
              <a:br>
                <a:rPr lang="en-US" altLang="en-US" sz="1100" b="1">
                  <a:solidFill>
                    <a:srgbClr val="00279F"/>
                  </a:solidFill>
                </a:rPr>
              </a:br>
              <a:r>
                <a:rPr lang="en-US" altLang="en-US" sz="1100" b="1">
                  <a:solidFill>
                    <a:srgbClr val="00279F"/>
                  </a:solidFill>
                </a:rPr>
                <a:t> relevant to (for example, novelty, inventive step, etc.)</a:t>
              </a:r>
              <a:endParaRPr lang="en-US" altLang="en-US" sz="1200" b="1">
                <a:solidFill>
                  <a:schemeClr val="bg1"/>
                </a:solidFill>
              </a:endParaRPr>
            </a:p>
          </p:txBody>
        </p:sp>
        <p:sp>
          <p:nvSpPr>
            <p:cNvPr id="27659" name="Oval 12"/>
            <p:cNvSpPr>
              <a:spLocks noChangeArrowheads="1"/>
            </p:cNvSpPr>
            <p:nvPr/>
          </p:nvSpPr>
          <p:spPr bwMode="auto">
            <a:xfrm>
              <a:off x="4098" y="3130"/>
              <a:ext cx="1866" cy="91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100" b="1">
                  <a:solidFill>
                    <a:srgbClr val="00279F"/>
                  </a:solidFill>
                </a:rPr>
                <a:t>The claim numbers</a:t>
              </a:r>
              <a:br>
                <a:rPr lang="en-US" altLang="en-US" sz="1100" b="1">
                  <a:solidFill>
                    <a:srgbClr val="00279F"/>
                  </a:solidFill>
                </a:rPr>
              </a:br>
              <a:r>
                <a:rPr lang="en-US" altLang="en-US" sz="1100" b="1">
                  <a:solidFill>
                    <a:srgbClr val="00279F"/>
                  </a:solidFill>
                </a:rPr>
                <a:t>in your application to</a:t>
              </a:r>
              <a:br>
                <a:rPr lang="en-US" altLang="en-US" sz="1100" b="1">
                  <a:solidFill>
                    <a:srgbClr val="00279F"/>
                  </a:solidFill>
                </a:rPr>
              </a:br>
              <a:r>
                <a:rPr lang="en-US" altLang="en-US" sz="1100" b="1">
                  <a:solidFill>
                    <a:srgbClr val="00279F"/>
                  </a:solidFill>
                </a:rPr>
                <a:t>which the document is</a:t>
              </a:r>
              <a:br>
                <a:rPr lang="en-US" altLang="en-US" sz="1100" b="1">
                  <a:solidFill>
                    <a:srgbClr val="00279F"/>
                  </a:solidFill>
                </a:rPr>
              </a:br>
              <a:r>
                <a:rPr lang="en-US" altLang="en-US" sz="1100" b="1">
                  <a:solidFill>
                    <a:srgbClr val="00279F"/>
                  </a:solidFill>
                </a:rPr>
                <a:t>relevant</a:t>
              </a:r>
              <a:endParaRPr lang="en-US" altLang="en-US" sz="11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923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Written Opinion of the ISA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A preliminary non-binding opinion on novelty, inventive step and industrial applicability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Established at the same time as the ISR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Made available to the public on the WIPO web site at the same time as the ISR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No formal response procedure although applicants may submit informal comments</a:t>
            </a:r>
          </a:p>
        </p:txBody>
      </p:sp>
    </p:spTree>
    <p:extLst>
      <p:ext uri="{BB962C8B-B14F-4D97-AF65-F5344CB8AC3E}">
        <p14:creationId xmlns:p14="http://schemas.microsoft.com/office/powerpoint/2010/main" val="4275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of the Written Opinion</a:t>
            </a:r>
          </a:p>
        </p:txBody>
      </p:sp>
      <p:grpSp>
        <p:nvGrpSpPr>
          <p:cNvPr id="29700" name="Group 5"/>
          <p:cNvGrpSpPr>
            <a:grpSpLocks/>
          </p:cNvGrpSpPr>
          <p:nvPr/>
        </p:nvGrpSpPr>
        <p:grpSpPr bwMode="auto">
          <a:xfrm>
            <a:off x="1066800" y="1398588"/>
            <a:ext cx="6889750" cy="4767262"/>
            <a:chOff x="354" y="384"/>
            <a:chExt cx="5037" cy="3749"/>
          </a:xfrm>
        </p:grpSpPr>
        <p:pic>
          <p:nvPicPr>
            <p:cNvPr id="29701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384"/>
              <a:ext cx="5007" cy="30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02" name="Oval 7"/>
            <p:cNvSpPr>
              <a:spLocks noChangeArrowheads="1"/>
            </p:cNvSpPr>
            <p:nvPr/>
          </p:nvSpPr>
          <p:spPr bwMode="auto">
            <a:xfrm>
              <a:off x="1950" y="1152"/>
              <a:ext cx="1683" cy="1248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03" name="Oval 8"/>
            <p:cNvSpPr>
              <a:spLocks noChangeArrowheads="1"/>
            </p:cNvSpPr>
            <p:nvPr/>
          </p:nvSpPr>
          <p:spPr bwMode="auto">
            <a:xfrm>
              <a:off x="443" y="2352"/>
              <a:ext cx="4874" cy="1392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04" name="Oval 9"/>
            <p:cNvSpPr>
              <a:spLocks noChangeArrowheads="1"/>
            </p:cNvSpPr>
            <p:nvPr/>
          </p:nvSpPr>
          <p:spPr bwMode="auto">
            <a:xfrm>
              <a:off x="3424" y="962"/>
              <a:ext cx="1280" cy="6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100" b="1">
                  <a:solidFill>
                    <a:srgbClr val="00279F"/>
                  </a:solidFill>
                </a:rPr>
                <a:t>Patentability assessment</a:t>
              </a:r>
              <a:br>
                <a:rPr lang="en-US" altLang="en-US" sz="1100" b="1">
                  <a:solidFill>
                    <a:srgbClr val="00279F"/>
                  </a:solidFill>
                </a:rPr>
              </a:br>
              <a:r>
                <a:rPr lang="en-US" altLang="en-US" sz="1100" b="1">
                  <a:solidFill>
                    <a:srgbClr val="00279F"/>
                  </a:solidFill>
                </a:rPr>
                <a:t> of the claims</a:t>
              </a:r>
              <a:endParaRPr lang="en-US" altLang="en-US" sz="1100" b="1">
                <a:solidFill>
                  <a:schemeClr val="bg1"/>
                </a:solidFill>
              </a:endParaRPr>
            </a:p>
          </p:txBody>
        </p:sp>
        <p:sp>
          <p:nvSpPr>
            <p:cNvPr id="29705" name="Oval 10"/>
            <p:cNvSpPr>
              <a:spLocks noChangeArrowheads="1"/>
            </p:cNvSpPr>
            <p:nvPr/>
          </p:nvSpPr>
          <p:spPr bwMode="auto">
            <a:xfrm>
              <a:off x="354" y="3489"/>
              <a:ext cx="1281" cy="64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100" b="1">
                  <a:solidFill>
                    <a:srgbClr val="00279F"/>
                  </a:solidFill>
                </a:rPr>
                <a:t>Reasoning supporting the assessment</a:t>
              </a:r>
              <a:endParaRPr lang="en-US" altLang="en-US" sz="1100" b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007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International Publication 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Takes place shortly after 18 months from the earliest filing date</a:t>
            </a:r>
          </a:p>
          <a:p>
            <a:r>
              <a:rPr lang="en-US" dirty="0"/>
              <a:t>One of the main functions of the International Bureau</a:t>
            </a:r>
          </a:p>
          <a:p>
            <a:r>
              <a:rPr lang="en-US" dirty="0"/>
              <a:t>Contents of published PCT application</a:t>
            </a:r>
          </a:p>
          <a:p>
            <a:pPr lvl="1"/>
            <a:r>
              <a:rPr lang="en-US" dirty="0"/>
              <a:t>Standardized front page with bibliographic data, title and abstract</a:t>
            </a:r>
          </a:p>
          <a:p>
            <a:pPr lvl="1"/>
            <a:r>
              <a:rPr lang="en-US" dirty="0"/>
              <a:t>Description, claims and drawings (if any)</a:t>
            </a:r>
          </a:p>
          <a:p>
            <a:pPr lvl="1"/>
            <a:r>
              <a:rPr lang="en-US" dirty="0"/>
              <a:t>International Search Report</a:t>
            </a:r>
          </a:p>
          <a:p>
            <a:pPr lvl="1"/>
            <a:r>
              <a:rPr lang="en-US" dirty="0"/>
              <a:t>Other elements prescribed by the PCT Regulations (e.g., amended claims, declarations, etc</a:t>
            </a:r>
            <a:r>
              <a:rPr lang="en-US" dirty="0" smtClean="0"/>
              <a:t>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9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International Publication 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Ten publication languages (Arabic, Chinese, English, French, German, Japanese, Korean, Portuguese, Russian, Spanish)</a:t>
            </a:r>
          </a:p>
          <a:p>
            <a:r>
              <a:rPr lang="en-US" dirty="0"/>
              <a:t>PCT application file maintained by the International Bureau is publicly available after international publication and contains other documents such as the application as filed, </a:t>
            </a:r>
            <a:r>
              <a:rPr lang="en-US" dirty="0" smtClean="0"/>
              <a:t>written opinion of the ISA, PCT </a:t>
            </a:r>
            <a:r>
              <a:rPr lang="en-US" dirty="0"/>
              <a:t>Forms and general correspondence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007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mtClean="0"/>
              <a:t>Supplementary International Search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Introduced on January 1, 2009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Optional procedure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More comprehensive overview of the prior art, e.g., language coverage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Offered by Austria, European Patent Office, Finland, Russian Federation, Singapore, Sweden, Nordic Patent Institute (7)</a:t>
            </a:r>
          </a:p>
        </p:txBody>
      </p:sp>
    </p:spTree>
    <p:extLst>
      <p:ext uri="{BB962C8B-B14F-4D97-AF65-F5344CB8AC3E}">
        <p14:creationId xmlns:p14="http://schemas.microsoft.com/office/powerpoint/2010/main" val="169289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mtClean="0"/>
              <a:t>International Preliminary Examination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229600" cy="5184576"/>
          </a:xfrm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800"/>
              </a:spcAft>
            </a:pPr>
            <a:r>
              <a:rPr lang="en-US" altLang="en-US" dirty="0" smtClean="0"/>
              <a:t>Optional procedure</a:t>
            </a:r>
          </a:p>
          <a:p>
            <a:pPr eaLnBrk="1" hangingPunct="1">
              <a:spcBef>
                <a:spcPts val="600"/>
              </a:spcBef>
              <a:spcAft>
                <a:spcPts val="800"/>
              </a:spcAft>
            </a:pPr>
            <a:r>
              <a:rPr lang="en-US" altLang="en-US" dirty="0" smtClean="0"/>
              <a:t>Requested by filing a demand with an International Preliminary Authority (IPEA) (same list as ISA)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en-US" altLang="en-US" dirty="0"/>
              <a:t>Opportunity to amend the description, claims and drawings to address objections raised by the ISA before the national phase procedure</a:t>
            </a:r>
          </a:p>
          <a:p>
            <a:pPr eaLnBrk="1" hangingPunct="1">
              <a:spcBef>
                <a:spcPts val="600"/>
              </a:spcBef>
              <a:spcAft>
                <a:spcPts val="800"/>
              </a:spcAft>
            </a:pPr>
            <a:r>
              <a:rPr lang="en-US" altLang="en-US" dirty="0" smtClean="0"/>
              <a:t>Results in the issuance of a preliminary, non-binding opinion by the IPEA on novelty, inventive step and industrial applicability</a:t>
            </a:r>
          </a:p>
          <a:p>
            <a:pPr lvl="1" eaLnBrk="1" hangingPunct="1">
              <a:spcBef>
                <a:spcPts val="600"/>
              </a:spcBef>
              <a:spcAft>
                <a:spcPts val="800"/>
              </a:spcAft>
            </a:pPr>
            <a:r>
              <a:rPr lang="en-US" altLang="en-US" dirty="0" smtClean="0"/>
              <a:t>International Preliminary Report on Patentability (Chapter II) – IPRP </a:t>
            </a:r>
            <a:r>
              <a:rPr lang="en-US" altLang="en-US" dirty="0" err="1" smtClean="0"/>
              <a:t>Ch.II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512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PCT National Phase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the end of the international </a:t>
            </a:r>
            <a:r>
              <a:rPr lang="en-US" dirty="0" smtClean="0"/>
              <a:t>phase (30 months)</a:t>
            </a:r>
            <a:endParaRPr lang="en-US" dirty="0"/>
          </a:p>
          <a:p>
            <a:r>
              <a:rPr lang="en-US" dirty="0"/>
              <a:t>PCT is a gateway to national patent systems</a:t>
            </a:r>
          </a:p>
          <a:p>
            <a:r>
              <a:rPr lang="en-US" dirty="0"/>
              <a:t>Leads to the grant (or refusal) of a patent by national or regional Offices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93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Why Use the PCT?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“Internationalization” of a single PCT application providing near global geographical coverage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Time delay (additional time for decision making)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Cost deferral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Patentability assessment</a:t>
            </a:r>
          </a:p>
        </p:txBody>
      </p:sp>
    </p:spTree>
    <p:extLst>
      <p:ext uri="{BB962C8B-B14F-4D97-AF65-F5344CB8AC3E}">
        <p14:creationId xmlns:p14="http://schemas.microsoft.com/office/powerpoint/2010/main" val="345324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Cost Deferral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Seeking patents in foreign countries requires a significant capital investment</a:t>
            </a:r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The PCT provides for the deferral of main initial costs associated with internationalization: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Cost of translations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Local patent agent fees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 dirty="0" smtClean="0"/>
              <a:t>Local patent Office fees</a:t>
            </a:r>
          </a:p>
        </p:txBody>
      </p:sp>
    </p:spTree>
    <p:extLst>
      <p:ext uri="{BB962C8B-B14F-4D97-AF65-F5344CB8AC3E}">
        <p14:creationId xmlns:p14="http://schemas.microsoft.com/office/powerpoint/2010/main" val="185288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.2|14.2|35.9|15.4|28|18.4|20.2"/>
</p:tagLst>
</file>

<file path=ppt/theme/theme1.xml><?xml version="1.0" encoding="utf-8"?>
<a:theme xmlns:a="http://schemas.openxmlformats.org/drawingml/2006/main" name="EN_2010_pct background png">
  <a:themeElements>
    <a:clrScheme name="template_english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mplate_english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plate_englis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english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english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english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english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_english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english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english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english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english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english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_english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</TotalTime>
  <Words>1608</Words>
  <Application>Microsoft Office PowerPoint</Application>
  <PresentationFormat>On-screen Show (4:3)</PresentationFormat>
  <Paragraphs>433</Paragraphs>
  <Slides>33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ヒラギノ角ゴ Pro W3</vt:lpstr>
      <vt:lpstr>Arial</vt:lpstr>
      <vt:lpstr>Wingdings</vt:lpstr>
      <vt:lpstr>EN_2010_pct background png</vt:lpstr>
      <vt:lpstr>PowerPoint Presentation</vt:lpstr>
      <vt:lpstr>What is the PCT?</vt:lpstr>
      <vt:lpstr>General Remarks on the PCT</vt:lpstr>
      <vt:lpstr>148 PCT Contracting States</vt:lpstr>
      <vt:lpstr>Countries not yet PCT Contracting States</vt:lpstr>
      <vt:lpstr>PCT Applications (2014)</vt:lpstr>
      <vt:lpstr>Filings by Country of Origin (2014)</vt:lpstr>
      <vt:lpstr>Fields of Technology (2014)</vt:lpstr>
      <vt:lpstr>Top PCT Applicants (2014)</vt:lpstr>
      <vt:lpstr>Typical PCT Timeline</vt:lpstr>
      <vt:lpstr>The PCT system – typical use</vt:lpstr>
      <vt:lpstr>Typical use (2)</vt:lpstr>
      <vt:lpstr>Typical use (3)</vt:lpstr>
      <vt:lpstr>Typical use (4)</vt:lpstr>
      <vt:lpstr>Typical use (5)</vt:lpstr>
      <vt:lpstr>Typical use (6)</vt:lpstr>
      <vt:lpstr>Typical use (7)</vt:lpstr>
      <vt:lpstr>PCT International Phase</vt:lpstr>
      <vt:lpstr>What Does a PCT Application Contain?</vt:lpstr>
      <vt:lpstr>The Receiving Office</vt:lpstr>
      <vt:lpstr>International Search</vt:lpstr>
      <vt:lpstr>International Searching Authorities</vt:lpstr>
      <vt:lpstr>International Search Report (ISR)</vt:lpstr>
      <vt:lpstr>Example of an ISR</vt:lpstr>
      <vt:lpstr>Written Opinion of the ISA</vt:lpstr>
      <vt:lpstr>Example of the Written Opinion</vt:lpstr>
      <vt:lpstr>International Publication (1)</vt:lpstr>
      <vt:lpstr>International Publication (2)</vt:lpstr>
      <vt:lpstr>Supplementary International Search</vt:lpstr>
      <vt:lpstr>International Preliminary Examination</vt:lpstr>
      <vt:lpstr>PCT National Phase</vt:lpstr>
      <vt:lpstr>Why Use the PCT?</vt:lpstr>
      <vt:lpstr>Cost Deferral</vt:lpstr>
    </vt:vector>
  </TitlesOfParts>
  <Company>World Intellectual Property 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ARGANOZA Rosalina</dc:creator>
  <cp:lastModifiedBy>ArArun-PC</cp:lastModifiedBy>
  <cp:revision>138</cp:revision>
  <cp:lastPrinted>2015-05-01T14:20:17Z</cp:lastPrinted>
  <dcterms:created xsi:type="dcterms:W3CDTF">2013-11-19T11:19:13Z</dcterms:created>
  <dcterms:modified xsi:type="dcterms:W3CDTF">2022-05-11T07:43:56Z</dcterms:modified>
</cp:coreProperties>
</file>