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59" r:id="rId5"/>
    <p:sldId id="258" r:id="rId6"/>
    <p:sldId id="260" r:id="rId7"/>
    <p:sldId id="261" r:id="rId8"/>
    <p:sldId id="262" r:id="rId9"/>
    <p:sldId id="265" r:id="rId10"/>
    <p:sldId id="263" r:id="rId11"/>
    <p:sldId id="264"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p:restoredLeft sz="15620"/>
    <p:restoredTop sz="94660"/>
  </p:normalViewPr>
  <p:slideViewPr>
    <p:cSldViewPr>
      <p:cViewPr varScale="1">
        <p:scale>
          <a:sx n="64" d="100"/>
          <a:sy n="64" d="100"/>
        </p:scale>
        <p:origin x="-1470"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4AF9B03-5C1B-41B7-8F03-86827B018B78}"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F7307F-BE2A-4284-ABEA-235DC3239E0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AF9B03-5C1B-41B7-8F03-86827B018B78}"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F7307F-BE2A-4284-ABEA-235DC3239E0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4AF9B03-5C1B-41B7-8F03-86827B018B78}"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F7307F-BE2A-4284-ABEA-235DC3239E0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4AF9B03-5C1B-41B7-8F03-86827B018B78}"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F7307F-BE2A-4284-ABEA-235DC3239E0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4AF9B03-5C1B-41B7-8F03-86827B018B78}" type="datetimeFigureOut">
              <a:rPr lang="en-US" smtClean="0"/>
              <a:pPr/>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F7307F-BE2A-4284-ABEA-235DC3239E0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4AF9B03-5C1B-41B7-8F03-86827B018B78}" type="datetimeFigureOut">
              <a:rPr lang="en-US" smtClean="0"/>
              <a:pPr/>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F7307F-BE2A-4284-ABEA-235DC3239E0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F9B03-5C1B-41B7-8F03-86827B018B78}" type="datetimeFigureOut">
              <a:rPr lang="en-US" smtClean="0"/>
              <a:pPr/>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F7307F-BE2A-4284-ABEA-235DC3239E0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AF9B03-5C1B-41B7-8F03-86827B018B78}"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F7307F-BE2A-4284-ABEA-235DC3239E0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AF9B03-5C1B-41B7-8F03-86827B018B78}"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F7307F-BE2A-4284-ABEA-235DC3239E0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AF9B03-5C1B-41B7-8F03-86827B018B78}"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F7307F-BE2A-4284-ABEA-235DC3239E0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AF9B03-5C1B-41B7-8F03-86827B018B78}"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F7307F-BE2A-4284-ABEA-235DC3239E0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F9B03-5C1B-41B7-8F03-86827B018B78}" type="datetimeFigureOut">
              <a:rPr lang="en-US" smtClean="0"/>
              <a:pPr/>
              <a:t>11/19/2025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F7307F-BE2A-4284-ABEA-235DC3239E0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upcounsel.com/exit-interview"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New Developments in IPR: Computer Software</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buNone/>
            </a:pPr>
            <a:r>
              <a:rPr lang="en-US" dirty="0" smtClean="0"/>
              <a:t>There are intellectual property issues </a:t>
            </a:r>
            <a:r>
              <a:rPr lang="en-US" dirty="0" smtClean="0"/>
              <a:t>associated with </a:t>
            </a:r>
            <a:r>
              <a:rPr lang="en-US" dirty="0" smtClean="0"/>
              <a:t>four elements of a software program: </a:t>
            </a:r>
          </a:p>
          <a:p>
            <a:pPr marL="514350" indent="-514350" algn="just">
              <a:buAutoNum type="arabicPeriod"/>
            </a:pPr>
            <a:r>
              <a:rPr lang="en-US" dirty="0" smtClean="0"/>
              <a:t>Program function - whether the algorithm is performed by the hardware or the software</a:t>
            </a:r>
          </a:p>
          <a:p>
            <a:pPr marL="514350" indent="-514350" algn="just">
              <a:buAutoNum type="arabicPeriod"/>
            </a:pPr>
            <a:r>
              <a:rPr lang="en-US" dirty="0" smtClean="0"/>
              <a:t>External design - the conventions for communication between the program and the user or other programs, </a:t>
            </a:r>
          </a:p>
          <a:p>
            <a:pPr marL="514350" indent="-514350" algn="just">
              <a:buAutoNum type="arabicPeriod"/>
            </a:pPr>
            <a:r>
              <a:rPr lang="en-US" dirty="0" smtClean="0"/>
              <a:t>User interfaces - the interactions between the program and the user, </a:t>
            </a:r>
          </a:p>
          <a:p>
            <a:pPr marL="514350" indent="-514350" algn="just">
              <a:buAutoNum type="arabicPeriod"/>
            </a:pPr>
            <a:r>
              <a:rPr lang="en-US" dirty="0" smtClean="0"/>
              <a:t>Program code - the implementation of the function and external design of the program</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Proprietary Software</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t>P</a:t>
            </a:r>
            <a:r>
              <a:rPr lang="en-US" dirty="0" smtClean="0"/>
              <a:t>roprietary software is software that is </a:t>
            </a:r>
            <a:r>
              <a:rPr lang="en-US" dirty="0" smtClean="0">
                <a:solidFill>
                  <a:srgbClr val="C00000"/>
                </a:solidFill>
              </a:rPr>
              <a:t>owned as private property by a company</a:t>
            </a:r>
            <a:r>
              <a:rPr lang="en-US" dirty="0" smtClean="0"/>
              <a:t> (or occasionally by an individual software developer). </a:t>
            </a:r>
          </a:p>
          <a:p>
            <a:pPr algn="just"/>
            <a:r>
              <a:rPr lang="en-US" dirty="0" smtClean="0"/>
              <a:t>Its ‘private </a:t>
            </a:r>
            <a:r>
              <a:rPr lang="en-US" dirty="0" err="1" smtClean="0"/>
              <a:t>propertiness</a:t>
            </a:r>
            <a:r>
              <a:rPr lang="en-US" dirty="0" smtClean="0"/>
              <a:t>’ is protected by various intellectual property </a:t>
            </a:r>
            <a:r>
              <a:rPr lang="en-US" dirty="0" smtClean="0">
                <a:solidFill>
                  <a:srgbClr val="C00000"/>
                </a:solidFill>
              </a:rPr>
              <a:t>laws and regimes</a:t>
            </a:r>
            <a:r>
              <a:rPr lang="en-US" dirty="0" smtClean="0"/>
              <a:t>.</a:t>
            </a:r>
          </a:p>
          <a:p>
            <a:pPr algn="just"/>
            <a:r>
              <a:rPr lang="en-US" dirty="0" smtClean="0"/>
              <a:t>People require </a:t>
            </a:r>
            <a:r>
              <a:rPr lang="en-US" dirty="0" smtClean="0">
                <a:solidFill>
                  <a:srgbClr val="C00000"/>
                </a:solidFill>
              </a:rPr>
              <a:t>source code access </a:t>
            </a:r>
            <a:r>
              <a:rPr lang="en-US" dirty="0" smtClean="0"/>
              <a:t>and the unrestricted ability to modify it so that purchased or bespoke software can work for their specific needs. </a:t>
            </a:r>
          </a:p>
          <a:p>
            <a:pPr algn="just"/>
            <a:r>
              <a:rPr lang="en-US" dirty="0" smtClean="0"/>
              <a:t>With proprietary software, this is not possible — </a:t>
            </a:r>
            <a:r>
              <a:rPr lang="en-US" dirty="0" smtClean="0">
                <a:solidFill>
                  <a:srgbClr val="C00000"/>
                </a:solidFill>
              </a:rPr>
              <a:t>unless special </a:t>
            </a:r>
            <a:r>
              <a:rPr lang="en-US" dirty="0" err="1" smtClean="0">
                <a:solidFill>
                  <a:srgbClr val="C00000"/>
                </a:solidFill>
              </a:rPr>
              <a:t>licences</a:t>
            </a:r>
            <a:r>
              <a:rPr lang="en-US" dirty="0" smtClean="0">
                <a:solidFill>
                  <a:srgbClr val="C00000"/>
                </a:solidFill>
              </a:rPr>
              <a:t> or exemptions are granted by the owner </a:t>
            </a:r>
            <a:r>
              <a:rPr lang="en-US" dirty="0" smtClean="0"/>
              <a:t>— and domestic and international intellectual property laws establish the legal framework that restrict such access.</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lgn="just"/>
            <a:r>
              <a:rPr lang="en-US" dirty="0" smtClean="0"/>
              <a:t>In the case of proprietary software, these key restrictions are made manifest by the particular licensing terms that those actually licensing or operating the software are required to abide by, again as a matter of law. </a:t>
            </a:r>
          </a:p>
          <a:p>
            <a:pPr algn="just"/>
            <a:r>
              <a:rPr lang="en-US" dirty="0" smtClean="0"/>
              <a:t>(Software is seldom sold.) Under the terms of what is known as the ‘</a:t>
            </a:r>
            <a:r>
              <a:rPr lang="en-US" dirty="0" smtClean="0">
                <a:solidFill>
                  <a:srgbClr val="00B0F0"/>
                </a:solidFill>
              </a:rPr>
              <a:t>End User License Agreement</a:t>
            </a:r>
            <a:r>
              <a:rPr lang="en-US" dirty="0" smtClean="0"/>
              <a:t>’, this </a:t>
            </a:r>
            <a:r>
              <a:rPr lang="en-US" dirty="0" smtClean="0">
                <a:solidFill>
                  <a:srgbClr val="C00000"/>
                </a:solidFill>
              </a:rPr>
              <a:t>source code cannot be copied, shared, modified, redistributed, or reverse engineered by other software developers</a:t>
            </a:r>
            <a:r>
              <a:rPr lang="en-US" dirty="0" smtClean="0"/>
              <a:t> or users. </a:t>
            </a:r>
          </a:p>
          <a:p>
            <a:pPr algn="just"/>
            <a:r>
              <a:rPr lang="en-US" dirty="0" smtClean="0"/>
              <a:t>In the same vein and as a key part of the business model of proprietary software, the license will usually permit use of the software on only a </a:t>
            </a:r>
            <a:r>
              <a:rPr lang="en-US" dirty="0" smtClean="0">
                <a:solidFill>
                  <a:srgbClr val="C00000"/>
                </a:solidFill>
              </a:rPr>
              <a:t>single computer </a:t>
            </a:r>
            <a:r>
              <a:rPr lang="en-US" dirty="0" smtClean="0"/>
              <a:t>and/or require </a:t>
            </a:r>
            <a:r>
              <a:rPr lang="en-US" dirty="0" smtClean="0">
                <a:solidFill>
                  <a:srgbClr val="C00000"/>
                </a:solidFill>
              </a:rPr>
              <a:t>extra licensing fess</a:t>
            </a:r>
            <a:r>
              <a:rPr lang="en-US" dirty="0" smtClean="0"/>
              <a:t> to be paid for each </a:t>
            </a:r>
            <a:r>
              <a:rPr lang="en-US" dirty="0" smtClean="0">
                <a:solidFill>
                  <a:srgbClr val="C00000"/>
                </a:solidFill>
              </a:rPr>
              <a:t>additional computer or work station </a:t>
            </a:r>
            <a:r>
              <a:rPr lang="en-US" dirty="0" smtClean="0"/>
              <a:t>using the software (e.g. in schools and colleges where computers available for student and staff use).</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FLOSS (Free / </a:t>
            </a:r>
            <a:r>
              <a:rPr lang="en-US" dirty="0" err="1" smtClean="0"/>
              <a:t>Libre</a:t>
            </a:r>
            <a:r>
              <a:rPr lang="en-US" dirty="0" smtClean="0"/>
              <a:t> / Open Source Software)</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Free Software</a:t>
            </a:r>
          </a:p>
          <a:p>
            <a:pPr lvl="1" algn="just"/>
            <a:r>
              <a:rPr lang="en-US" dirty="0" smtClean="0"/>
              <a:t>“the freedom to:  </a:t>
            </a:r>
          </a:p>
          <a:p>
            <a:pPr lvl="2" algn="just"/>
            <a:r>
              <a:rPr lang="en-US" dirty="0" smtClean="0"/>
              <a:t>Use the software as they wish, for whatever they wish, on as many computers as they wish, in any technically appropriate situation.  </a:t>
            </a:r>
          </a:p>
          <a:p>
            <a:pPr lvl="2" algn="just"/>
            <a:r>
              <a:rPr lang="en-US" dirty="0" smtClean="0"/>
              <a:t>Have the software at their disposal to fit it to their needs. Of course, this includes improving it, fixing its bugs, augmenting its functionality, and studying its operation.  </a:t>
            </a:r>
          </a:p>
          <a:p>
            <a:pPr lvl="2" algn="just"/>
            <a:r>
              <a:rPr lang="en-US" dirty="0" smtClean="0"/>
              <a:t>Redistribute the software to other users, who could themselves use it according to their own needs. This redistribution can be done for free, or at a charge, not fixed beforehand.</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smtClean="0"/>
              <a:t>Open Source Software </a:t>
            </a:r>
          </a:p>
          <a:p>
            <a:pPr lvl="2" algn="just"/>
            <a:r>
              <a:rPr lang="en-US" dirty="0" smtClean="0"/>
              <a:t>“No royalty or other fee imposed upon redistribution.</a:t>
            </a:r>
          </a:p>
          <a:p>
            <a:pPr lvl="2" algn="just"/>
            <a:r>
              <a:rPr lang="en-US" dirty="0" smtClean="0"/>
              <a:t>Availability of the source code. </a:t>
            </a:r>
          </a:p>
          <a:p>
            <a:pPr lvl="2" algn="just"/>
            <a:r>
              <a:rPr lang="en-US" dirty="0" smtClean="0"/>
              <a:t>Right to create modifications and derivative works. </a:t>
            </a:r>
          </a:p>
          <a:p>
            <a:pPr lvl="2" algn="just"/>
            <a:r>
              <a:rPr lang="en-US" dirty="0" smtClean="0"/>
              <a:t>May require modified versions to be distributed as the original version plus patches. </a:t>
            </a:r>
          </a:p>
          <a:p>
            <a:pPr lvl="2" algn="just"/>
            <a:r>
              <a:rPr lang="en-US" dirty="0" smtClean="0"/>
              <a:t>No discrimination against persons or groups. </a:t>
            </a:r>
          </a:p>
          <a:p>
            <a:pPr lvl="2" algn="just"/>
            <a:r>
              <a:rPr lang="en-US" dirty="0" smtClean="0"/>
              <a:t>No discrimination against fields of </a:t>
            </a:r>
            <a:r>
              <a:rPr lang="en-US" dirty="0" err="1" smtClean="0"/>
              <a:t>endeavour</a:t>
            </a:r>
            <a:r>
              <a:rPr lang="en-US" dirty="0" smtClean="0"/>
              <a:t>. </a:t>
            </a:r>
          </a:p>
          <a:p>
            <a:pPr lvl="2" algn="just"/>
            <a:r>
              <a:rPr lang="en-US" dirty="0" smtClean="0"/>
              <a:t>All rights granted must flow through to/with redistributed versions. </a:t>
            </a:r>
          </a:p>
          <a:p>
            <a:pPr lvl="2" algn="just"/>
            <a:r>
              <a:rPr lang="en-US" dirty="0" smtClean="0"/>
              <a:t>The license applies to the program as a whole and each of its components.</a:t>
            </a:r>
          </a:p>
          <a:p>
            <a:pPr lvl="2" algn="just"/>
            <a:r>
              <a:rPr lang="en-US" dirty="0" smtClean="0"/>
              <a:t>The license must not restrict other software, thus permitting the distribution of open source and closed source software together.” (Open Source Initiative) </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a:t>
            </a:r>
            <a:r>
              <a:rPr lang="en-US" dirty="0" smtClean="0"/>
              <a:t>hree most important intellectual property rights on software, namely </a:t>
            </a:r>
          </a:p>
          <a:p>
            <a:pPr lvl="2"/>
            <a:r>
              <a:rPr lang="en-US" dirty="0" smtClean="0"/>
              <a:t>copyright </a:t>
            </a:r>
          </a:p>
          <a:p>
            <a:pPr lvl="2"/>
            <a:r>
              <a:rPr lang="en-US" dirty="0" smtClean="0"/>
              <a:t>Patent</a:t>
            </a:r>
          </a:p>
          <a:p>
            <a:pPr lvl="2"/>
            <a:r>
              <a:rPr lang="en-US" dirty="0" smtClean="0"/>
              <a:t>trade secrets</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Copyright Protection</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Copyrights protect original textual works and visual or artistic expressions.</a:t>
            </a:r>
          </a:p>
          <a:p>
            <a:pPr algn="just"/>
            <a:r>
              <a:rPr lang="en-US" dirty="0" smtClean="0"/>
              <a:t>Copyright law and patent law provide different types of protection. </a:t>
            </a:r>
          </a:p>
          <a:p>
            <a:pPr algn="just"/>
            <a:r>
              <a:rPr lang="en-US" dirty="0" smtClean="0"/>
              <a:t>Copyright protection extends only to </a:t>
            </a:r>
            <a:r>
              <a:rPr lang="en-US" dirty="0" smtClean="0">
                <a:solidFill>
                  <a:srgbClr val="C00000"/>
                </a:solidFill>
              </a:rPr>
              <a:t>expressions</a:t>
            </a:r>
            <a:r>
              <a:rPr lang="en-US" dirty="0" smtClean="0"/>
              <a:t>, and </a:t>
            </a:r>
            <a:r>
              <a:rPr lang="en-US" dirty="0" smtClean="0">
                <a:solidFill>
                  <a:srgbClr val="C00000"/>
                </a:solidFill>
              </a:rPr>
              <a:t>not to ideas, procedures, methods of operation or mathematical concepts </a:t>
            </a:r>
            <a:r>
              <a:rPr lang="en-US" dirty="0" smtClean="0"/>
              <a:t>as such, whereas a patent is an exclusive right granted for an invention, which is a product or a process that provides a new way of doing something, or offers a new technical solution to a problem.</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lgn="just"/>
            <a:r>
              <a:rPr lang="en-US" b="1" dirty="0" smtClean="0"/>
              <a:t>What Copyright Protects</a:t>
            </a:r>
            <a:endParaRPr lang="en-US" dirty="0" smtClean="0"/>
          </a:p>
          <a:p>
            <a:pPr lvl="2" algn="just"/>
            <a:r>
              <a:rPr lang="en-US" dirty="0" smtClean="0"/>
              <a:t>Against word-for-word copying</a:t>
            </a:r>
          </a:p>
          <a:p>
            <a:pPr lvl="2" algn="just"/>
            <a:r>
              <a:rPr lang="en-US" dirty="0" smtClean="0"/>
              <a:t>Internationally, as soon as you create it</a:t>
            </a:r>
          </a:p>
          <a:p>
            <a:pPr lvl="2" algn="just">
              <a:buNone/>
            </a:pPr>
            <a:r>
              <a:rPr lang="en-US" dirty="0" smtClean="0"/>
              <a:t>Registering your copyright with the Copyright Office is a good idea for legal purposes.</a:t>
            </a:r>
          </a:p>
          <a:p>
            <a:pPr algn="just"/>
            <a:r>
              <a:rPr lang="en-US" b="1" dirty="0" smtClean="0"/>
              <a:t>Rights Granted by a Copyright</a:t>
            </a:r>
            <a:endParaRPr lang="en-US" dirty="0" smtClean="0"/>
          </a:p>
          <a:p>
            <a:pPr algn="just">
              <a:buNone/>
            </a:pPr>
            <a:r>
              <a:rPr lang="en-US" dirty="0" smtClean="0"/>
              <a:t>     A copyright grants you specific rights in terms of your software. When you hold the copyright to software code, you can:</a:t>
            </a:r>
          </a:p>
          <a:p>
            <a:pPr lvl="2" algn="just"/>
            <a:r>
              <a:rPr lang="en-US" b="1" dirty="0" smtClean="0"/>
              <a:t>Make copies</a:t>
            </a:r>
            <a:r>
              <a:rPr lang="en-US" dirty="0" smtClean="0"/>
              <a:t> of your software code</a:t>
            </a:r>
          </a:p>
          <a:p>
            <a:pPr lvl="2" algn="just"/>
            <a:r>
              <a:rPr lang="en-US" b="1" dirty="0" smtClean="0"/>
              <a:t>Sell or give away</a:t>
            </a:r>
            <a:r>
              <a:rPr lang="en-US" dirty="0" smtClean="0"/>
              <a:t> the code</a:t>
            </a:r>
          </a:p>
          <a:p>
            <a:pPr lvl="2" algn="just"/>
            <a:r>
              <a:rPr lang="en-US" b="1" dirty="0" smtClean="0"/>
              <a:t>Make a "derivative work,"</a:t>
            </a:r>
            <a:r>
              <a:rPr lang="en-US" dirty="0" smtClean="0"/>
              <a:t> which is a second software that uses a lot of the original code</a:t>
            </a:r>
          </a:p>
          <a:p>
            <a:pPr lvl="2" algn="just"/>
            <a:r>
              <a:rPr lang="en-US" b="1" dirty="0" smtClean="0"/>
              <a:t>Post the code</a:t>
            </a:r>
            <a:r>
              <a:rPr lang="en-US" dirty="0" smtClean="0"/>
              <a:t> somewhere, or otherwise display it</a:t>
            </a:r>
          </a:p>
          <a:p>
            <a:pPr algn="just"/>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Patent Protection</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dirty="0" smtClean="0"/>
              <a:t>To protect a process, like the function of software, you need a patent. A patent will protect things like:</a:t>
            </a:r>
          </a:p>
          <a:p>
            <a:pPr lvl="2" algn="just"/>
            <a:r>
              <a:rPr lang="en-US" dirty="0" smtClean="0"/>
              <a:t>Systems</a:t>
            </a:r>
          </a:p>
          <a:p>
            <a:pPr lvl="2" algn="just"/>
            <a:r>
              <a:rPr lang="en-US" dirty="0" smtClean="0"/>
              <a:t>Functions</a:t>
            </a:r>
          </a:p>
          <a:p>
            <a:pPr lvl="2" algn="just"/>
            <a:r>
              <a:rPr lang="en-US" dirty="0" smtClean="0"/>
              <a:t>Solutions to computer problems</a:t>
            </a:r>
          </a:p>
          <a:p>
            <a:pPr algn="just"/>
            <a:r>
              <a:rPr lang="en-US" dirty="0" smtClean="0"/>
              <a:t>Two types of patents to protect software: utility and design. </a:t>
            </a:r>
          </a:p>
          <a:p>
            <a:pPr lvl="2" algn="just"/>
            <a:r>
              <a:rPr lang="en-US" b="1" dirty="0" smtClean="0"/>
              <a:t>Utility</a:t>
            </a:r>
            <a:r>
              <a:rPr lang="en-US" dirty="0" smtClean="0"/>
              <a:t> protects what the software does. </a:t>
            </a:r>
          </a:p>
          <a:p>
            <a:pPr lvl="2" algn="just"/>
            <a:r>
              <a:rPr lang="en-US" b="1" dirty="0" smtClean="0"/>
              <a:t>Design</a:t>
            </a:r>
            <a:r>
              <a:rPr lang="en-US" dirty="0" smtClean="0"/>
              <a:t> protects any decorative part of your software.</a:t>
            </a:r>
          </a:p>
          <a:p>
            <a:pPr algn="just"/>
            <a:r>
              <a:rPr lang="en-US" dirty="0" smtClean="0"/>
              <a:t>Unlike copyright law, </a:t>
            </a:r>
            <a:r>
              <a:rPr lang="en-US" dirty="0" smtClean="0">
                <a:solidFill>
                  <a:srgbClr val="C00000"/>
                </a:solidFill>
              </a:rPr>
              <a:t>patent law protects the invention itself</a:t>
            </a:r>
            <a:r>
              <a:rPr lang="en-US" dirty="0" smtClean="0"/>
              <a:t>. </a:t>
            </a:r>
          </a:p>
          <a:p>
            <a:pPr algn="just"/>
            <a:r>
              <a:rPr lang="en-US" dirty="0" smtClean="0"/>
              <a:t>That way, </a:t>
            </a:r>
            <a:r>
              <a:rPr lang="en-US" dirty="0" smtClean="0">
                <a:solidFill>
                  <a:srgbClr val="C00000"/>
                </a:solidFill>
              </a:rPr>
              <a:t>someone can't create a software program with different code that does the exact same thing your software does</a:t>
            </a:r>
            <a:r>
              <a:rPr lang="en-US" dirty="0" smtClean="0"/>
              <a:t>. </a:t>
            </a:r>
          </a:p>
          <a:p>
            <a:pPr algn="just"/>
            <a:r>
              <a:rPr lang="en-US" dirty="0" smtClean="0"/>
              <a:t>But the patent </a:t>
            </a:r>
            <a:r>
              <a:rPr lang="en-US" dirty="0" smtClean="0">
                <a:solidFill>
                  <a:srgbClr val="C00000"/>
                </a:solidFill>
              </a:rPr>
              <a:t>doesn't protect your specific lines of code against plagiarism</a:t>
            </a:r>
            <a:r>
              <a:rPr lang="en-US" dirty="0" smtClean="0"/>
              <a:t> the way copyright does.</a:t>
            </a:r>
          </a:p>
          <a:p>
            <a:pPr algn="just"/>
            <a:endParaRPr lang="en-US"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US" dirty="0" smtClean="0"/>
              <a:t>Trade Secret Protection</a:t>
            </a:r>
            <a:endParaRPr lang="en-US" dirty="0"/>
          </a:p>
        </p:txBody>
      </p:sp>
      <p:sp>
        <p:nvSpPr>
          <p:cNvPr id="3" name="Content Placeholder 2"/>
          <p:cNvSpPr>
            <a:spLocks noGrp="1"/>
          </p:cNvSpPr>
          <p:nvPr>
            <p:ph idx="1"/>
          </p:nvPr>
        </p:nvSpPr>
        <p:spPr>
          <a:xfrm>
            <a:off x="428596" y="928670"/>
            <a:ext cx="8229600" cy="4697427"/>
          </a:xfrm>
        </p:spPr>
        <p:txBody>
          <a:bodyPr>
            <a:noAutofit/>
          </a:bodyPr>
          <a:lstStyle/>
          <a:p>
            <a:pPr algn="just"/>
            <a:r>
              <a:rPr lang="en-US" sz="1600" dirty="0" smtClean="0"/>
              <a:t>A </a:t>
            </a:r>
            <a:r>
              <a:rPr lang="en-US" sz="1600" b="1" dirty="0" smtClean="0"/>
              <a:t>trade secret</a:t>
            </a:r>
            <a:r>
              <a:rPr lang="en-US" sz="1600" dirty="0" smtClean="0"/>
              <a:t> is information </a:t>
            </a:r>
            <a:r>
              <a:rPr lang="en-US" sz="1600" dirty="0" smtClean="0">
                <a:solidFill>
                  <a:srgbClr val="C00000"/>
                </a:solidFill>
              </a:rPr>
              <a:t>individual or company</a:t>
            </a:r>
            <a:r>
              <a:rPr lang="en-US" sz="1600" dirty="0" smtClean="0"/>
              <a:t> has that other people don't have. </a:t>
            </a:r>
          </a:p>
          <a:p>
            <a:pPr algn="just"/>
            <a:r>
              <a:rPr lang="en-US" sz="1600" dirty="0" smtClean="0"/>
              <a:t>You use this information in </a:t>
            </a:r>
            <a:r>
              <a:rPr lang="en-US" sz="1600" dirty="0" smtClean="0">
                <a:solidFill>
                  <a:srgbClr val="C00000"/>
                </a:solidFill>
              </a:rPr>
              <a:t>business</a:t>
            </a:r>
            <a:r>
              <a:rPr lang="en-US" sz="1600" dirty="0" smtClean="0"/>
              <a:t>, and it gives you a leg-up over your competition.</a:t>
            </a:r>
          </a:p>
          <a:p>
            <a:pPr algn="just"/>
            <a:r>
              <a:rPr lang="en-US" sz="1600" dirty="0" smtClean="0"/>
              <a:t>You </a:t>
            </a:r>
            <a:r>
              <a:rPr lang="en-US" sz="1600" dirty="0" smtClean="0">
                <a:solidFill>
                  <a:srgbClr val="C00000"/>
                </a:solidFill>
              </a:rPr>
              <a:t>don't file any documents or apply </a:t>
            </a:r>
            <a:r>
              <a:rPr lang="en-US" sz="1600" dirty="0" smtClean="0"/>
              <a:t>with an office to get a trade secret. </a:t>
            </a:r>
          </a:p>
          <a:p>
            <a:pPr algn="just"/>
            <a:r>
              <a:rPr lang="en-US" sz="1600" dirty="0" smtClean="0"/>
              <a:t>Instead, the </a:t>
            </a:r>
            <a:r>
              <a:rPr lang="en-US" sz="1600" dirty="0" smtClean="0">
                <a:solidFill>
                  <a:srgbClr val="C00000"/>
                </a:solidFill>
              </a:rPr>
              <a:t>way you treat your software can make it a trade secret</a:t>
            </a:r>
            <a:r>
              <a:rPr lang="en-US" sz="1600" dirty="0" smtClean="0"/>
              <a:t>. </a:t>
            </a:r>
          </a:p>
          <a:p>
            <a:pPr algn="just"/>
            <a:r>
              <a:rPr lang="en-US" sz="1600" dirty="0" smtClean="0"/>
              <a:t>You have to take "reasonable measures" to keep the software a secret:</a:t>
            </a:r>
          </a:p>
          <a:p>
            <a:pPr lvl="2" algn="just"/>
            <a:r>
              <a:rPr lang="en-US" sz="1600" dirty="0" smtClean="0"/>
              <a:t>Keep the software away from the public.</a:t>
            </a:r>
          </a:p>
          <a:p>
            <a:pPr lvl="2" algn="just"/>
            <a:r>
              <a:rPr lang="en-US" sz="1600" dirty="0" smtClean="0"/>
              <a:t>Have employees sign non-disclosure agreements.</a:t>
            </a:r>
          </a:p>
          <a:p>
            <a:pPr lvl="2" algn="just"/>
            <a:r>
              <a:rPr lang="en-US" sz="1600" dirty="0" smtClean="0"/>
              <a:t>Have employees sign non-compete agreements.</a:t>
            </a:r>
          </a:p>
          <a:p>
            <a:pPr lvl="2" algn="just"/>
            <a:r>
              <a:rPr lang="en-US" sz="1600" dirty="0" smtClean="0"/>
              <a:t>Do </a:t>
            </a:r>
            <a:r>
              <a:rPr lang="en-US" sz="1600" dirty="0" smtClean="0">
                <a:hlinkClick r:id="rId2"/>
              </a:rPr>
              <a:t>exit interviews</a:t>
            </a:r>
            <a:r>
              <a:rPr lang="en-US" sz="1600" dirty="0" smtClean="0"/>
              <a:t> with employees who are leaving to make sure they aren't bringing IP with them.</a:t>
            </a:r>
          </a:p>
          <a:p>
            <a:pPr lvl="2" algn="just"/>
            <a:r>
              <a:rPr lang="en-US" sz="1600" dirty="0" smtClean="0"/>
              <a:t>As soon as an employee quits or is fired, take away all their file and data access.</a:t>
            </a:r>
          </a:p>
          <a:p>
            <a:pPr lvl="2" algn="just"/>
            <a:r>
              <a:rPr lang="en-US" sz="1600" dirty="0" smtClean="0"/>
              <a:t>Investigate any suspicious employee activity.</a:t>
            </a:r>
          </a:p>
          <a:p>
            <a:pPr lvl="2" algn="just"/>
            <a:r>
              <a:rPr lang="en-US" sz="1600" dirty="0" smtClean="0"/>
              <a:t>Keep IP data stored in compartments, and only give access to employees who need it.</a:t>
            </a:r>
          </a:p>
          <a:p>
            <a:pPr algn="just"/>
            <a:r>
              <a:rPr lang="en-US" sz="1600" dirty="0" smtClean="0"/>
              <a:t>You can maintain a trade secret for </a:t>
            </a:r>
            <a:r>
              <a:rPr lang="en-US" sz="1600" dirty="0" smtClean="0">
                <a:solidFill>
                  <a:srgbClr val="C00000"/>
                </a:solidFill>
              </a:rPr>
              <a:t>as long as you want</a:t>
            </a:r>
            <a:r>
              <a:rPr lang="en-US" sz="1600" dirty="0" smtClean="0"/>
              <a:t>. </a:t>
            </a:r>
          </a:p>
          <a:p>
            <a:pPr algn="just"/>
            <a:r>
              <a:rPr lang="en-US" sz="1600" dirty="0" smtClean="0"/>
              <a:t>Unless someone discovers your secret by what the law calls </a:t>
            </a:r>
            <a:r>
              <a:rPr lang="en-US" sz="1600" dirty="0" smtClean="0">
                <a:solidFill>
                  <a:srgbClr val="C00000"/>
                </a:solidFill>
              </a:rPr>
              <a:t>"fair means," your trade secret will last forever</a:t>
            </a:r>
            <a:r>
              <a:rPr lang="en-US" sz="1600" dirty="0" smtClean="0"/>
              <a:t>. </a:t>
            </a:r>
          </a:p>
          <a:p>
            <a:pPr algn="just"/>
            <a:r>
              <a:rPr lang="en-US" sz="1600" dirty="0" smtClean="0"/>
              <a:t>If someone else discovers, on their own, a trade secret similar to yours, you </a:t>
            </a:r>
            <a:r>
              <a:rPr lang="en-US" sz="1600" dirty="0" smtClean="0">
                <a:solidFill>
                  <a:srgbClr val="C00000"/>
                </a:solidFill>
              </a:rPr>
              <a:t>can't take legal action</a:t>
            </a:r>
            <a:r>
              <a:rPr lang="en-US" sz="1600" dirty="0" smtClean="0"/>
              <a:t>. </a:t>
            </a:r>
          </a:p>
          <a:p>
            <a:pPr algn="just"/>
            <a:r>
              <a:rPr lang="en-US" sz="1600" dirty="0" smtClean="0"/>
              <a:t>Sometimes companies and individuals </a:t>
            </a:r>
            <a:r>
              <a:rPr lang="en-US" sz="1600" dirty="0" smtClean="0">
                <a:solidFill>
                  <a:srgbClr val="C00000"/>
                </a:solidFill>
              </a:rPr>
              <a:t>don't see trade secrets as secure </a:t>
            </a:r>
            <a:r>
              <a:rPr lang="en-US" sz="1600" dirty="0" smtClean="0"/>
              <a:t>enough protection for valuable software inventions.</a:t>
            </a:r>
          </a:p>
          <a:p>
            <a:pPr algn="just"/>
            <a:endParaRPr lang="en-US" sz="16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TotalTime>
  <Words>746</Words>
  <Application>Microsoft Office PowerPoint</Application>
  <PresentationFormat>On-screen Show (4:3)</PresentationFormat>
  <Paragraphs>76</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New Developments in IPR: Computer Software</vt:lpstr>
      <vt:lpstr>Slide 2</vt:lpstr>
      <vt:lpstr>Proprietary Software</vt:lpstr>
      <vt:lpstr>Slide 4</vt:lpstr>
      <vt:lpstr>FLOSS (Free / Libre / Open Source Software)</vt:lpstr>
      <vt:lpstr>Slide 6</vt:lpstr>
      <vt:lpstr>Slide 7</vt:lpstr>
      <vt:lpstr>Copyright Protection</vt:lpstr>
      <vt:lpstr>Slide 9</vt:lpstr>
      <vt:lpstr>Patent Protection</vt:lpstr>
      <vt:lpstr>Trade Secret Protection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Developments in IPR: Computer Software</dc:title>
  <dc:creator>student</dc:creator>
  <cp:lastModifiedBy>A</cp:lastModifiedBy>
  <cp:revision>28</cp:revision>
  <dcterms:created xsi:type="dcterms:W3CDTF">2022-05-11T09:54:33Z</dcterms:created>
  <dcterms:modified xsi:type="dcterms:W3CDTF">2025-11-19T20:47:29Z</dcterms:modified>
</cp:coreProperties>
</file>