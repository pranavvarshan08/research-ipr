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60" r:id="rId5"/>
    <p:sldId id="261" r:id="rId6"/>
    <p:sldId id="262" r:id="rId7"/>
    <p:sldId id="264" r:id="rId8"/>
    <p:sldId id="265" r:id="rId9"/>
    <p:sldId id="266" r:id="rId10"/>
    <p:sldId id="267" r:id="rId11"/>
    <p:sldId id="269" r:id="rId12"/>
    <p:sldId id="270"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jdWDap4XldHTe7Q6b3lBm8Rxk8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70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2084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6915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7248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889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8236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6050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70198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0925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852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1"/>
          <p:cNvSpPr>
            <a:spLocks noGrp="1"/>
          </p:cNvSpPr>
          <p:nvPr>
            <p:ph type="pic" idx="2"/>
          </p:nvPr>
        </p:nvSpPr>
        <p:spPr>
          <a:xfrm>
            <a:off x="5183188" y="987425"/>
            <a:ext cx="6172200" cy="4873625"/>
          </a:xfrm>
          <a:prstGeom prst="rect">
            <a:avLst/>
          </a:prstGeom>
          <a:noFill/>
          <a:ln>
            <a:noFill/>
          </a:ln>
        </p:spPr>
      </p:sp>
      <p:sp>
        <p:nvSpPr>
          <p:cNvPr id="64" name="Google Shape;64;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424605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Times New Roman"/>
              <a:buNone/>
            </a:pPr>
            <a:r>
              <a:rPr lang="en-US" b="1">
                <a:latin typeface="Times New Roman"/>
                <a:ea typeface="Times New Roman"/>
                <a:cs typeface="Times New Roman"/>
                <a:sym typeface="Times New Roman"/>
              </a:rPr>
              <a:t>RM5151 </a:t>
            </a:r>
            <a:br>
              <a:rPr lang="en-US" b="1">
                <a:latin typeface="Times New Roman"/>
                <a:ea typeface="Times New Roman"/>
                <a:cs typeface="Times New Roman"/>
                <a:sym typeface="Times New Roman"/>
              </a:rPr>
            </a:br>
            <a:r>
              <a:rPr lang="en-US" b="1">
                <a:latin typeface="Times New Roman"/>
                <a:ea typeface="Times New Roman"/>
                <a:cs typeface="Times New Roman"/>
                <a:sym typeface="Times New Roman"/>
              </a:rPr>
              <a:t/>
            </a:r>
            <a:br>
              <a:rPr lang="en-US" b="1">
                <a:latin typeface="Times New Roman"/>
                <a:ea typeface="Times New Roman"/>
                <a:cs typeface="Times New Roman"/>
                <a:sym typeface="Times New Roman"/>
              </a:rPr>
            </a:br>
            <a:r>
              <a:rPr lang="en-US" b="1">
                <a:latin typeface="Times New Roman"/>
                <a:ea typeface="Times New Roman"/>
                <a:cs typeface="Times New Roman"/>
                <a:sym typeface="Times New Roman"/>
              </a:rPr>
              <a:t>RESEARCH METHODOLOGY AND IPR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title"/>
          </p:nvPr>
        </p:nvSpPr>
        <p:spPr>
          <a:xfrm>
            <a:off x="1029929" y="2415150"/>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imes New Roman"/>
              <a:buNone/>
            </a:pPr>
            <a:r>
              <a:rPr lang="en-US" sz="5000" b="1">
                <a:latin typeface="Times New Roman"/>
                <a:ea typeface="Times New Roman"/>
                <a:cs typeface="Times New Roman"/>
                <a:sym typeface="Times New Roman"/>
              </a:rPr>
              <a:t>The formulation of research objectives</a:t>
            </a:r>
            <a:endParaRPr sz="5000" b="1">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Times New Roman"/>
              <a:buNone/>
            </a:pPr>
            <a:r>
              <a:rPr lang="en-US" sz="5000" b="1">
                <a:latin typeface="Times New Roman"/>
                <a:ea typeface="Times New Roman"/>
                <a:cs typeface="Times New Roman"/>
                <a:sym typeface="Times New Roman"/>
              </a:rPr>
              <a:t>Research Objectives</a:t>
            </a:r>
            <a:endParaRPr b="1">
              <a:latin typeface="Times New Roman"/>
              <a:ea typeface="Times New Roman"/>
              <a:cs typeface="Times New Roman"/>
              <a:sym typeface="Times New Roman"/>
            </a:endParaRPr>
          </a:p>
        </p:txBody>
      </p:sp>
      <p:sp>
        <p:nvSpPr>
          <p:cNvPr id="95" name="Google Shape;95;p3"/>
          <p:cNvSpPr txBox="1">
            <a:spLocks noGrp="1"/>
          </p:cNvSpPr>
          <p:nvPr>
            <p:ph type="body" idx="1"/>
          </p:nvPr>
        </p:nvSpPr>
        <p:spPr>
          <a:xfrm>
            <a:off x="838200" y="1312606"/>
            <a:ext cx="10515600" cy="4864357"/>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90000"/>
              </a:lnSpc>
              <a:spcBef>
                <a:spcPts val="1000"/>
              </a:spcBef>
              <a:spcAft>
                <a:spcPts val="0"/>
              </a:spcAft>
              <a:buSzPct val="100000"/>
              <a:buChar char="•"/>
            </a:pPr>
            <a:r>
              <a:rPr lang="en-US" dirty="0">
                <a:latin typeface="Times New Roman"/>
                <a:ea typeface="Times New Roman"/>
                <a:cs typeface="Times New Roman"/>
                <a:sym typeface="Times New Roman"/>
              </a:rPr>
              <a:t>Objectives are the goals you set out to attain in your study. </a:t>
            </a:r>
            <a:endParaRPr dirty="0">
              <a:latin typeface="Times New Roman"/>
              <a:ea typeface="Times New Roman"/>
              <a:cs typeface="Times New Roman"/>
              <a:sym typeface="Times New Roman"/>
            </a:endParaRPr>
          </a:p>
          <a:p>
            <a:pPr marL="228600" lvl="0" indent="-228600" algn="just" rtl="0">
              <a:lnSpc>
                <a:spcPct val="90000"/>
              </a:lnSpc>
              <a:spcBef>
                <a:spcPts val="1000"/>
              </a:spcBef>
              <a:spcAft>
                <a:spcPts val="0"/>
              </a:spcAft>
              <a:buSzPct val="100000"/>
              <a:buChar char="•"/>
            </a:pPr>
            <a:r>
              <a:rPr lang="en-US" dirty="0">
                <a:latin typeface="Times New Roman"/>
                <a:ea typeface="Times New Roman"/>
                <a:cs typeface="Times New Roman"/>
                <a:sym typeface="Times New Roman"/>
              </a:rPr>
              <a:t>Since these objectives inform a reader of what you want to achieve through the study.</a:t>
            </a:r>
            <a:endParaRPr dirty="0">
              <a:latin typeface="Times New Roman"/>
              <a:ea typeface="Times New Roman"/>
              <a:cs typeface="Times New Roman"/>
              <a:sym typeface="Times New Roman"/>
            </a:endParaRPr>
          </a:p>
          <a:p>
            <a:pPr marL="228600" lvl="0" indent="-228600" algn="just" rtl="0">
              <a:lnSpc>
                <a:spcPct val="90000"/>
              </a:lnSpc>
              <a:spcBef>
                <a:spcPts val="1000"/>
              </a:spcBef>
              <a:spcAft>
                <a:spcPts val="0"/>
              </a:spcAft>
              <a:buSzPct val="100000"/>
              <a:buChar char="•"/>
            </a:pPr>
            <a:r>
              <a:rPr lang="en-US" dirty="0">
                <a:latin typeface="Times New Roman"/>
                <a:ea typeface="Times New Roman"/>
                <a:cs typeface="Times New Roman"/>
                <a:sym typeface="Times New Roman"/>
              </a:rPr>
              <a:t>It is extremely important that should specify clearly and specifically.</a:t>
            </a:r>
            <a:endParaRPr dirty="0">
              <a:latin typeface="Times New Roman"/>
              <a:ea typeface="Times New Roman"/>
              <a:cs typeface="Times New Roman"/>
              <a:sym typeface="Times New Roman"/>
            </a:endParaRPr>
          </a:p>
          <a:p>
            <a:pPr marL="228600" lvl="0" indent="-228600" algn="just" rtl="0">
              <a:lnSpc>
                <a:spcPct val="90000"/>
              </a:lnSpc>
              <a:spcBef>
                <a:spcPts val="1000"/>
              </a:spcBef>
              <a:spcAft>
                <a:spcPts val="0"/>
              </a:spcAft>
              <a:buSzPct val="100000"/>
              <a:buChar char="•"/>
            </a:pPr>
            <a:r>
              <a:rPr lang="en-US" dirty="0">
                <a:latin typeface="Times New Roman"/>
                <a:ea typeface="Times New Roman"/>
                <a:cs typeface="Times New Roman"/>
                <a:sym typeface="Times New Roman"/>
              </a:rPr>
              <a:t>Classified as </a:t>
            </a:r>
            <a:endParaRPr dirty="0">
              <a:latin typeface="Times New Roman"/>
              <a:ea typeface="Times New Roman"/>
              <a:cs typeface="Times New Roman"/>
              <a:sym typeface="Times New Roman"/>
            </a:endParaRPr>
          </a:p>
          <a:p>
            <a:pPr marL="914400" lvl="0" indent="-457200" algn="just" rtl="0">
              <a:lnSpc>
                <a:spcPct val="90000"/>
              </a:lnSpc>
              <a:spcBef>
                <a:spcPts val="1000"/>
              </a:spcBef>
              <a:spcAft>
                <a:spcPts val="0"/>
              </a:spcAft>
              <a:buFont typeface="Wingdings" panose="05000000000000000000" pitchFamily="2" charset="2"/>
              <a:buChar char="Ø"/>
            </a:pPr>
            <a:r>
              <a:rPr lang="en-US" dirty="0">
                <a:latin typeface="Times New Roman"/>
                <a:ea typeface="Times New Roman"/>
                <a:cs typeface="Times New Roman"/>
                <a:sym typeface="Times New Roman"/>
              </a:rPr>
              <a:t>Main-objectives</a:t>
            </a:r>
            <a:endParaRPr dirty="0">
              <a:latin typeface="Times New Roman"/>
              <a:ea typeface="Times New Roman"/>
              <a:cs typeface="Times New Roman"/>
              <a:sym typeface="Times New Roman"/>
            </a:endParaRPr>
          </a:p>
          <a:p>
            <a:pPr marL="914400" lvl="0" indent="-457200" algn="just" rtl="0">
              <a:lnSpc>
                <a:spcPct val="90000"/>
              </a:lnSpc>
              <a:spcBef>
                <a:spcPts val="1000"/>
              </a:spcBef>
              <a:spcAft>
                <a:spcPts val="0"/>
              </a:spcAft>
              <a:buFont typeface="Wingdings" panose="05000000000000000000" pitchFamily="2" charset="2"/>
              <a:buChar char="Ø"/>
            </a:pPr>
            <a:r>
              <a:rPr lang="en-US" dirty="0">
                <a:latin typeface="Times New Roman"/>
                <a:ea typeface="Times New Roman"/>
                <a:cs typeface="Times New Roman"/>
                <a:sym typeface="Times New Roman"/>
              </a:rPr>
              <a:t>Sub-objectives</a:t>
            </a:r>
            <a:endParaRPr dirty="0">
              <a:latin typeface="Times New Roman"/>
              <a:ea typeface="Times New Roman"/>
              <a:cs typeface="Times New Roman"/>
              <a:sym typeface="Times New Roman"/>
            </a:endParaRPr>
          </a:p>
          <a:p>
            <a:pPr indent="-457200" algn="just"/>
            <a:r>
              <a:rPr lang="en-US" dirty="0">
                <a:latin typeface="Times New Roman"/>
                <a:ea typeface="Times New Roman"/>
                <a:cs typeface="Times New Roman"/>
                <a:sym typeface="Times New Roman"/>
              </a:rPr>
              <a:t>The main objective is an overall statement of the thrust of your study. It is also a statement of the main associations and relationships that you seek to discover or establish. </a:t>
            </a:r>
            <a:endParaRPr lang="en-US" dirty="0">
              <a:latin typeface="Times New Roman"/>
              <a:ea typeface="Times New Roman"/>
              <a:cs typeface="Times New Roman"/>
              <a:sym typeface="Times New Roman"/>
            </a:endParaRPr>
          </a:p>
          <a:p>
            <a:pPr indent="-457200" algn="just"/>
            <a:r>
              <a:rPr lang="en-US" dirty="0" smtClean="0">
                <a:latin typeface="Times New Roman"/>
                <a:ea typeface="Times New Roman"/>
                <a:cs typeface="Times New Roman"/>
                <a:sym typeface="Times New Roman"/>
              </a:rPr>
              <a:t>The sub-objectives </a:t>
            </a:r>
            <a:r>
              <a:rPr lang="en-US" dirty="0">
                <a:latin typeface="Times New Roman"/>
                <a:ea typeface="Times New Roman"/>
                <a:cs typeface="Times New Roman"/>
                <a:sym typeface="Times New Roman"/>
              </a:rPr>
              <a:t>are the specific aspects of the topic that you want to investigate within the main framework of your study.</a:t>
            </a:r>
            <a:endParaRPr dirty="0">
              <a:latin typeface="Times New Roman"/>
              <a:ea typeface="Times New Roman"/>
              <a:cs typeface="Times New Roman"/>
              <a:sym typeface="Times New Roman"/>
            </a:endParaRPr>
          </a:p>
          <a:p>
            <a:pPr marL="914400" indent="-457200" algn="just"/>
            <a:endParaRPr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Times New Roman"/>
              <a:buNone/>
            </a:pPr>
            <a:r>
              <a:rPr lang="en-US" sz="5000" b="1">
                <a:latin typeface="Times New Roman"/>
                <a:ea typeface="Times New Roman"/>
                <a:cs typeface="Times New Roman"/>
                <a:sym typeface="Times New Roman"/>
              </a:rPr>
              <a:t>Research Objectives</a:t>
            </a:r>
            <a:endParaRPr b="1">
              <a:latin typeface="Times New Roman"/>
              <a:ea typeface="Times New Roman"/>
              <a:cs typeface="Times New Roman"/>
              <a:sym typeface="Times New Roman"/>
            </a:endParaRP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lnSpcReduction="10000"/>
          </a:bodyPr>
          <a:lstStyle/>
          <a:p>
            <a:pPr algn="just"/>
            <a:r>
              <a:rPr lang="en-US" dirty="0">
                <a:latin typeface="Times New Roman" panose="02020603050405020304" pitchFamily="18" charset="0"/>
                <a:cs typeface="Times New Roman" panose="02020603050405020304" pitchFamily="18" charset="0"/>
              </a:rPr>
              <a:t>The way the main objectives and </a:t>
            </a:r>
            <a:r>
              <a:rPr lang="en-US" dirty="0" smtClean="0">
                <a:latin typeface="Times New Roman" panose="02020603050405020304" pitchFamily="18" charset="0"/>
                <a:cs typeface="Times New Roman" panose="02020603050405020304" pitchFamily="18" charset="0"/>
              </a:rPr>
              <a:t>sub-objectives </a:t>
            </a:r>
            <a:r>
              <a:rPr lang="en-US" dirty="0">
                <a:latin typeface="Times New Roman" panose="02020603050405020304" pitchFamily="18" charset="0"/>
                <a:cs typeface="Times New Roman" panose="02020603050405020304" pitchFamily="18" charset="0"/>
              </a:rPr>
              <a:t>are worded determines how your research </a:t>
            </a:r>
            <a:r>
              <a:rPr lang="en-US" dirty="0" smtClean="0">
                <a:latin typeface="Times New Roman" panose="02020603050405020304" pitchFamily="18" charset="0"/>
                <a:cs typeface="Times New Roman" panose="02020603050405020304" pitchFamily="18" charset="0"/>
              </a:rPr>
              <a:t>is classified as descriptive</a:t>
            </a:r>
            <a:r>
              <a:rPr lang="en-US" dirty="0">
                <a:latin typeface="Times New Roman" panose="02020603050405020304" pitchFamily="18" charset="0"/>
                <a:cs typeface="Times New Roman" panose="02020603050405020304" pitchFamily="18" charset="0"/>
              </a:rPr>
              <a:t>, correlational or </a:t>
            </a:r>
            <a:r>
              <a:rPr lang="en-US" dirty="0" smtClean="0">
                <a:latin typeface="Times New Roman" panose="02020603050405020304" pitchFamily="18" charset="0"/>
                <a:cs typeface="Times New Roman" panose="02020603050405020304" pitchFamily="18" charset="0"/>
              </a:rPr>
              <a:t>experimental.</a:t>
            </a:r>
          </a:p>
          <a:p>
            <a:pPr algn="just"/>
            <a:r>
              <a:rPr lang="en-US" dirty="0">
                <a:latin typeface="Times New Roman" panose="02020603050405020304" pitchFamily="18" charset="0"/>
                <a:cs typeface="Times New Roman" panose="02020603050405020304" pitchFamily="18" charset="0"/>
              </a:rPr>
              <a:t>In other words, the wording of </a:t>
            </a:r>
            <a:r>
              <a:rPr lang="en-US" dirty="0" smtClean="0">
                <a:latin typeface="Times New Roman" panose="02020603050405020304" pitchFamily="18" charset="0"/>
                <a:cs typeface="Times New Roman" panose="02020603050405020304" pitchFamily="18" charset="0"/>
              </a:rPr>
              <a:t>your objectives </a:t>
            </a:r>
            <a:r>
              <a:rPr lang="en-US" dirty="0">
                <a:latin typeface="Times New Roman" panose="02020603050405020304" pitchFamily="18" charset="0"/>
                <a:cs typeface="Times New Roman" panose="02020603050405020304" pitchFamily="18" charset="0"/>
              </a:rPr>
              <a:t>determines the type of research design you need to adopt to achieve them.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Hence</a:t>
            </a:r>
            <a:r>
              <a:rPr lang="en-US" dirty="0">
                <a:latin typeface="Times New Roman" panose="02020603050405020304" pitchFamily="18" charset="0"/>
                <a:cs typeface="Times New Roman" panose="02020603050405020304" pitchFamily="18" charset="0"/>
              </a:rPr>
              <a:t>, be </a:t>
            </a:r>
            <a:r>
              <a:rPr lang="en-US" dirty="0" smtClean="0">
                <a:latin typeface="Times New Roman" panose="02020603050405020304" pitchFamily="18" charset="0"/>
                <a:cs typeface="Times New Roman" panose="02020603050405020304" pitchFamily="18" charset="0"/>
              </a:rPr>
              <a:t>careful about </a:t>
            </a:r>
            <a:r>
              <a:rPr lang="en-US" dirty="0">
                <a:latin typeface="Times New Roman" panose="02020603050405020304" pitchFamily="18" charset="0"/>
                <a:cs typeface="Times New Roman" panose="02020603050405020304" pitchFamily="18" charset="0"/>
              </a:rPr>
              <a:t>the way you word your objectives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Sub-objectives </a:t>
            </a:r>
            <a:r>
              <a:rPr lang="en-US" dirty="0">
                <a:latin typeface="Times New Roman" panose="02020603050405020304" pitchFamily="18" charset="0"/>
                <a:cs typeface="Times New Roman" panose="02020603050405020304" pitchFamily="18" charset="0"/>
              </a:rPr>
              <a:t>should be numerically listed. They should be worded clearly and unambiguously.</a:t>
            </a:r>
          </a:p>
          <a:p>
            <a:pPr algn="just"/>
            <a:r>
              <a:rPr lang="en-US" dirty="0">
                <a:latin typeface="Times New Roman" panose="02020603050405020304" pitchFamily="18" charset="0"/>
                <a:cs typeface="Times New Roman" panose="02020603050405020304" pitchFamily="18" charset="0"/>
              </a:rPr>
              <a:t>Make sure that each </a:t>
            </a:r>
            <a:r>
              <a:rPr lang="en-US" dirty="0" smtClean="0">
                <a:latin typeface="Times New Roman" panose="02020603050405020304" pitchFamily="18" charset="0"/>
                <a:cs typeface="Times New Roman" panose="02020603050405020304" pitchFamily="18" charset="0"/>
              </a:rPr>
              <a:t>sub-objective </a:t>
            </a:r>
            <a:r>
              <a:rPr lang="en-US" dirty="0">
                <a:latin typeface="Times New Roman" panose="02020603050405020304" pitchFamily="18" charset="0"/>
                <a:cs typeface="Times New Roman" panose="02020603050405020304" pitchFamily="18" charset="0"/>
              </a:rPr>
              <a:t>contains only one aspect of the study.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action-oriented words </a:t>
            </a:r>
            <a:r>
              <a:rPr lang="en-US" dirty="0" smtClean="0">
                <a:latin typeface="Times New Roman" panose="02020603050405020304" pitchFamily="18" charset="0"/>
                <a:cs typeface="Times New Roman" panose="02020603050405020304" pitchFamily="18" charset="0"/>
              </a:rPr>
              <a:t>or verbs </a:t>
            </a:r>
            <a:r>
              <a:rPr lang="en-US" dirty="0">
                <a:latin typeface="Times New Roman" panose="02020603050405020304" pitchFamily="18" charset="0"/>
                <a:cs typeface="Times New Roman" panose="02020603050405020304" pitchFamily="18" charset="0"/>
              </a:rPr>
              <a:t>when writing your objectives. The objectives should start with words such as ‘to determine’, ‘</a:t>
            </a:r>
            <a:r>
              <a:rPr lang="en-US" dirty="0" smtClean="0">
                <a:latin typeface="Times New Roman" panose="02020603050405020304" pitchFamily="18" charset="0"/>
                <a:cs typeface="Times New Roman" panose="02020603050405020304" pitchFamily="18" charset="0"/>
              </a:rPr>
              <a:t>to find </a:t>
            </a:r>
            <a:r>
              <a:rPr lang="en-US" dirty="0">
                <a:latin typeface="Times New Roman" panose="02020603050405020304" pitchFamily="18" charset="0"/>
                <a:cs typeface="Times New Roman" panose="02020603050405020304" pitchFamily="18" charset="0"/>
              </a:rPr>
              <a:t>out’, ‘to ascertain’, ‘to measure’ and ‘to explore’.</a:t>
            </a:r>
            <a:endParaRPr lang="en-US" dirty="0" smtClean="0">
              <a:latin typeface="Times New Roman" panose="02020603050405020304" pitchFamily="18" charset="0"/>
              <a:cs typeface="Times New Roman" panose="02020603050405020304" pitchFamily="18" charset="0"/>
            </a:endParaRPr>
          </a:p>
          <a:p>
            <a:endParaRPr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055911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Times New Roman"/>
              <a:buNone/>
            </a:pPr>
            <a:r>
              <a:rPr lang="en-US" sz="5000" b="1">
                <a:latin typeface="Times New Roman"/>
                <a:ea typeface="Times New Roman"/>
                <a:cs typeface="Times New Roman"/>
                <a:sym typeface="Times New Roman"/>
              </a:rPr>
              <a:t>Research Objectives</a:t>
            </a:r>
            <a:endParaRPr b="1">
              <a:latin typeface="Times New Roman"/>
              <a:ea typeface="Times New Roman"/>
              <a:cs typeface="Times New Roman"/>
              <a:sym typeface="Times New Roman"/>
            </a:endParaRP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a:bodyPr>
          <a:lstStyle/>
          <a:p>
            <a:pPr algn="just"/>
            <a:r>
              <a:rPr lang="en-US" dirty="0">
                <a:latin typeface="Times New Roman" panose="02020603050405020304" pitchFamily="18" charset="0"/>
                <a:cs typeface="Times New Roman" panose="02020603050405020304" pitchFamily="18" charset="0"/>
              </a:rPr>
              <a:t>Irrespective of the type of research, the objectives should be expressed in such a way that the </a:t>
            </a:r>
            <a:r>
              <a:rPr lang="en-US" dirty="0" smtClean="0">
                <a:latin typeface="Times New Roman" panose="02020603050405020304" pitchFamily="18" charset="0"/>
                <a:cs typeface="Times New Roman" panose="02020603050405020304" pitchFamily="18" charset="0"/>
              </a:rPr>
              <a:t>wording clearly</a:t>
            </a:r>
            <a:r>
              <a:rPr lang="en-US" dirty="0">
                <a:latin typeface="Times New Roman" panose="02020603050405020304" pitchFamily="18" charset="0"/>
                <a:cs typeface="Times New Roman" panose="02020603050405020304" pitchFamily="18" charset="0"/>
              </a:rPr>
              <a:t>, completely and specifically </a:t>
            </a:r>
            <a:r>
              <a:rPr lang="en-US" dirty="0" smtClean="0">
                <a:latin typeface="Times New Roman" panose="02020603050405020304" pitchFamily="18" charset="0"/>
                <a:cs typeface="Times New Roman" panose="02020603050405020304" pitchFamily="18" charset="0"/>
              </a:rPr>
              <a:t>communicates </a:t>
            </a:r>
            <a:r>
              <a:rPr lang="en-US" dirty="0">
                <a:latin typeface="Times New Roman" panose="02020603050405020304" pitchFamily="18" charset="0"/>
                <a:cs typeface="Times New Roman" panose="02020603050405020304" pitchFamily="18" charset="0"/>
              </a:rPr>
              <a:t>your intention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US" dirty="0" smtClean="0">
                <a:latin typeface="Times New Roman" panose="02020603050405020304" pitchFamily="18" charset="0"/>
                <a:cs typeface="Times New Roman" panose="02020603050405020304" pitchFamily="18" charset="0"/>
              </a:rPr>
              <a:t>readers.</a:t>
            </a:r>
          </a:p>
          <a:p>
            <a:pPr algn="just"/>
            <a:r>
              <a:rPr lang="en-US" dirty="0">
                <a:latin typeface="Times New Roman" panose="02020603050405020304" pitchFamily="18" charset="0"/>
                <a:cs typeface="Times New Roman" panose="02020603050405020304" pitchFamily="18" charset="0"/>
              </a:rPr>
              <a:t>There is no place </a:t>
            </a:r>
            <a:r>
              <a:rPr lang="en-US" dirty="0" smtClean="0">
                <a:latin typeface="Times New Roman" panose="02020603050405020304" pitchFamily="18" charset="0"/>
                <a:cs typeface="Times New Roman" panose="02020603050405020304" pitchFamily="18" charset="0"/>
              </a:rPr>
              <a:t>for ambiguity</a:t>
            </a:r>
            <a:r>
              <a:rPr lang="en-US" dirty="0">
                <a:latin typeface="Times New Roman" panose="02020603050405020304" pitchFamily="18" charset="0"/>
                <a:cs typeface="Times New Roman" panose="02020603050405020304" pitchFamily="18" charset="0"/>
              </a:rPr>
              <a:t>, non-specificity or incompleteness, either in the wording of your objectives or in the </a:t>
            </a:r>
            <a:r>
              <a:rPr lang="en-US" dirty="0" smtClean="0">
                <a:latin typeface="Times New Roman" panose="02020603050405020304" pitchFamily="18" charset="0"/>
                <a:cs typeface="Times New Roman" panose="02020603050405020304" pitchFamily="18" charset="0"/>
              </a:rPr>
              <a:t>ideas they </a:t>
            </a:r>
            <a:r>
              <a:rPr lang="en-US" dirty="0">
                <a:latin typeface="Times New Roman" panose="02020603050405020304" pitchFamily="18" charset="0"/>
                <a:cs typeface="Times New Roman" panose="02020603050405020304" pitchFamily="18" charset="0"/>
              </a:rPr>
              <a:t>communicate.</a:t>
            </a:r>
            <a:endParaRPr dirty="0">
              <a:latin typeface="Times New Roman" panose="02020603050405020304" pitchFamily="18" charset="0"/>
              <a:ea typeface="Times New Roman"/>
              <a:cs typeface="Times New Roman" panose="02020603050405020304" pitchFamily="18" charset="0"/>
              <a:sym typeface="Times New Roman"/>
            </a:endParaRPr>
          </a:p>
        </p:txBody>
      </p:sp>
      <p:pic>
        <p:nvPicPr>
          <p:cNvPr id="2" name="Picture 1"/>
          <p:cNvPicPr>
            <a:picLocks noChangeAspect="1"/>
          </p:cNvPicPr>
          <p:nvPr/>
        </p:nvPicPr>
        <p:blipFill>
          <a:blip r:embed="rId3"/>
          <a:stretch>
            <a:fillRect/>
          </a:stretch>
        </p:blipFill>
        <p:spPr>
          <a:xfrm>
            <a:off x="1098278" y="3710801"/>
            <a:ext cx="9896824" cy="2924175"/>
          </a:xfrm>
          <a:prstGeom prst="rect">
            <a:avLst/>
          </a:prstGeom>
        </p:spPr>
      </p:pic>
    </p:spTree>
    <p:extLst>
      <p:ext uri="{BB962C8B-B14F-4D97-AF65-F5344CB8AC3E}">
        <p14:creationId xmlns:p14="http://schemas.microsoft.com/office/powerpoint/2010/main" val="1753641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Times New Roman"/>
              <a:buNone/>
            </a:pPr>
            <a:r>
              <a:rPr lang="en-US" sz="5000" b="1">
                <a:latin typeface="Times New Roman"/>
                <a:ea typeface="Times New Roman"/>
                <a:cs typeface="Times New Roman"/>
                <a:sym typeface="Times New Roman"/>
              </a:rPr>
              <a:t>Research Objectives</a:t>
            </a:r>
            <a:endParaRPr b="1">
              <a:latin typeface="Times New Roman"/>
              <a:ea typeface="Times New Roman"/>
              <a:cs typeface="Times New Roman"/>
              <a:sym typeface="Times New Roman"/>
            </a:endParaRP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lnSpcReduction="10000"/>
          </a:bodyPr>
          <a:lstStyle/>
          <a:p>
            <a:pPr algn="just"/>
            <a:r>
              <a:rPr lang="en-US" dirty="0">
                <a:latin typeface="Times New Roman" panose="02020603050405020304" pitchFamily="18" charset="0"/>
                <a:cs typeface="Times New Roman" panose="02020603050405020304" pitchFamily="18" charset="0"/>
              </a:rPr>
              <a:t>If your study is primarily descriptive, your main objective should clearly describe the major focus </a:t>
            </a:r>
            <a:r>
              <a:rPr lang="en-US" dirty="0" smtClean="0">
                <a:latin typeface="Times New Roman" panose="02020603050405020304" pitchFamily="18" charset="0"/>
                <a:cs typeface="Times New Roman" panose="02020603050405020304" pitchFamily="18" charset="0"/>
              </a:rPr>
              <a:t>of your </a:t>
            </a:r>
            <a:r>
              <a:rPr lang="en-US" dirty="0">
                <a:latin typeface="Times New Roman" panose="02020603050405020304" pitchFamily="18" charset="0"/>
                <a:cs typeface="Times New Roman" panose="02020603050405020304" pitchFamily="18" charset="0"/>
              </a:rPr>
              <a:t>study, even mentioning the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and its location unless these </a:t>
            </a:r>
            <a:r>
              <a:rPr lang="en-US" dirty="0" smtClean="0">
                <a:latin typeface="Times New Roman" panose="02020603050405020304" pitchFamily="18" charset="0"/>
                <a:cs typeface="Times New Roman" panose="02020603050405020304" pitchFamily="18" charset="0"/>
              </a:rPr>
              <a:t>are </a:t>
            </a:r>
            <a:r>
              <a:rPr lang="en-US" dirty="0">
                <a:latin typeface="Times New Roman" panose="02020603050405020304" pitchFamily="18" charset="0"/>
                <a:cs typeface="Times New Roman" panose="02020603050405020304" pitchFamily="18" charset="0"/>
              </a:rPr>
              <a:t>to be kept </a:t>
            </a:r>
            <a:r>
              <a:rPr lang="en-US" dirty="0" smtClean="0">
                <a:latin typeface="Times New Roman" panose="02020603050405020304" pitchFamily="18" charset="0"/>
                <a:cs typeface="Times New Roman" panose="02020603050405020304" pitchFamily="18" charset="0"/>
              </a:rPr>
              <a:t>confidential.</a:t>
            </a:r>
          </a:p>
          <a:p>
            <a:pPr algn="just"/>
            <a:r>
              <a:rPr lang="en-US" dirty="0">
                <a:latin typeface="Times New Roman" panose="02020603050405020304" pitchFamily="18" charset="0"/>
                <a:cs typeface="Times New Roman" panose="02020603050405020304" pitchFamily="18" charset="0"/>
              </a:rPr>
              <a:t>If your study is correlational in nature, in addition to the first three characteristics shown in </a:t>
            </a:r>
            <a:r>
              <a:rPr lang="en-US" dirty="0" smtClean="0">
                <a:latin typeface="Times New Roman" panose="02020603050405020304" pitchFamily="18" charset="0"/>
                <a:cs typeface="Times New Roman" panose="02020603050405020304" pitchFamily="18" charset="0"/>
              </a:rPr>
              <a:t>the above Figure, the </a:t>
            </a:r>
            <a:r>
              <a:rPr lang="en-US" dirty="0">
                <a:latin typeface="Times New Roman" panose="02020603050405020304" pitchFamily="18" charset="0"/>
                <a:cs typeface="Times New Roman" panose="02020603050405020304" pitchFamily="18" charset="0"/>
              </a:rPr>
              <a:t>wording of the main objective should also include the main variables being </a:t>
            </a:r>
            <a:r>
              <a:rPr lang="en-US" dirty="0" smtClean="0">
                <a:latin typeface="Times New Roman" panose="02020603050405020304" pitchFamily="18" charset="0"/>
                <a:cs typeface="Times New Roman" panose="02020603050405020304" pitchFamily="18" charset="0"/>
              </a:rPr>
              <a:t>correlated.</a:t>
            </a:r>
          </a:p>
          <a:p>
            <a:pPr algn="just"/>
            <a:r>
              <a:rPr lang="en-US" dirty="0" smtClean="0">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o ascertain </a:t>
            </a:r>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impact of migration </a:t>
            </a:r>
            <a:r>
              <a:rPr lang="en-US" dirty="0">
                <a:latin typeface="Times New Roman" panose="02020603050405020304" pitchFamily="18" charset="0"/>
                <a:cs typeface="Times New Roman" panose="02020603050405020304" pitchFamily="18" charset="0"/>
              </a:rPr>
              <a:t>on </a:t>
            </a:r>
            <a:r>
              <a:rPr lang="en-US" i="1" dirty="0">
                <a:latin typeface="Times New Roman" panose="02020603050405020304" pitchFamily="18" charset="0"/>
                <a:cs typeface="Times New Roman" panose="02020603050405020304" pitchFamily="18" charset="0"/>
              </a:rPr>
              <a:t>family roles </a:t>
            </a:r>
            <a:r>
              <a:rPr lang="en-US" dirty="0">
                <a:latin typeface="Times New Roman" panose="02020603050405020304" pitchFamily="18" charset="0"/>
                <a:cs typeface="Times New Roman" panose="02020603050405020304" pitchFamily="18" charset="0"/>
              </a:rPr>
              <a:t>or to compare the effectiveness of </a:t>
            </a:r>
            <a:r>
              <a:rPr lang="en-US" i="1" dirty="0">
                <a:latin typeface="Times New Roman" panose="02020603050405020304" pitchFamily="18" charset="0"/>
                <a:cs typeface="Times New Roman" panose="02020603050405020304" pitchFamily="18" charset="0"/>
              </a:rPr>
              <a:t>different </a:t>
            </a:r>
            <a:r>
              <a:rPr lang="en-US" i="1" dirty="0" smtClean="0">
                <a:latin typeface="Times New Roman" panose="02020603050405020304" pitchFamily="18" charset="0"/>
                <a:cs typeface="Times New Roman" panose="02020603050405020304" pitchFamily="18" charset="0"/>
              </a:rPr>
              <a:t>teaching methods </a:t>
            </a:r>
            <a:r>
              <a:rPr lang="en-US" dirty="0">
                <a:latin typeface="Times New Roman" panose="02020603050405020304" pitchFamily="18" charset="0"/>
                <a:cs typeface="Times New Roman" panose="02020603050405020304" pitchFamily="18" charset="0"/>
              </a:rPr>
              <a:t>on the </a:t>
            </a:r>
            <a:r>
              <a:rPr lang="en-US" i="1" dirty="0">
                <a:latin typeface="Times New Roman" panose="02020603050405020304" pitchFamily="18" charset="0"/>
                <a:cs typeface="Times New Roman" panose="02020603050405020304" pitchFamily="18" charset="0"/>
              </a:rPr>
              <a:t>comprehension of </a:t>
            </a:r>
            <a:r>
              <a:rPr lang="en-US" i="1" dirty="0" smtClean="0">
                <a:latin typeface="Times New Roman" panose="02020603050405020304" pitchFamily="18" charset="0"/>
                <a:cs typeface="Times New Roman" panose="02020603050405020304" pitchFamily="18" charset="0"/>
              </a:rPr>
              <a:t>students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If the </a:t>
            </a:r>
            <a:r>
              <a:rPr lang="en-US" dirty="0" smtClean="0">
                <a:latin typeface="Times New Roman" panose="02020603050405020304" pitchFamily="18" charset="0"/>
                <a:cs typeface="Times New Roman" panose="02020603050405020304" pitchFamily="18" charset="0"/>
              </a:rPr>
              <a:t>study </a:t>
            </a:r>
            <a:r>
              <a:rPr lang="en-US" dirty="0">
                <a:latin typeface="Times New Roman" panose="02020603050405020304" pitchFamily="18" charset="0"/>
                <a:cs typeface="Times New Roman" panose="02020603050405020304" pitchFamily="18" charset="0"/>
              </a:rPr>
              <a:t>is to test a hypothesis, the wording of the main objectives </a:t>
            </a:r>
            <a:r>
              <a:rPr lang="en-US" dirty="0" smtClean="0">
                <a:latin typeface="Times New Roman" panose="02020603050405020304" pitchFamily="18" charset="0"/>
                <a:cs typeface="Times New Roman" panose="02020603050405020304" pitchFamily="18" charset="0"/>
              </a:rPr>
              <a:t>should also </a:t>
            </a:r>
            <a:r>
              <a:rPr lang="en-US" dirty="0">
                <a:latin typeface="Times New Roman" panose="02020603050405020304" pitchFamily="18" charset="0"/>
                <a:cs typeface="Times New Roman" panose="02020603050405020304" pitchFamily="18" charset="0"/>
              </a:rPr>
              <a:t>indicate the direction of the relationship being </a:t>
            </a:r>
            <a:r>
              <a:rPr lang="en-US" dirty="0" smtClean="0">
                <a:latin typeface="Times New Roman" panose="02020603050405020304" pitchFamily="18" charset="0"/>
                <a:cs typeface="Times New Roman" panose="02020603050405020304" pitchFamily="18" charset="0"/>
              </a:rPr>
              <a:t>tested.</a:t>
            </a:r>
          </a:p>
          <a:p>
            <a:pPr algn="just"/>
            <a:r>
              <a:rPr lang="en-US" dirty="0" smtClean="0">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ascertain if an </a:t>
            </a:r>
            <a:r>
              <a:rPr lang="en-US" i="1" dirty="0">
                <a:latin typeface="Times New Roman" panose="02020603050405020304" pitchFamily="18" charset="0"/>
                <a:cs typeface="Times New Roman" panose="02020603050405020304" pitchFamily="18" charset="0"/>
              </a:rPr>
              <a:t>increase in </a:t>
            </a:r>
            <a:r>
              <a:rPr lang="en-US" i="1" dirty="0" smtClean="0">
                <a:latin typeface="Times New Roman" panose="02020603050405020304" pitchFamily="18" charset="0"/>
                <a:cs typeface="Times New Roman" panose="02020603050405020304" pitchFamily="18" charset="0"/>
              </a:rPr>
              <a:t>youth unemployment </a:t>
            </a:r>
            <a:r>
              <a:rPr lang="en-US" dirty="0">
                <a:latin typeface="Times New Roman" panose="02020603050405020304" pitchFamily="18" charset="0"/>
                <a:cs typeface="Times New Roman" panose="02020603050405020304" pitchFamily="18" charset="0"/>
              </a:rPr>
              <a:t>will </a:t>
            </a:r>
            <a:r>
              <a:rPr lang="en-US" i="1" dirty="0">
                <a:latin typeface="Times New Roman" panose="02020603050405020304" pitchFamily="18" charset="0"/>
                <a:cs typeface="Times New Roman" panose="02020603050405020304" pitchFamily="18" charset="0"/>
              </a:rPr>
              <a:t>increase the incidence of street </a:t>
            </a:r>
            <a:r>
              <a:rPr lang="en-US" i="1" dirty="0" smtClean="0">
                <a:latin typeface="Times New Roman" panose="02020603050405020304" pitchFamily="18" charset="0"/>
                <a:cs typeface="Times New Roman" panose="02020603050405020304" pitchFamily="18" charset="0"/>
              </a:rPr>
              <a:t>crime</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388745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lvl="0">
              <a:buSzPct val="100000"/>
            </a:pPr>
            <a:r>
              <a:rPr lang="en-US" b="1" dirty="0">
                <a:latin typeface="Times New Roman" panose="02020603050405020304" pitchFamily="18" charset="0"/>
                <a:cs typeface="Times New Roman" panose="02020603050405020304" pitchFamily="18" charset="0"/>
              </a:rPr>
              <a:t>E</a:t>
            </a:r>
            <a:r>
              <a:rPr lang="en-US" b="1" dirty="0" smtClean="0">
                <a:latin typeface="Times New Roman" panose="02020603050405020304" pitchFamily="18" charset="0"/>
                <a:cs typeface="Times New Roman" panose="02020603050405020304" pitchFamily="18" charset="0"/>
              </a:rPr>
              <a:t>rrors </a:t>
            </a:r>
            <a:r>
              <a:rPr lang="en-US" b="1" dirty="0">
                <a:latin typeface="Times New Roman" panose="02020603050405020304" pitchFamily="18" charset="0"/>
                <a:cs typeface="Times New Roman" panose="02020603050405020304" pitchFamily="18" charset="0"/>
              </a:rPr>
              <a:t>in selecting a research problem</a:t>
            </a:r>
            <a:endParaRPr b="1" dirty="0">
              <a:latin typeface="Times New Roman" panose="02020603050405020304" pitchFamily="18" charset="0"/>
              <a:ea typeface="Times New Roman"/>
              <a:cs typeface="Times New Roman" panose="02020603050405020304" pitchFamily="18" charset="0"/>
              <a:sym typeface="Times New Roman"/>
            </a:endParaRP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a:bodyPr>
          <a:lstStyle/>
          <a:p>
            <a:pPr algn="just"/>
            <a:r>
              <a:rPr lang="en-US" dirty="0">
                <a:latin typeface="Times New Roman" panose="02020603050405020304" pitchFamily="18" charset="0"/>
                <a:cs typeface="Times New Roman" panose="02020603050405020304" pitchFamily="18" charset="0"/>
              </a:rPr>
              <a:t>Population Specification</a:t>
            </a:r>
          </a:p>
          <a:p>
            <a:pPr algn="just"/>
            <a:r>
              <a:rPr lang="en-US" dirty="0">
                <a:latin typeface="Times New Roman" panose="02020603050405020304" pitchFamily="18" charset="0"/>
                <a:cs typeface="Times New Roman" panose="02020603050405020304" pitchFamily="18" charset="0"/>
              </a:rPr>
              <a:t>Sampling and Sample Frame Errors</a:t>
            </a:r>
          </a:p>
          <a:p>
            <a:pPr algn="just"/>
            <a:r>
              <a:rPr lang="en-US" dirty="0">
                <a:latin typeface="Times New Roman" panose="02020603050405020304" pitchFamily="18" charset="0"/>
                <a:cs typeface="Times New Roman" panose="02020603050405020304" pitchFamily="18" charset="0"/>
              </a:rPr>
              <a:t>Selection</a:t>
            </a:r>
          </a:p>
          <a:p>
            <a:pPr algn="just"/>
            <a:r>
              <a:rPr lang="en-US" dirty="0">
                <a:latin typeface="Times New Roman" panose="02020603050405020304" pitchFamily="18" charset="0"/>
                <a:cs typeface="Times New Roman" panose="02020603050405020304" pitchFamily="18" charset="0"/>
              </a:rPr>
              <a:t>Non-responsive</a:t>
            </a:r>
          </a:p>
          <a:p>
            <a:pPr algn="just"/>
            <a:r>
              <a:rPr lang="en-US" dirty="0">
                <a:latin typeface="Times New Roman" panose="02020603050405020304" pitchFamily="18" charset="0"/>
                <a:cs typeface="Times New Roman" panose="02020603050405020304" pitchFamily="18" charset="0"/>
              </a:rPr>
              <a:t>Measurement</a:t>
            </a:r>
          </a:p>
          <a:p>
            <a:pPr marL="114300" indent="0" algn="just">
              <a:buNone/>
            </a:pPr>
            <a:endParaRPr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514142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algn="just"/>
            <a:r>
              <a:rPr lang="en-US" b="1" dirty="0">
                <a:latin typeface="Times New Roman" panose="02020603050405020304" pitchFamily="18" charset="0"/>
                <a:cs typeface="Times New Roman" panose="02020603050405020304" pitchFamily="18" charset="0"/>
              </a:rPr>
              <a:t>Population Specification</a:t>
            </a:r>
            <a:endParaRPr lang="en-US" b="1" dirty="0">
              <a:latin typeface="Times New Roman" panose="02020603050405020304" pitchFamily="18" charset="0"/>
              <a:cs typeface="Times New Roman" panose="02020603050405020304" pitchFamily="18" charset="0"/>
            </a:endParaRP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fontScale="92500" lnSpcReduction="10000"/>
          </a:bodyPr>
          <a:lstStyle/>
          <a:p>
            <a:pPr algn="just"/>
            <a:r>
              <a:rPr lang="en-US" dirty="0">
                <a:latin typeface="Times New Roman" panose="02020603050405020304" pitchFamily="18" charset="0"/>
                <a:cs typeface="Times New Roman" panose="02020603050405020304" pitchFamily="18" charset="0"/>
              </a:rPr>
              <a:t>Population specification errors occur when the researcher does not understand who they should survey.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can be tricky because there are multiple people who might consume the product, but only one who purchases it, or they may miss a segment looking to purchase in the future</a:t>
            </a:r>
            <a:r>
              <a:rPr lang="en-US" dirty="0" smtClean="0">
                <a:latin typeface="Times New Roman" panose="02020603050405020304" pitchFamily="18" charset="0"/>
                <a:cs typeface="Times New Roman" panose="02020603050405020304" pitchFamily="18" charset="0"/>
              </a:rPr>
              <a:t>.</a:t>
            </a:r>
          </a:p>
          <a:p>
            <a:pPr marL="114300" indent="0" algn="just">
              <a:buNone/>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Packaged </a:t>
            </a:r>
            <a:r>
              <a:rPr lang="en-US" dirty="0">
                <a:latin typeface="Times New Roman" panose="02020603050405020304" pitchFamily="18" charset="0"/>
                <a:cs typeface="Times New Roman" panose="02020603050405020304" pitchFamily="18" charset="0"/>
              </a:rPr>
              <a:t>goods manufacturers often conduct surveys of housewives, because they are easier to contact, and it is assumed they decide what is to be purchased and also do the actual purchasing.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situation there often is population specification error. The husband may purchase a significant share of the packaged goods, and have significant direct and indirect influence over what is bought. For this reason, excluding husbands from samples may yield results targeted to the wrong audience.</a:t>
            </a:r>
            <a:endParaRPr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751659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algn="just"/>
            <a:r>
              <a:rPr lang="en-US" b="1" dirty="0">
                <a:latin typeface="Times New Roman" panose="02020603050405020304" pitchFamily="18" charset="0"/>
                <a:cs typeface="Times New Roman" panose="02020603050405020304" pitchFamily="18" charset="0"/>
              </a:rPr>
              <a:t>Sampling and Sample Frame Errors</a:t>
            </a:r>
            <a:endParaRPr lang="en-US" b="1" dirty="0">
              <a:latin typeface="Times New Roman" panose="02020603050405020304" pitchFamily="18" charset="0"/>
              <a:cs typeface="Times New Roman" panose="02020603050405020304" pitchFamily="18" charset="0"/>
            </a:endParaRP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a:bodyPr>
          <a:lstStyle/>
          <a:p>
            <a:pPr algn="just"/>
            <a:r>
              <a:rPr lang="en-US" dirty="0">
                <a:latin typeface="Times New Roman" panose="02020603050405020304" pitchFamily="18" charset="0"/>
                <a:cs typeface="Times New Roman" panose="02020603050405020304" pitchFamily="18" charset="0"/>
              </a:rPr>
              <a:t>Survey sampling and sample frame errors occur when the wrong subpopulation is used to select a sample, or because of variation in the number or representativeness of the sample that responds, but the resulting sample is not representative of the population concern.</a:t>
            </a:r>
            <a:endParaRPr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887662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pPr algn="just"/>
            <a:r>
              <a:rPr lang="en-US" b="1" dirty="0">
                <a:latin typeface="Times New Roman" panose="02020603050405020304" pitchFamily="18" charset="0"/>
                <a:cs typeface="Times New Roman" panose="02020603050405020304" pitchFamily="18" charset="0"/>
              </a:rPr>
              <a:t>Selection</a:t>
            </a:r>
            <a:endParaRPr lang="en-US" b="1" dirty="0">
              <a:latin typeface="Times New Roman" panose="02020603050405020304" pitchFamily="18" charset="0"/>
              <a:cs typeface="Times New Roman" panose="02020603050405020304" pitchFamily="18" charset="0"/>
            </a:endParaRP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a:bodyPr>
          <a:lstStyle/>
          <a:p>
            <a:pPr algn="just"/>
            <a:r>
              <a:rPr lang="en-US" dirty="0" smtClean="0">
                <a:latin typeface="Times New Roman" panose="02020603050405020304" pitchFamily="18" charset="0"/>
                <a:cs typeface="Times New Roman" panose="02020603050405020304" pitchFamily="18" charset="0"/>
              </a:rPr>
              <a:t>Selection error is the sampling error for a sample selected by a non-pr</a:t>
            </a:r>
            <a:r>
              <a:rPr lang="en-US" dirty="0">
                <a:latin typeface="Times New Roman" panose="02020603050405020304" pitchFamily="18" charset="0"/>
                <a:cs typeface="Times New Roman" panose="02020603050405020304" pitchFamily="18" charset="0"/>
              </a:rPr>
              <a:t>obability method. </a:t>
            </a:r>
          </a:p>
          <a:p>
            <a:pPr algn="just"/>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respondents choose to self-participate in a study and only those interested respond, you can end up with a selection error because there may already be an inherent </a:t>
            </a:r>
            <a:r>
              <a:rPr lang="en-US" dirty="0" smtClean="0">
                <a:latin typeface="Times New Roman" panose="02020603050405020304" pitchFamily="18" charset="0"/>
                <a:cs typeface="Times New Roman" panose="02020603050405020304" pitchFamily="18" charset="0"/>
              </a:rPr>
              <a:t>bias. </a:t>
            </a:r>
          </a:p>
          <a:p>
            <a:pPr algn="just"/>
            <a:r>
              <a:rPr lang="en-US" dirty="0" smtClean="0">
                <a:latin typeface="Times New Roman" panose="02020603050405020304" pitchFamily="18" charset="0"/>
                <a:ea typeface="Times New Roman"/>
                <a:cs typeface="Times New Roman" panose="02020603050405020304" pitchFamily="18" charset="0"/>
                <a:sym typeface="Times New Roman"/>
              </a:rPr>
              <a:t>This can also occur when respondents are not relevant to the study participants, or when there’s a bias in the way participants are put into groups.</a:t>
            </a:r>
            <a:endParaRPr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135733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r>
              <a:rPr lang="en-US" b="1" dirty="0">
                <a:latin typeface="Times New Roman" panose="02020603050405020304" pitchFamily="18" charset="0"/>
                <a:cs typeface="Times New Roman" panose="02020603050405020304" pitchFamily="18" charset="0"/>
              </a:rPr>
              <a:t>Non-responsive</a:t>
            </a:r>
          </a:p>
        </p:txBody>
      </p:sp>
      <p:sp>
        <p:nvSpPr>
          <p:cNvPr id="95" name="Google Shape;95;p3"/>
          <p:cNvSpPr txBox="1">
            <a:spLocks noGrp="1"/>
          </p:cNvSpPr>
          <p:nvPr>
            <p:ph type="body" idx="1"/>
          </p:nvPr>
        </p:nvSpPr>
        <p:spPr>
          <a:xfrm>
            <a:off x="423747" y="1312606"/>
            <a:ext cx="11195824" cy="5322370"/>
          </a:xfrm>
          <a:prstGeom prst="rect">
            <a:avLst/>
          </a:prstGeom>
          <a:noFill/>
          <a:ln>
            <a:noFill/>
          </a:ln>
        </p:spPr>
        <p:txBody>
          <a:bodyPr spcFirstLastPara="1" wrap="square" lIns="91425" tIns="45700" rIns="91425" bIns="45700" anchor="t" anchorCtr="0">
            <a:normAutofit/>
          </a:bodyPr>
          <a:lstStyle/>
          <a:p>
            <a:pPr algn="just"/>
            <a:r>
              <a:rPr lang="en-US" dirty="0">
                <a:latin typeface="Times New Roman" panose="02020603050405020304" pitchFamily="18" charset="0"/>
                <a:cs typeface="Times New Roman" panose="02020603050405020304" pitchFamily="18" charset="0"/>
              </a:rPr>
              <a:t>Nonresponse error can exist when an obtained sample differs from the original selected sample.</a:t>
            </a:r>
          </a:p>
          <a:p>
            <a:pPr algn="just"/>
            <a:r>
              <a:rPr lang="en-US" dirty="0">
                <a:latin typeface="Times New Roman" panose="02020603050405020304" pitchFamily="18" charset="0"/>
                <a:cs typeface="Times New Roman" panose="02020603050405020304" pitchFamily="18" charset="0"/>
              </a:rPr>
              <a:t>This may occur because either the potential respondent was not contacted or they refused to respond.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key factor is the absence of data rather than inaccurate data.</a:t>
            </a:r>
          </a:p>
        </p:txBody>
      </p:sp>
    </p:spTree>
    <p:extLst>
      <p:ext uri="{BB962C8B-B14F-4D97-AF65-F5344CB8AC3E}">
        <p14:creationId xmlns:p14="http://schemas.microsoft.com/office/powerpoint/2010/main" val="768121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838200" y="365126"/>
            <a:ext cx="10515600" cy="652514"/>
          </a:xfrm>
          <a:prstGeom prst="rect">
            <a:avLst/>
          </a:prstGeom>
          <a:noFill/>
          <a:ln>
            <a:noFill/>
          </a:ln>
        </p:spPr>
        <p:txBody>
          <a:bodyPr spcFirstLastPara="1" wrap="square" lIns="91425" tIns="45700" rIns="91425" bIns="45700" anchor="ctr" anchorCtr="0">
            <a:normAutofit fontScale="90000"/>
          </a:bodyPr>
          <a:lstStyle/>
          <a:p>
            <a:r>
              <a:rPr lang="en-US" b="1" dirty="0">
                <a:latin typeface="Times New Roman" panose="02020603050405020304" pitchFamily="18" charset="0"/>
                <a:cs typeface="Times New Roman" panose="02020603050405020304" pitchFamily="18" charset="0"/>
              </a:rPr>
              <a:t>Measurement</a:t>
            </a:r>
          </a:p>
        </p:txBody>
      </p:sp>
      <p:sp>
        <p:nvSpPr>
          <p:cNvPr id="95" name="Google Shape;95;p3"/>
          <p:cNvSpPr txBox="1">
            <a:spLocks noGrp="1"/>
          </p:cNvSpPr>
          <p:nvPr>
            <p:ph type="body" idx="1"/>
          </p:nvPr>
        </p:nvSpPr>
        <p:spPr>
          <a:xfrm>
            <a:off x="367991" y="1017640"/>
            <a:ext cx="11195824" cy="5322370"/>
          </a:xfrm>
          <a:prstGeom prst="rect">
            <a:avLst/>
          </a:prstGeom>
          <a:noFill/>
          <a:ln>
            <a:noFill/>
          </a:ln>
        </p:spPr>
        <p:txBody>
          <a:bodyPr spcFirstLastPara="1" wrap="square" lIns="91425" tIns="45700" rIns="91425" bIns="45700" anchor="t" anchorCtr="0">
            <a:normAutofit/>
          </a:bodyPr>
          <a:lstStyle/>
          <a:p>
            <a:pPr algn="just"/>
            <a:r>
              <a:rPr lang="en-US" dirty="0">
                <a:latin typeface="Times New Roman" panose="02020603050405020304" pitchFamily="18" charset="0"/>
                <a:cs typeface="Times New Roman" panose="02020603050405020304" pitchFamily="18" charset="0"/>
              </a:rPr>
              <a:t>Measurement error is generated by the measurement process itself, and represents the difference between the information generated and the information wanted by the researcher</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Generally, there is always some small level of measurement error due to uncontrollable factors</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 retail store would like to assess customer feedback from at-the-counter purchases. The survey is developed but fails to target those who purchase in the store. Instead, the results are skewed by customers who bought items online.</a:t>
            </a:r>
          </a:p>
        </p:txBody>
      </p:sp>
    </p:spTree>
    <p:extLst>
      <p:ext uri="{BB962C8B-B14F-4D97-AF65-F5344CB8AC3E}">
        <p14:creationId xmlns:p14="http://schemas.microsoft.com/office/powerpoint/2010/main" val="219322154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660</Words>
  <Application>Microsoft Office PowerPoint</Application>
  <PresentationFormat>Widescreen</PresentationFormat>
  <Paragraphs>53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RM5151   RESEARCH METHODOLOGY AND IPR</vt:lpstr>
      <vt:lpstr>The formulation of research objectives</vt:lpstr>
      <vt:lpstr>Research Objectives</vt:lpstr>
      <vt:lpstr>Research Objectives</vt:lpstr>
      <vt:lpstr>Research Objectives</vt:lpstr>
      <vt:lpstr>Research Objectives</vt:lpstr>
      <vt:lpstr>Errors in selecting a research problem</vt:lpstr>
      <vt:lpstr>Population Specification</vt:lpstr>
      <vt:lpstr>Sampling and Sample Frame Errors</vt:lpstr>
      <vt:lpstr>Selection</vt:lpstr>
      <vt:lpstr>Non-responsive</vt:lpstr>
      <vt:lpstr>Measurement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RM5151   RESEARCH METHODOLOGY AND IPR</dc:title>
  <dc:creator>ArumugaArun R</dc:creator>
  <cp:lastModifiedBy>ArArun-PC</cp:lastModifiedBy>
  <cp:revision>19</cp:revision>
  <dcterms:created xsi:type="dcterms:W3CDTF">2022-02-08T17:00:46Z</dcterms:created>
  <dcterms:modified xsi:type="dcterms:W3CDTF">2022-02-23T20:54:32Z</dcterms:modified>
</cp:coreProperties>
</file>