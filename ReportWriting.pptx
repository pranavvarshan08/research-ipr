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7.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xOWr6/EzE+/NTXMf+br1WgRcR7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E81C8A17-1A86-4A52-A5DD-F6E86A563AC7}">
  <a:tblStyle styleId="{E81C8A17-1A86-4A52-A5DD-F6E86A563AC7}"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4" d="100"/>
          <a:sy n="64" d="100"/>
        </p:scale>
        <p:origin x="-1470"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esktop\DOE\Rodos%20Data_APi%20and%20excipinets.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MAPAP</a:t>
            </a:r>
          </a:p>
        </c:rich>
      </c:tx>
      <c:layout>
        <c:manualLayout>
          <c:xMode val="edge"/>
          <c:yMode val="edge"/>
          <c:x val="0.40722796240845532"/>
          <c:y val="5.0925925925925916E-2"/>
        </c:manualLayout>
      </c:layout>
    </c:title>
    <c:plotArea>
      <c:layout>
        <c:manualLayout>
          <c:layoutTarget val="inner"/>
          <c:xMode val="edge"/>
          <c:yMode val="edge"/>
          <c:x val="0.128931616822545"/>
          <c:y val="5.1400554097404502E-2"/>
          <c:w val="0.82705429867042202"/>
          <c:h val="0.74634988334791863"/>
        </c:manualLayout>
      </c:layout>
      <c:scatterChart>
        <c:scatterStyle val="lineMarker"/>
        <c:ser>
          <c:idx val="0"/>
          <c:order val="0"/>
          <c:tx>
            <c:v>Uncoated</c:v>
          </c:tx>
          <c:spPr>
            <a:ln w="28575">
              <a:solidFill>
                <a:schemeClr val="tx1"/>
              </a:solidFill>
            </a:ln>
          </c:spPr>
          <c:marker>
            <c:symbol val="diamond"/>
            <c:size val="9"/>
            <c:spPr>
              <a:noFill/>
              <a:ln w="12700">
                <a:solidFill>
                  <a:prstClr val="black"/>
                </a:solidFill>
              </a:ln>
            </c:spPr>
          </c:marker>
          <c:xVal>
            <c:numRef>
              <c:f>Sheet3!$A$24:$A$28</c:f>
              <c:numCache>
                <c:formatCode>General</c:formatCode>
                <c:ptCount val="5"/>
                <c:pt idx="0">
                  <c:v>0.2</c:v>
                </c:pt>
                <c:pt idx="1">
                  <c:v>0.5</c:v>
                </c:pt>
                <c:pt idx="2">
                  <c:v>1</c:v>
                </c:pt>
                <c:pt idx="3">
                  <c:v>2</c:v>
                </c:pt>
                <c:pt idx="4">
                  <c:v>3</c:v>
                </c:pt>
              </c:numCache>
            </c:numRef>
          </c:xVal>
          <c:yVal>
            <c:numRef>
              <c:f>Sheet3!$B$24:$B$28</c:f>
              <c:numCache>
                <c:formatCode>General</c:formatCode>
                <c:ptCount val="5"/>
                <c:pt idx="0">
                  <c:v>11</c:v>
                </c:pt>
                <c:pt idx="1">
                  <c:v>11</c:v>
                </c:pt>
                <c:pt idx="2">
                  <c:v>10</c:v>
                </c:pt>
                <c:pt idx="3">
                  <c:v>9</c:v>
                </c:pt>
                <c:pt idx="4">
                  <c:v>9</c:v>
                </c:pt>
              </c:numCache>
            </c:numRef>
          </c:yVal>
        </c:ser>
        <c:ser>
          <c:idx val="1"/>
          <c:order val="1"/>
          <c:tx>
            <c:v>0.5:1 magnet ratio</c:v>
          </c:tx>
          <c:spPr>
            <a:ln w="28575">
              <a:solidFill>
                <a:prstClr val="black"/>
              </a:solidFill>
              <a:prstDash val="sysDot"/>
            </a:ln>
          </c:spPr>
          <c:marker>
            <c:symbol val="square"/>
            <c:size val="9"/>
            <c:spPr>
              <a:solidFill>
                <a:schemeClr val="tx1"/>
              </a:solidFill>
              <a:ln w="12700">
                <a:solidFill>
                  <a:prstClr val="black"/>
                </a:solidFill>
              </a:ln>
            </c:spPr>
          </c:marker>
          <c:xVal>
            <c:numRef>
              <c:f>Sheet3!$A$24:$A$28</c:f>
              <c:numCache>
                <c:formatCode>General</c:formatCode>
                <c:ptCount val="5"/>
                <c:pt idx="0">
                  <c:v>0.2</c:v>
                </c:pt>
                <c:pt idx="1">
                  <c:v>0.5</c:v>
                </c:pt>
                <c:pt idx="2">
                  <c:v>1</c:v>
                </c:pt>
                <c:pt idx="3">
                  <c:v>2</c:v>
                </c:pt>
                <c:pt idx="4">
                  <c:v>3</c:v>
                </c:pt>
              </c:numCache>
            </c:numRef>
          </c:xVal>
          <c:yVal>
            <c:numRef>
              <c:f>Sheet3!$C$24:$C$28</c:f>
              <c:numCache>
                <c:formatCode>General</c:formatCode>
                <c:ptCount val="5"/>
                <c:pt idx="0">
                  <c:v>9</c:v>
                </c:pt>
                <c:pt idx="1">
                  <c:v>9</c:v>
                </c:pt>
                <c:pt idx="2">
                  <c:v>9</c:v>
                </c:pt>
                <c:pt idx="3">
                  <c:v>8</c:v>
                </c:pt>
                <c:pt idx="4">
                  <c:v>7</c:v>
                </c:pt>
              </c:numCache>
            </c:numRef>
          </c:yVal>
        </c:ser>
        <c:ser>
          <c:idx val="2"/>
          <c:order val="2"/>
          <c:tx>
            <c:v>1:1 magnet ratio</c:v>
          </c:tx>
          <c:spPr>
            <a:ln w="28575">
              <a:solidFill>
                <a:prstClr val="black"/>
              </a:solidFill>
              <a:prstDash val="lgDash"/>
            </a:ln>
          </c:spPr>
          <c:marker>
            <c:symbol val="circle"/>
            <c:size val="9"/>
            <c:spPr>
              <a:noFill/>
              <a:ln w="12700">
                <a:solidFill>
                  <a:prstClr val="black"/>
                </a:solidFill>
              </a:ln>
            </c:spPr>
          </c:marker>
          <c:xVal>
            <c:numRef>
              <c:f>Sheet3!$A$24:$A$28</c:f>
              <c:numCache>
                <c:formatCode>General</c:formatCode>
                <c:ptCount val="5"/>
                <c:pt idx="0">
                  <c:v>0.2</c:v>
                </c:pt>
                <c:pt idx="1">
                  <c:v>0.5</c:v>
                </c:pt>
                <c:pt idx="2">
                  <c:v>1</c:v>
                </c:pt>
                <c:pt idx="3">
                  <c:v>2</c:v>
                </c:pt>
                <c:pt idx="4">
                  <c:v>3</c:v>
                </c:pt>
              </c:numCache>
            </c:numRef>
          </c:xVal>
          <c:yVal>
            <c:numRef>
              <c:f>Sheet3!$D$24:$D$28</c:f>
              <c:numCache>
                <c:formatCode>General</c:formatCode>
                <c:ptCount val="5"/>
                <c:pt idx="0">
                  <c:v>7</c:v>
                </c:pt>
                <c:pt idx="1">
                  <c:v>7</c:v>
                </c:pt>
                <c:pt idx="2">
                  <c:v>7</c:v>
                </c:pt>
                <c:pt idx="3">
                  <c:v>7</c:v>
                </c:pt>
                <c:pt idx="4">
                  <c:v>6</c:v>
                </c:pt>
              </c:numCache>
            </c:numRef>
          </c:yVal>
        </c:ser>
        <c:ser>
          <c:idx val="3"/>
          <c:order val="3"/>
          <c:tx>
            <c:v>2:1 magnet ratio</c:v>
          </c:tx>
          <c:spPr>
            <a:ln w="28575">
              <a:solidFill>
                <a:prstClr val="black"/>
              </a:solidFill>
              <a:prstDash val="sysDash"/>
            </a:ln>
          </c:spPr>
          <c:marker>
            <c:symbol val="x"/>
            <c:size val="9"/>
            <c:spPr>
              <a:noFill/>
              <a:ln w="12700">
                <a:solidFill>
                  <a:prstClr val="black"/>
                </a:solidFill>
              </a:ln>
            </c:spPr>
          </c:marker>
          <c:xVal>
            <c:numRef>
              <c:f>Sheet3!$A$24:$A$28</c:f>
              <c:numCache>
                <c:formatCode>General</c:formatCode>
                <c:ptCount val="5"/>
                <c:pt idx="0">
                  <c:v>0.2</c:v>
                </c:pt>
                <c:pt idx="1">
                  <c:v>0.5</c:v>
                </c:pt>
                <c:pt idx="2">
                  <c:v>1</c:v>
                </c:pt>
                <c:pt idx="3">
                  <c:v>2</c:v>
                </c:pt>
                <c:pt idx="4">
                  <c:v>3</c:v>
                </c:pt>
              </c:numCache>
            </c:numRef>
          </c:xVal>
          <c:yVal>
            <c:numRef>
              <c:f>Sheet3!$E$24:$E$28</c:f>
              <c:numCache>
                <c:formatCode>General</c:formatCode>
                <c:ptCount val="5"/>
                <c:pt idx="0">
                  <c:v>6</c:v>
                </c:pt>
                <c:pt idx="1">
                  <c:v>6</c:v>
                </c:pt>
                <c:pt idx="2">
                  <c:v>6</c:v>
                </c:pt>
                <c:pt idx="3">
                  <c:v>5</c:v>
                </c:pt>
                <c:pt idx="4">
                  <c:v>5</c:v>
                </c:pt>
              </c:numCache>
            </c:numRef>
          </c:yVal>
        </c:ser>
        <c:axId val="59606528"/>
        <c:axId val="59608448"/>
      </c:scatterChart>
      <c:valAx>
        <c:axId val="59606528"/>
        <c:scaling>
          <c:orientation val="minMax"/>
          <c:max val="3.5"/>
        </c:scaling>
        <c:axPos val="b"/>
        <c:title>
          <c:tx>
            <c:rich>
              <a:bodyPr/>
              <a:lstStyle/>
              <a:p>
                <a:pPr>
                  <a:defRPr/>
                </a:pPr>
                <a:r>
                  <a:rPr lang="en-US"/>
                  <a:t>Dispersion Pressure (bar)</a:t>
                </a:r>
              </a:p>
            </c:rich>
          </c:tx>
          <c:layout/>
        </c:title>
        <c:numFmt formatCode="General" sourceLinked="1"/>
        <c:majorTickMark val="in"/>
        <c:tickLblPos val="nextTo"/>
        <c:txPr>
          <a:bodyPr rot="0" vert="horz"/>
          <a:lstStyle/>
          <a:p>
            <a:pPr>
              <a:defRPr/>
            </a:pPr>
            <a:endParaRPr lang="en-US"/>
          </a:p>
        </c:txPr>
        <c:crossAx val="59608448"/>
        <c:crosses val="autoZero"/>
        <c:crossBetween val="midCat"/>
        <c:majorUnit val="0.5"/>
      </c:valAx>
      <c:valAx>
        <c:axId val="59608448"/>
        <c:scaling>
          <c:orientation val="minMax"/>
        </c:scaling>
        <c:axPos val="l"/>
        <c:title>
          <c:tx>
            <c:rich>
              <a:bodyPr rot="-5400000" vert="horz"/>
              <a:lstStyle/>
              <a:p>
                <a:pPr>
                  <a:defRPr/>
                </a:pPr>
                <a:r>
                  <a:rPr lang="en-US"/>
                  <a:t>Mean Particle Size (</a:t>
                </a:r>
                <a:r>
                  <a:rPr lang="el-GR"/>
                  <a:t>μ</a:t>
                </a:r>
                <a:r>
                  <a:rPr lang="en-US"/>
                  <a:t>m)</a:t>
                </a:r>
              </a:p>
            </c:rich>
          </c:tx>
          <c:layout/>
        </c:title>
        <c:numFmt formatCode="General" sourceLinked="1"/>
        <c:majorTickMark val="in"/>
        <c:tickLblPos val="nextTo"/>
        <c:crossAx val="59606528"/>
        <c:crosses val="autoZero"/>
        <c:crossBetween val="midCat"/>
      </c:valAx>
      <c:spPr>
        <a:ln w="12700">
          <a:solidFill>
            <a:prstClr val="black"/>
          </a:solidFill>
        </a:ln>
      </c:spPr>
    </c:plotArea>
    <c:legend>
      <c:legendPos val="r"/>
      <c:layout>
        <c:manualLayout>
          <c:xMode val="edge"/>
          <c:yMode val="edge"/>
          <c:x val="0.12918936042619247"/>
          <c:y val="0.50309419655876764"/>
          <c:w val="0.52847887118570303"/>
          <c:h val="0.27621901428988038"/>
        </c:manualLayout>
      </c:layout>
    </c:legend>
    <c:plotVisOnly val="1"/>
    <c:dispBlanksAs val="gap"/>
  </c:chart>
  <c:spPr>
    <a:ln w="15875">
      <a:noFill/>
    </a:ln>
  </c:spPr>
  <c:txPr>
    <a:bodyPr/>
    <a:lstStyle/>
    <a:p>
      <a:pPr>
        <a:defRPr sz="1200">
          <a:latin typeface="Times New Roman" pitchFamily="18" charset="0"/>
          <a:cs typeface="Times New Roman" pitchFamily="18" charset="0"/>
        </a:defRPr>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9"/>
          <p:cNvSpPr>
            <a:spLocks noGrp="1"/>
          </p:cNvSpPr>
          <p:nvPr>
            <p:ph type="pic" idx="2"/>
          </p:nvPr>
        </p:nvSpPr>
        <p:spPr>
          <a:xfrm>
            <a:off x="1792288" y="612775"/>
            <a:ext cx="5486400" cy="4114800"/>
          </a:xfrm>
          <a:prstGeom prst="rect">
            <a:avLst/>
          </a:prstGeom>
          <a:noFill/>
          <a:ln>
            <a:noFill/>
          </a:ln>
        </p:spPr>
      </p:sp>
      <p:sp>
        <p:nvSpPr>
          <p:cNvPr id="68" name="Google Shape;68;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Writing Engineering Reports</a:t>
            </a:r>
            <a:endParaRPr b="1"/>
          </a:p>
        </p:txBody>
      </p:sp>
      <p:sp>
        <p:nvSpPr>
          <p:cNvPr id="89" name="Google Shape;8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96" name="Google Shape;96;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Report generally include these sections in this order:</a:t>
            </a:r>
            <a:endParaRPr/>
          </a:p>
          <a:p>
            <a:pPr marL="742950" lvl="1" indent="-285750" algn="l" rtl="0">
              <a:spcBef>
                <a:spcPts val="518"/>
              </a:spcBef>
              <a:spcAft>
                <a:spcPts val="0"/>
              </a:spcAft>
              <a:buClr>
                <a:schemeClr val="dk1"/>
              </a:buClr>
              <a:buSzPct val="100000"/>
              <a:buChar char="–"/>
            </a:pPr>
            <a:r>
              <a:rPr lang="en-US"/>
              <a:t>Abstract </a:t>
            </a:r>
            <a:endParaRPr/>
          </a:p>
          <a:p>
            <a:pPr marL="742950" lvl="1" indent="-285750" algn="l" rtl="0">
              <a:spcBef>
                <a:spcPts val="518"/>
              </a:spcBef>
              <a:spcAft>
                <a:spcPts val="0"/>
              </a:spcAft>
              <a:buClr>
                <a:schemeClr val="dk1"/>
              </a:buClr>
              <a:buSzPct val="100000"/>
              <a:buChar char="–"/>
            </a:pPr>
            <a:r>
              <a:rPr lang="en-US"/>
              <a:t>Introduction/Objective</a:t>
            </a:r>
            <a:endParaRPr/>
          </a:p>
          <a:p>
            <a:pPr marL="742950" lvl="1" indent="-285750" algn="l" rtl="0">
              <a:spcBef>
                <a:spcPts val="518"/>
              </a:spcBef>
              <a:spcAft>
                <a:spcPts val="0"/>
              </a:spcAft>
              <a:buClr>
                <a:schemeClr val="dk1"/>
              </a:buClr>
              <a:buSzPct val="100000"/>
              <a:buChar char="–"/>
            </a:pPr>
            <a:r>
              <a:rPr lang="en-US"/>
              <a:t>Background</a:t>
            </a:r>
            <a:endParaRPr/>
          </a:p>
          <a:p>
            <a:pPr marL="742950" lvl="1" indent="-285750" algn="l" rtl="0">
              <a:spcBef>
                <a:spcPts val="518"/>
              </a:spcBef>
              <a:spcAft>
                <a:spcPts val="0"/>
              </a:spcAft>
              <a:buClr>
                <a:schemeClr val="dk1"/>
              </a:buClr>
              <a:buSzPct val="100000"/>
              <a:buChar char="–"/>
            </a:pPr>
            <a:r>
              <a:rPr lang="en-US"/>
              <a:t>Methodology/Procedure</a:t>
            </a:r>
            <a:endParaRPr/>
          </a:p>
          <a:p>
            <a:pPr marL="742950" lvl="1" indent="-285750" algn="l" rtl="0">
              <a:spcBef>
                <a:spcPts val="518"/>
              </a:spcBef>
              <a:spcAft>
                <a:spcPts val="0"/>
              </a:spcAft>
              <a:buClr>
                <a:schemeClr val="dk1"/>
              </a:buClr>
              <a:buSzPct val="100000"/>
              <a:buChar char="–"/>
            </a:pPr>
            <a:r>
              <a:rPr lang="en-US"/>
              <a:t>Results</a:t>
            </a:r>
            <a:endParaRPr/>
          </a:p>
          <a:p>
            <a:pPr marL="742950" lvl="1" indent="-285750" algn="l" rtl="0">
              <a:spcBef>
                <a:spcPts val="518"/>
              </a:spcBef>
              <a:spcAft>
                <a:spcPts val="0"/>
              </a:spcAft>
              <a:buClr>
                <a:schemeClr val="dk1"/>
              </a:buClr>
              <a:buSzPct val="100000"/>
              <a:buChar char="–"/>
            </a:pPr>
            <a:r>
              <a:rPr lang="en-US"/>
              <a:t>Discussion</a:t>
            </a:r>
            <a:endParaRPr/>
          </a:p>
          <a:p>
            <a:pPr marL="742950" lvl="1" indent="-285750" algn="l" rtl="0">
              <a:spcBef>
                <a:spcPts val="518"/>
              </a:spcBef>
              <a:spcAft>
                <a:spcPts val="0"/>
              </a:spcAft>
              <a:buClr>
                <a:schemeClr val="dk1"/>
              </a:buClr>
              <a:buSzPct val="100000"/>
              <a:buChar char="–"/>
            </a:pPr>
            <a:r>
              <a:rPr lang="en-US"/>
              <a:t>Conclusion</a:t>
            </a:r>
            <a:endParaRPr/>
          </a:p>
          <a:p>
            <a:pPr marL="742950" lvl="1" indent="-285750" algn="l" rtl="0">
              <a:spcBef>
                <a:spcPts val="518"/>
              </a:spcBef>
              <a:spcAft>
                <a:spcPts val="0"/>
              </a:spcAft>
              <a:buClr>
                <a:schemeClr val="dk1"/>
              </a:buClr>
              <a:buSzPct val="100000"/>
              <a:buChar char="–"/>
            </a:pPr>
            <a:r>
              <a:rPr lang="en-US"/>
              <a:t>Recommendations</a:t>
            </a:r>
            <a:endParaRPr/>
          </a:p>
          <a:p>
            <a:pPr marL="742950" lvl="1" indent="-121284" algn="l" rtl="0">
              <a:spcBef>
                <a:spcPts val="518"/>
              </a:spcBef>
              <a:spcAft>
                <a:spcPts val="0"/>
              </a:spcAft>
              <a:buClr>
                <a:schemeClr val="dk1"/>
              </a:buClr>
              <a:buSzPct val="1000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02" name="Google Shape;102;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Abstract/Executive Summary </a:t>
            </a:r>
            <a:endParaRPr/>
          </a:p>
          <a:p>
            <a:pPr marL="742950" lvl="1" indent="-285750" algn="l" rtl="0">
              <a:spcBef>
                <a:spcPts val="480"/>
              </a:spcBef>
              <a:spcAft>
                <a:spcPts val="0"/>
              </a:spcAft>
              <a:buClr>
                <a:schemeClr val="dk1"/>
              </a:buClr>
              <a:buSzPts val="2400"/>
              <a:buChar char="–"/>
            </a:pPr>
            <a:r>
              <a:rPr lang="en-US" sz="2400"/>
              <a:t>Always comes first</a:t>
            </a:r>
            <a:endParaRPr/>
          </a:p>
          <a:p>
            <a:pPr marL="742950" lvl="1" indent="-285750" algn="l" rtl="0">
              <a:spcBef>
                <a:spcPts val="480"/>
              </a:spcBef>
              <a:spcAft>
                <a:spcPts val="0"/>
              </a:spcAft>
              <a:buClr>
                <a:schemeClr val="dk1"/>
              </a:buClr>
              <a:buSzPts val="2400"/>
              <a:buChar char="–"/>
            </a:pPr>
            <a:r>
              <a:rPr lang="en-US" sz="2400"/>
              <a:t>Is brief (one paragraph-one page)</a:t>
            </a:r>
            <a:endParaRPr/>
          </a:p>
          <a:p>
            <a:pPr marL="1143000" lvl="2" indent="-228600" algn="l" rtl="0">
              <a:spcBef>
                <a:spcPts val="400"/>
              </a:spcBef>
              <a:spcAft>
                <a:spcPts val="0"/>
              </a:spcAft>
              <a:buClr>
                <a:schemeClr val="dk1"/>
              </a:buClr>
              <a:buSzPts val="2000"/>
              <a:buChar char="•"/>
            </a:pPr>
            <a:r>
              <a:rPr lang="en-US" sz="2000"/>
              <a:t>Past tense</a:t>
            </a:r>
            <a:endParaRPr/>
          </a:p>
          <a:p>
            <a:pPr marL="742950" lvl="1" indent="-285750" algn="l" rtl="0">
              <a:spcBef>
                <a:spcPts val="480"/>
              </a:spcBef>
              <a:spcAft>
                <a:spcPts val="0"/>
              </a:spcAft>
              <a:buClr>
                <a:schemeClr val="dk1"/>
              </a:buClr>
              <a:buSzPts val="2400"/>
              <a:buChar char="–"/>
            </a:pPr>
            <a:r>
              <a:rPr lang="en-US" sz="2400"/>
              <a:t>Content:</a:t>
            </a:r>
            <a:endParaRPr/>
          </a:p>
          <a:p>
            <a:pPr marL="1143000" lvl="2" indent="-228600" algn="l" rtl="0">
              <a:spcBef>
                <a:spcPts val="400"/>
              </a:spcBef>
              <a:spcAft>
                <a:spcPts val="0"/>
              </a:spcAft>
              <a:buClr>
                <a:schemeClr val="dk1"/>
              </a:buClr>
              <a:buSzPts val="2000"/>
              <a:buChar char="•"/>
            </a:pPr>
            <a:r>
              <a:rPr lang="en-US" sz="2000"/>
              <a:t>States research problem or main objective</a:t>
            </a:r>
            <a:endParaRPr/>
          </a:p>
          <a:p>
            <a:pPr marL="1143000" lvl="2" indent="-228600" algn="l" rtl="0">
              <a:spcBef>
                <a:spcPts val="400"/>
              </a:spcBef>
              <a:spcAft>
                <a:spcPts val="0"/>
              </a:spcAft>
              <a:buClr>
                <a:schemeClr val="dk1"/>
              </a:buClr>
              <a:buSzPts val="2000"/>
              <a:buChar char="•"/>
            </a:pPr>
            <a:r>
              <a:rPr lang="en-US" sz="2000"/>
              <a:t>Indicate the methodology used</a:t>
            </a:r>
            <a:endParaRPr/>
          </a:p>
          <a:p>
            <a:pPr marL="1143000" lvl="2" indent="-228600" algn="l" rtl="0">
              <a:spcBef>
                <a:spcPts val="400"/>
              </a:spcBef>
              <a:spcAft>
                <a:spcPts val="0"/>
              </a:spcAft>
              <a:buClr>
                <a:schemeClr val="dk1"/>
              </a:buClr>
              <a:buSzPts val="2000"/>
              <a:buChar char="•"/>
            </a:pPr>
            <a:r>
              <a:rPr lang="en-US" sz="2000"/>
              <a:t>Presents the main findings and conclusions</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08" name="Google Shape;108;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55000" lnSpcReduction="20000"/>
          </a:bodyPr>
          <a:lstStyle/>
          <a:p>
            <a:pPr marL="342900" lvl="0" indent="-342900" algn="l" rtl="0">
              <a:spcBef>
                <a:spcPts val="0"/>
              </a:spcBef>
              <a:spcAft>
                <a:spcPts val="0"/>
              </a:spcAft>
              <a:buClr>
                <a:schemeClr val="dk1"/>
              </a:buClr>
              <a:buSzPct val="100000"/>
              <a:buChar char="•"/>
            </a:pPr>
            <a:r>
              <a:rPr lang="en-US" sz="5100" dirty="0"/>
              <a:t>Abstract Example:</a:t>
            </a:r>
            <a:endParaRPr/>
          </a:p>
          <a:p>
            <a:pPr marL="0" lvl="0" indent="0" algn="just" rtl="0">
              <a:spcBef>
                <a:spcPts val="352"/>
              </a:spcBef>
              <a:spcAft>
                <a:spcPts val="0"/>
              </a:spcAft>
              <a:buClr>
                <a:schemeClr val="dk1"/>
              </a:buClr>
              <a:buSzPct val="100000"/>
              <a:buNone/>
            </a:pPr>
            <a:r>
              <a:rPr lang="en-US" dirty="0"/>
              <a:t>Surface modification of aluminum powders for the purpose of flow improvement was performed and several samples were prepared. Correlations between the </a:t>
            </a:r>
            <a:r>
              <a:rPr lang="en-US" dirty="0" smtClean="0"/>
              <a:t>flow ability </a:t>
            </a:r>
            <a:r>
              <a:rPr lang="en-US" dirty="0"/>
              <a:t>and reactivity for these powders as well as for the initial untreated aluminum powder were established. The powders were characterized using Scanning Electron Microscope (SEM), particle size distribution, angle of repose </a:t>
            </a:r>
            <a:r>
              <a:rPr lang="en-US" dirty="0" smtClean="0"/>
              <a:t>flow ability </a:t>
            </a:r>
            <a:r>
              <a:rPr lang="en-US" dirty="0"/>
              <a:t>test, Constant Volume Explosion (CVE) combustion test, and Thermo-Gravimetric Analysis (TGA). The surface modification of micron-sized aluminum powders was done by: (1) dry coating </a:t>
            </a:r>
            <a:r>
              <a:rPr lang="en-US" dirty="0" err="1"/>
              <a:t>nano</a:t>
            </a:r>
            <a:r>
              <a:rPr lang="en-US" dirty="0"/>
              <a:t>-particles of silica, </a:t>
            </a:r>
            <a:r>
              <a:rPr lang="en-US" dirty="0" err="1"/>
              <a:t>titania</a:t>
            </a:r>
            <a:r>
              <a:rPr lang="en-US" dirty="0"/>
              <a:t> and carbon black onto the surface of spherical aluminum powders and (2) chemically and physically altering the surface properties of the same powders with </a:t>
            </a:r>
            <a:r>
              <a:rPr lang="en-US" dirty="0" err="1"/>
              <a:t>methyltrichlorosilane</a:t>
            </a:r>
            <a:r>
              <a:rPr lang="en-US" dirty="0"/>
              <a:t>. All surface modifications improved </a:t>
            </a:r>
            <a:r>
              <a:rPr lang="en-US" dirty="0" smtClean="0"/>
              <a:t>flow ability </a:t>
            </a:r>
            <a:r>
              <a:rPr lang="en-US" dirty="0"/>
              <a:t>of the powders. CVE measurements indicate that powders with an improved </a:t>
            </a:r>
            <a:r>
              <a:rPr lang="en-US" dirty="0" smtClean="0"/>
              <a:t>flow ability </a:t>
            </a:r>
            <a:r>
              <a:rPr lang="en-US" dirty="0"/>
              <a:t>exhibit improved combustion characteristics if the powder treatment does not add an inert component to aluminum. The TGA results do not show significant differences in the reactivity of various powders. Based on combined </a:t>
            </a:r>
            <a:r>
              <a:rPr lang="en-US" dirty="0" smtClean="0"/>
              <a:t>flow ability </a:t>
            </a:r>
            <a:r>
              <a:rPr lang="en-US" dirty="0"/>
              <a:t>and CVE characteristics, the </a:t>
            </a:r>
            <a:r>
              <a:rPr lang="en-US" dirty="0" err="1"/>
              <a:t>silane</a:t>
            </a:r>
            <a:r>
              <a:rPr lang="en-US" dirty="0"/>
              <a:t> modified material gave the best results followed by the powders dry coated with carbon, </a:t>
            </a:r>
            <a:r>
              <a:rPr lang="en-US" dirty="0" err="1"/>
              <a:t>titania</a:t>
            </a:r>
            <a:r>
              <a:rPr lang="en-US" dirty="0"/>
              <a:t> and silica, respectively.</a:t>
            </a:r>
            <a:endParaRPr/>
          </a:p>
          <a:p>
            <a:pPr marL="0" lvl="0" indent="0" algn="just" rtl="0">
              <a:spcBef>
                <a:spcPts val="352"/>
              </a:spcBef>
              <a:spcAft>
                <a:spcPts val="0"/>
              </a:spcAft>
              <a:buClr>
                <a:schemeClr val="dk1"/>
              </a:buClr>
              <a:buSzPct val="100000"/>
              <a:buNone/>
            </a:pPr>
            <a:r>
              <a:rPr lang="en-US" dirty="0"/>
              <a:t/>
            </a:r>
            <a:br>
              <a:rPr lang="en-US" dirty="0"/>
            </a:br>
            <a:endParaRPr/>
          </a:p>
        </p:txBody>
      </p:sp>
      <p:sp>
        <p:nvSpPr>
          <p:cNvPr id="109" name="Google Shape;109;p5"/>
          <p:cNvSpPr txBox="1">
            <a:spLocks noGrp="1"/>
          </p:cNvSpPr>
          <p:nvPr>
            <p:ph type="ftr" idx="11"/>
          </p:nvPr>
        </p:nvSpPr>
        <p:spPr>
          <a:xfrm>
            <a:off x="1600200" y="6356350"/>
            <a:ext cx="53340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Source: “The Effects of Surface Modification of Aluminum Powder on its </a:t>
            </a:r>
            <a:r>
              <a:rPr lang="en-US" dirty="0" err="1"/>
              <a:t>Flowability</a:t>
            </a:r>
            <a:r>
              <a:rPr lang="en-US" dirty="0"/>
              <a:t>, Combustion, and Reactivity” Powder Technology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15" name="Google Shape;115;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600"/>
              <a:buChar char="•"/>
            </a:pPr>
            <a:r>
              <a:rPr lang="en-US" sz="3600"/>
              <a:t>Introduction/Objective</a:t>
            </a:r>
            <a:endParaRPr/>
          </a:p>
          <a:p>
            <a:pPr marL="742950" lvl="1" indent="-285750" algn="l" rtl="0">
              <a:spcBef>
                <a:spcPts val="560"/>
              </a:spcBef>
              <a:spcAft>
                <a:spcPts val="0"/>
              </a:spcAft>
              <a:buClr>
                <a:schemeClr val="dk1"/>
              </a:buClr>
              <a:buSzPts val="2800"/>
              <a:buChar char="–"/>
            </a:pPr>
            <a:r>
              <a:rPr lang="en-US"/>
              <a:t>Explains the research problem and its context</a:t>
            </a:r>
            <a:endParaRPr/>
          </a:p>
          <a:p>
            <a:pPr marL="1143000" lvl="2" indent="-228600" algn="l" rtl="0">
              <a:spcBef>
                <a:spcPts val="480"/>
              </a:spcBef>
              <a:spcAft>
                <a:spcPts val="0"/>
              </a:spcAft>
              <a:buClr>
                <a:schemeClr val="dk1"/>
              </a:buClr>
              <a:buSzPts val="2400"/>
              <a:buChar char="•"/>
            </a:pPr>
            <a:r>
              <a:rPr lang="en-US"/>
              <a:t>Explains importance of the problem (why does it matter?)</a:t>
            </a:r>
            <a:endParaRPr/>
          </a:p>
          <a:p>
            <a:pPr marL="1143000" lvl="2" indent="-228600" algn="l" rtl="0">
              <a:spcBef>
                <a:spcPts val="480"/>
              </a:spcBef>
              <a:spcAft>
                <a:spcPts val="0"/>
              </a:spcAft>
              <a:buClr>
                <a:schemeClr val="dk1"/>
              </a:buClr>
              <a:buSzPts val="2400"/>
              <a:buChar char="•"/>
            </a:pPr>
            <a:r>
              <a:rPr lang="en-US"/>
              <a:t>Applications of the experiment or theory</a:t>
            </a:r>
            <a:endParaRPr/>
          </a:p>
          <a:p>
            <a:pPr marL="1143000" lvl="2" indent="-228600" algn="l" rtl="0">
              <a:spcBef>
                <a:spcPts val="480"/>
              </a:spcBef>
              <a:spcAft>
                <a:spcPts val="0"/>
              </a:spcAft>
              <a:buClr>
                <a:schemeClr val="dk1"/>
              </a:buClr>
              <a:buSzPts val="2400"/>
              <a:buChar char="•"/>
            </a:pPr>
            <a:r>
              <a:rPr lang="en-US"/>
              <a:t>Explains reason and goals for study</a:t>
            </a:r>
            <a:endParaRPr/>
          </a:p>
          <a:p>
            <a:pPr marL="1143000" lvl="2" indent="-228600" algn="l" rtl="0">
              <a:spcBef>
                <a:spcPts val="480"/>
              </a:spcBef>
              <a:spcAft>
                <a:spcPts val="0"/>
              </a:spcAft>
              <a:buClr>
                <a:schemeClr val="dk1"/>
              </a:buClr>
              <a:buSzPts val="2400"/>
              <a:buChar char="•"/>
            </a:pPr>
            <a:r>
              <a:rPr lang="en-US"/>
              <a:t>Motivation</a:t>
            </a:r>
            <a:endParaRPr/>
          </a:p>
          <a:p>
            <a:pPr marL="914400" lvl="2" indent="0" algn="l" rtl="0">
              <a:spcBef>
                <a:spcPts val="480"/>
              </a:spcBef>
              <a:spcAft>
                <a:spcPts val="0"/>
              </a:spcAft>
              <a:buClr>
                <a:schemeClr val="dk1"/>
              </a:buClr>
              <a:buSzPts val="2400"/>
              <a:buNone/>
            </a:pPr>
            <a:endParaRPr/>
          </a:p>
          <a:p>
            <a:pPr marL="914400" lvl="2" indent="0" algn="l" rtl="0">
              <a:spcBef>
                <a:spcPts val="480"/>
              </a:spcBef>
              <a:spcAft>
                <a:spcPts val="0"/>
              </a:spcAft>
              <a:buClr>
                <a:schemeClr val="dk1"/>
              </a:buClr>
              <a:buSzPts val="2400"/>
              <a:buNone/>
            </a:pPr>
            <a:endParaRPr/>
          </a:p>
        </p:txBody>
      </p:sp>
      <p:sp>
        <p:nvSpPr>
          <p:cNvPr id="116" name="Google Shape;116;p6"/>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22" name="Google Shape;122;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600"/>
              <a:buChar char="•"/>
            </a:pPr>
            <a:r>
              <a:rPr lang="en-US" sz="3600"/>
              <a:t>Background</a:t>
            </a:r>
            <a:endParaRPr sz="3600"/>
          </a:p>
          <a:p>
            <a:pPr marL="742950" lvl="1" indent="-285750" algn="l" rtl="0">
              <a:spcBef>
                <a:spcPts val="560"/>
              </a:spcBef>
              <a:spcAft>
                <a:spcPts val="0"/>
              </a:spcAft>
              <a:buClr>
                <a:schemeClr val="dk1"/>
              </a:buClr>
              <a:buSzPts val="2800"/>
              <a:buChar char="–"/>
            </a:pPr>
            <a:r>
              <a:rPr lang="en-US"/>
              <a:t>Includes the theory for the experiments</a:t>
            </a:r>
            <a:endParaRPr/>
          </a:p>
          <a:p>
            <a:pPr marL="742950" lvl="1" indent="-285750" algn="l" rtl="0">
              <a:spcBef>
                <a:spcPts val="560"/>
              </a:spcBef>
              <a:spcAft>
                <a:spcPts val="0"/>
              </a:spcAft>
              <a:buClr>
                <a:schemeClr val="dk1"/>
              </a:buClr>
              <a:buSzPts val="2800"/>
              <a:buChar char="–"/>
            </a:pPr>
            <a:r>
              <a:rPr lang="en-US"/>
              <a:t>Any equations required for the calculations</a:t>
            </a:r>
            <a:endParaRPr/>
          </a:p>
          <a:p>
            <a:pPr marL="1143000" lvl="2" indent="-228600" algn="l" rtl="0">
              <a:spcBef>
                <a:spcPts val="480"/>
              </a:spcBef>
              <a:spcAft>
                <a:spcPts val="0"/>
              </a:spcAft>
              <a:buClr>
                <a:schemeClr val="dk1"/>
              </a:buClr>
              <a:buSzPts val="2400"/>
              <a:buChar char="•"/>
            </a:pPr>
            <a:r>
              <a:rPr lang="en-US"/>
              <a:t>Each equation should be numbers</a:t>
            </a:r>
            <a:endParaRPr/>
          </a:p>
          <a:p>
            <a:pPr marL="742950" lvl="1" indent="-285750" algn="l" rtl="0">
              <a:spcBef>
                <a:spcPts val="560"/>
              </a:spcBef>
              <a:spcAft>
                <a:spcPts val="0"/>
              </a:spcAft>
              <a:buClr>
                <a:schemeClr val="dk1"/>
              </a:buClr>
              <a:buSzPts val="2800"/>
              <a:buChar char="–"/>
            </a:pPr>
            <a:r>
              <a:rPr lang="en-US"/>
              <a:t>Included references </a:t>
            </a:r>
            <a:endParaRPr/>
          </a:p>
          <a:p>
            <a:pPr marL="742950" lvl="1" indent="-107950" algn="l" rtl="0">
              <a:spcBef>
                <a:spcPts val="560"/>
              </a:spcBef>
              <a:spcAft>
                <a:spcPts val="0"/>
              </a:spcAft>
              <a:buClr>
                <a:schemeClr val="dk1"/>
              </a:buClr>
              <a:buSzPts val="2800"/>
              <a:buNone/>
            </a:pPr>
            <a:endParaRPr/>
          </a:p>
          <a:p>
            <a:pPr marL="914400" lvl="2" indent="0" algn="l" rtl="0">
              <a:spcBef>
                <a:spcPts val="480"/>
              </a:spcBef>
              <a:spcAft>
                <a:spcPts val="0"/>
              </a:spcAft>
              <a:buClr>
                <a:schemeClr val="dk1"/>
              </a:buClr>
              <a:buSzPts val="2400"/>
              <a:buNone/>
            </a:pPr>
            <a:endParaRPr/>
          </a:p>
        </p:txBody>
      </p:sp>
      <p:sp>
        <p:nvSpPr>
          <p:cNvPr id="123" name="Google Shape;123;p7"/>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a:t>Methodology/Procedure</a:t>
            </a:r>
            <a:endParaRPr/>
          </a:p>
          <a:p>
            <a:pPr marL="742950" lvl="1" indent="-285750" algn="l" rtl="0">
              <a:spcBef>
                <a:spcPts val="518"/>
              </a:spcBef>
              <a:spcAft>
                <a:spcPts val="0"/>
              </a:spcAft>
              <a:buClr>
                <a:schemeClr val="dk1"/>
              </a:buClr>
              <a:buSzPct val="100000"/>
              <a:buChar char="–"/>
            </a:pPr>
            <a:r>
              <a:rPr lang="en-US"/>
              <a:t>Is in past tense and passive voice (3</a:t>
            </a:r>
            <a:r>
              <a:rPr lang="en-US" baseline="30000"/>
              <a:t>rd</a:t>
            </a:r>
            <a:r>
              <a:rPr lang="en-US"/>
              <a:t> person)</a:t>
            </a:r>
            <a:endParaRPr/>
          </a:p>
          <a:p>
            <a:pPr marL="1143000" lvl="2" indent="-228600" algn="l" rtl="0">
              <a:spcBef>
                <a:spcPts val="444"/>
              </a:spcBef>
              <a:spcAft>
                <a:spcPts val="0"/>
              </a:spcAft>
              <a:buClr>
                <a:schemeClr val="dk1"/>
              </a:buClr>
              <a:buSzPct val="100000"/>
              <a:buChar char="•"/>
            </a:pPr>
            <a:r>
              <a:rPr lang="en-US"/>
              <a:t>Do not use “We”, “I”, or “You”</a:t>
            </a:r>
            <a:endParaRPr/>
          </a:p>
          <a:p>
            <a:pPr marL="742950" lvl="1" indent="-285750" algn="l" rtl="0">
              <a:spcBef>
                <a:spcPts val="518"/>
              </a:spcBef>
              <a:spcAft>
                <a:spcPts val="0"/>
              </a:spcAft>
              <a:buClr>
                <a:schemeClr val="dk1"/>
              </a:buClr>
              <a:buSzPct val="100000"/>
              <a:buChar char="–"/>
            </a:pPr>
            <a:r>
              <a:rPr lang="en-US"/>
              <a:t>Describes the experimental procedure and data collection</a:t>
            </a:r>
            <a:endParaRPr/>
          </a:p>
          <a:p>
            <a:pPr marL="742950" lvl="1" indent="-285750" algn="l" rtl="0">
              <a:spcBef>
                <a:spcPts val="518"/>
              </a:spcBef>
              <a:spcAft>
                <a:spcPts val="0"/>
              </a:spcAft>
              <a:buClr>
                <a:schemeClr val="dk1"/>
              </a:buClr>
              <a:buSzPct val="100000"/>
              <a:buChar char="–"/>
            </a:pPr>
            <a:r>
              <a:rPr lang="en-US"/>
              <a:t>Included a schematic/diagram of the apparatus</a:t>
            </a:r>
            <a:endParaRPr/>
          </a:p>
          <a:p>
            <a:pPr marL="742950" lvl="1" indent="-285750" algn="l" rtl="0">
              <a:spcBef>
                <a:spcPts val="518"/>
              </a:spcBef>
              <a:spcAft>
                <a:spcPts val="0"/>
              </a:spcAft>
              <a:buClr>
                <a:schemeClr val="dk1"/>
              </a:buClr>
              <a:buSzPct val="100000"/>
              <a:buChar char="–"/>
            </a:pPr>
            <a:r>
              <a:rPr lang="en-US"/>
              <a:t>Write in complete sentence</a:t>
            </a:r>
            <a:endParaRPr/>
          </a:p>
          <a:p>
            <a:pPr marL="742950" lvl="1" indent="-285750" algn="l" rtl="0">
              <a:spcBef>
                <a:spcPts val="518"/>
              </a:spcBef>
              <a:spcAft>
                <a:spcPts val="0"/>
              </a:spcAft>
              <a:buClr>
                <a:schemeClr val="dk1"/>
              </a:buClr>
              <a:buSzPct val="100000"/>
              <a:buChar char="–"/>
            </a:pPr>
            <a:r>
              <a:rPr lang="en-US"/>
              <a:t>“The tank was filled with 5 L of water”</a:t>
            </a:r>
            <a:endParaRPr/>
          </a:p>
          <a:p>
            <a:pPr marL="742950" lvl="1" indent="-285750" algn="l" rtl="0">
              <a:spcBef>
                <a:spcPts val="518"/>
              </a:spcBef>
              <a:spcAft>
                <a:spcPts val="0"/>
              </a:spcAft>
              <a:buClr>
                <a:schemeClr val="dk1"/>
              </a:buClr>
              <a:buSzPct val="100000"/>
              <a:buChar char="–"/>
            </a:pPr>
            <a:r>
              <a:rPr lang="en-US" b="1"/>
              <a:t>NOT </a:t>
            </a:r>
            <a:r>
              <a:rPr lang="en-US"/>
              <a:t>“Fill tank with 5L of water”</a:t>
            </a:r>
            <a:endParaRPr/>
          </a:p>
          <a:p>
            <a:pPr marL="1143000" lvl="2" indent="-228600" algn="l" rtl="0">
              <a:spcBef>
                <a:spcPts val="444"/>
              </a:spcBef>
              <a:spcAft>
                <a:spcPts val="0"/>
              </a:spcAft>
              <a:buClr>
                <a:schemeClr val="dk1"/>
              </a:buClr>
              <a:buSzPct val="100000"/>
              <a:buChar char="•"/>
            </a:pPr>
            <a:r>
              <a:rPr lang="en-US"/>
              <a:t>Incomplete sentence and present tense</a:t>
            </a:r>
            <a:endParaRPr/>
          </a:p>
          <a:p>
            <a:pPr marL="457200" lvl="1" indent="0" algn="l" rtl="0">
              <a:spcBef>
                <a:spcPts val="518"/>
              </a:spcBef>
              <a:spcAft>
                <a:spcPts val="0"/>
              </a:spcAft>
              <a:buClr>
                <a:schemeClr val="dk1"/>
              </a:buClr>
              <a:buSzPct val="100000"/>
              <a:buNone/>
            </a:pPr>
            <a:endParaRPr/>
          </a:p>
        </p:txBody>
      </p:sp>
      <p:sp>
        <p:nvSpPr>
          <p:cNvPr id="129" name="Google Shape;129;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30" name="Google Shape;130;p8"/>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Results</a:t>
            </a:r>
            <a:endParaRPr/>
          </a:p>
          <a:p>
            <a:pPr marL="742950" lvl="1" indent="-285750" algn="l" rtl="0">
              <a:spcBef>
                <a:spcPts val="518"/>
              </a:spcBef>
              <a:spcAft>
                <a:spcPts val="0"/>
              </a:spcAft>
              <a:buClr>
                <a:schemeClr val="dk1"/>
              </a:buClr>
              <a:buSzPct val="100000"/>
              <a:buChar char="–"/>
            </a:pPr>
            <a:r>
              <a:rPr lang="en-US"/>
              <a:t>State the results in the text before presenting any graphs, figures or tables. </a:t>
            </a:r>
            <a:endParaRPr/>
          </a:p>
          <a:p>
            <a:pPr marL="1143000" lvl="2" indent="-228600" algn="l" rtl="0">
              <a:spcBef>
                <a:spcPts val="444"/>
              </a:spcBef>
              <a:spcAft>
                <a:spcPts val="0"/>
              </a:spcAft>
              <a:buClr>
                <a:schemeClr val="dk1"/>
              </a:buClr>
              <a:buSzPct val="100000"/>
              <a:buChar char="•"/>
            </a:pPr>
            <a:r>
              <a:rPr lang="en-US"/>
              <a:t>Text points out the most significant portions of research findings</a:t>
            </a:r>
            <a:endParaRPr/>
          </a:p>
          <a:p>
            <a:pPr marL="1143000" lvl="2" indent="-228600" algn="l" rtl="0">
              <a:spcBef>
                <a:spcPts val="444"/>
              </a:spcBef>
              <a:spcAft>
                <a:spcPts val="0"/>
              </a:spcAft>
              <a:buClr>
                <a:schemeClr val="dk1"/>
              </a:buClr>
              <a:buSzPct val="100000"/>
              <a:buChar char="•"/>
            </a:pPr>
            <a:r>
              <a:rPr lang="en-US"/>
              <a:t>Indicates key trends or relationships</a:t>
            </a:r>
            <a:endParaRPr/>
          </a:p>
          <a:p>
            <a:pPr marL="1143000" lvl="2" indent="-228600" algn="l" rtl="0">
              <a:spcBef>
                <a:spcPts val="444"/>
              </a:spcBef>
              <a:spcAft>
                <a:spcPts val="0"/>
              </a:spcAft>
              <a:buClr>
                <a:schemeClr val="dk1"/>
              </a:buClr>
              <a:buSzPct val="100000"/>
              <a:buChar char="•"/>
            </a:pPr>
            <a:r>
              <a:rPr lang="en-US"/>
              <a:t>Highlights expected and/or unexpected findings</a:t>
            </a:r>
            <a:endParaRPr/>
          </a:p>
          <a:p>
            <a:pPr marL="742950" lvl="1" indent="-285750" algn="l" rtl="0">
              <a:spcBef>
                <a:spcPts val="518"/>
              </a:spcBef>
              <a:spcAft>
                <a:spcPts val="0"/>
              </a:spcAft>
              <a:buClr>
                <a:schemeClr val="dk1"/>
              </a:buClr>
              <a:buSzPct val="100000"/>
              <a:buChar char="–"/>
            </a:pPr>
            <a:r>
              <a:rPr lang="en-US"/>
              <a:t>Visual representation of results:</a:t>
            </a:r>
            <a:endParaRPr/>
          </a:p>
          <a:p>
            <a:pPr marL="1143000" lvl="2" indent="-228600" algn="l" rtl="0">
              <a:spcBef>
                <a:spcPts val="444"/>
              </a:spcBef>
              <a:spcAft>
                <a:spcPts val="0"/>
              </a:spcAft>
              <a:buClr>
                <a:schemeClr val="dk1"/>
              </a:buClr>
              <a:buSzPct val="100000"/>
              <a:buChar char="•"/>
            </a:pPr>
            <a:r>
              <a:rPr lang="en-US"/>
              <a:t>Graphs, tables or figures</a:t>
            </a:r>
            <a:endParaRPr/>
          </a:p>
          <a:p>
            <a:pPr marL="1143000" lvl="2" indent="-228600" algn="l" rtl="0">
              <a:spcBef>
                <a:spcPts val="444"/>
              </a:spcBef>
              <a:spcAft>
                <a:spcPts val="0"/>
              </a:spcAft>
              <a:buClr>
                <a:schemeClr val="dk1"/>
              </a:buClr>
              <a:buSzPct val="100000"/>
              <a:buChar char="•"/>
            </a:pPr>
            <a:r>
              <a:rPr lang="en-US"/>
              <a:t>Included error analysis</a:t>
            </a:r>
            <a:endParaRPr/>
          </a:p>
          <a:p>
            <a:pPr marL="742950" lvl="1" indent="-285750" algn="l" rtl="0">
              <a:spcBef>
                <a:spcPts val="518"/>
              </a:spcBef>
              <a:spcAft>
                <a:spcPts val="0"/>
              </a:spcAft>
              <a:buClr>
                <a:schemeClr val="dk1"/>
              </a:buClr>
              <a:buSzPct val="100000"/>
              <a:buChar char="–"/>
            </a:pPr>
            <a:r>
              <a:rPr lang="en-US"/>
              <a:t>Past tense (these are results you </a:t>
            </a:r>
            <a:r>
              <a:rPr lang="en-US" u="sng"/>
              <a:t>measured, calculated</a:t>
            </a:r>
            <a:r>
              <a:rPr lang="en-US"/>
              <a:t> or </a:t>
            </a:r>
            <a:r>
              <a:rPr lang="en-US" u="sng"/>
              <a:t>observed</a:t>
            </a:r>
            <a:r>
              <a:rPr lang="en-US"/>
              <a:t>)</a:t>
            </a:r>
            <a:endParaRPr/>
          </a:p>
          <a:p>
            <a:pPr marL="342900" lvl="0" indent="-154940" algn="l" rtl="0">
              <a:spcBef>
                <a:spcPts val="592"/>
              </a:spcBef>
              <a:spcAft>
                <a:spcPts val="0"/>
              </a:spcAft>
              <a:buClr>
                <a:schemeClr val="dk1"/>
              </a:buClr>
              <a:buSzPct val="100000"/>
              <a:buNone/>
            </a:pPr>
            <a:endParaRPr/>
          </a:p>
        </p:txBody>
      </p:sp>
      <p:sp>
        <p:nvSpPr>
          <p:cNvPr id="136" name="Google Shape;13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37" name="Google Shape;137;p9"/>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Discussion</a:t>
            </a:r>
            <a:endParaRPr/>
          </a:p>
          <a:p>
            <a:pPr marL="742950" lvl="1" indent="-285750" algn="l" rtl="0">
              <a:spcBef>
                <a:spcPts val="560"/>
              </a:spcBef>
              <a:spcAft>
                <a:spcPts val="0"/>
              </a:spcAft>
              <a:buClr>
                <a:schemeClr val="dk1"/>
              </a:buClr>
              <a:buSzPts val="2800"/>
              <a:buChar char="–"/>
            </a:pPr>
            <a:r>
              <a:rPr lang="en-US"/>
              <a:t>Why did you observed what you observed?</a:t>
            </a:r>
            <a:endParaRPr/>
          </a:p>
          <a:p>
            <a:pPr marL="742950" lvl="1" indent="-285750" algn="l" rtl="0">
              <a:spcBef>
                <a:spcPts val="560"/>
              </a:spcBef>
              <a:spcAft>
                <a:spcPts val="0"/>
              </a:spcAft>
              <a:buClr>
                <a:schemeClr val="dk1"/>
              </a:buClr>
              <a:buSzPts val="2800"/>
              <a:buChar char="–"/>
            </a:pPr>
            <a:r>
              <a:rPr lang="en-US"/>
              <a:t>Explanation for Results:</a:t>
            </a:r>
            <a:endParaRPr/>
          </a:p>
          <a:p>
            <a:pPr marL="1143000" lvl="2" indent="-228600" algn="l" rtl="0">
              <a:spcBef>
                <a:spcPts val="480"/>
              </a:spcBef>
              <a:spcAft>
                <a:spcPts val="0"/>
              </a:spcAft>
              <a:buClr>
                <a:schemeClr val="dk1"/>
              </a:buClr>
              <a:buSzPts val="2400"/>
              <a:buChar char="•"/>
            </a:pPr>
            <a:r>
              <a:rPr lang="en-US"/>
              <a:t>Comments on unexpected results, offering hypothesis for them</a:t>
            </a:r>
            <a:endParaRPr/>
          </a:p>
          <a:p>
            <a:pPr marL="742950" lvl="1" indent="-285750" algn="l" rtl="0">
              <a:spcBef>
                <a:spcPts val="560"/>
              </a:spcBef>
              <a:spcAft>
                <a:spcPts val="0"/>
              </a:spcAft>
              <a:buClr>
                <a:schemeClr val="dk1"/>
              </a:buClr>
              <a:buSzPts val="2800"/>
              <a:buChar char="–"/>
            </a:pPr>
            <a:r>
              <a:rPr lang="en-US"/>
              <a:t>Comparison to literature</a:t>
            </a:r>
            <a:endParaRPr/>
          </a:p>
          <a:p>
            <a:pPr marL="1143000" lvl="2" indent="-228600" algn="l" rtl="0">
              <a:spcBef>
                <a:spcPts val="480"/>
              </a:spcBef>
              <a:spcAft>
                <a:spcPts val="0"/>
              </a:spcAft>
              <a:buClr>
                <a:schemeClr val="dk1"/>
              </a:buClr>
              <a:buSzPts val="2400"/>
              <a:buChar char="•"/>
            </a:pPr>
            <a:r>
              <a:rPr lang="en-US"/>
              <a:t>Does your research confirm previous studies? Deviate from them?</a:t>
            </a:r>
            <a:endParaRPr/>
          </a:p>
          <a:p>
            <a:pPr marL="1143000" lvl="2" indent="-76200" algn="l" rtl="0">
              <a:spcBef>
                <a:spcPts val="480"/>
              </a:spcBef>
              <a:spcAft>
                <a:spcPts val="0"/>
              </a:spcAft>
              <a:buClr>
                <a:schemeClr val="dk1"/>
              </a:buClr>
              <a:buSzPts val="2400"/>
              <a:buNone/>
            </a:pPr>
            <a:endParaRPr/>
          </a:p>
        </p:txBody>
      </p:sp>
      <p:sp>
        <p:nvSpPr>
          <p:cNvPr id="143" name="Google Shape;143;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44" name="Google Shape;144;p10"/>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Conclusion</a:t>
            </a:r>
            <a:endParaRPr/>
          </a:p>
          <a:p>
            <a:pPr marL="742950" lvl="1" indent="-285750" algn="l" rtl="0">
              <a:spcBef>
                <a:spcPts val="560"/>
              </a:spcBef>
              <a:spcAft>
                <a:spcPts val="0"/>
              </a:spcAft>
              <a:buClr>
                <a:schemeClr val="dk1"/>
              </a:buClr>
              <a:buSzPts val="2800"/>
              <a:buChar char="–"/>
            </a:pPr>
            <a:r>
              <a:rPr lang="en-US"/>
              <a:t>Discusses:</a:t>
            </a:r>
            <a:endParaRPr/>
          </a:p>
          <a:p>
            <a:pPr marL="1143000" lvl="2" indent="-228600" algn="l" rtl="0">
              <a:spcBef>
                <a:spcPts val="480"/>
              </a:spcBef>
              <a:spcAft>
                <a:spcPts val="0"/>
              </a:spcAft>
              <a:buClr>
                <a:schemeClr val="dk1"/>
              </a:buClr>
              <a:buSzPts val="2400"/>
              <a:buChar char="•"/>
            </a:pPr>
            <a:r>
              <a:rPr lang="en-US"/>
              <a:t>What was learned through research</a:t>
            </a:r>
            <a:endParaRPr/>
          </a:p>
          <a:p>
            <a:pPr marL="1143000" lvl="2" indent="-228600" algn="l" rtl="0">
              <a:spcBef>
                <a:spcPts val="480"/>
              </a:spcBef>
              <a:spcAft>
                <a:spcPts val="0"/>
              </a:spcAft>
              <a:buClr>
                <a:schemeClr val="dk1"/>
              </a:buClr>
              <a:buSzPts val="2400"/>
              <a:buChar char="•"/>
            </a:pPr>
            <a:r>
              <a:rPr lang="en-US"/>
              <a:t>Strengths and weakness of study</a:t>
            </a:r>
            <a:endParaRPr/>
          </a:p>
          <a:p>
            <a:pPr marL="1143000" lvl="2" indent="-228600" algn="l" rtl="0">
              <a:spcBef>
                <a:spcPts val="480"/>
              </a:spcBef>
              <a:spcAft>
                <a:spcPts val="0"/>
              </a:spcAft>
              <a:buClr>
                <a:schemeClr val="dk1"/>
              </a:buClr>
              <a:buSzPts val="2400"/>
              <a:buChar char="•"/>
            </a:pPr>
            <a:r>
              <a:rPr lang="en-US"/>
              <a:t>Possible applications of study (how it can be used)</a:t>
            </a:r>
            <a:endParaRPr/>
          </a:p>
          <a:p>
            <a:pPr marL="1143000" lvl="2" indent="-228600" algn="l" rtl="0">
              <a:spcBef>
                <a:spcPts val="480"/>
              </a:spcBef>
              <a:spcAft>
                <a:spcPts val="0"/>
              </a:spcAft>
              <a:buClr>
                <a:schemeClr val="dk1"/>
              </a:buClr>
              <a:buSzPts val="2400"/>
              <a:buChar char="•"/>
            </a:pPr>
            <a:r>
              <a:rPr lang="en-US"/>
              <a:t>Recommendations</a:t>
            </a:r>
            <a:endParaRPr/>
          </a:p>
          <a:p>
            <a:pPr marL="342900" lvl="0" indent="-342900" algn="l" rtl="0">
              <a:spcBef>
                <a:spcPts val="640"/>
              </a:spcBef>
              <a:spcAft>
                <a:spcPts val="0"/>
              </a:spcAft>
              <a:buClr>
                <a:schemeClr val="dk1"/>
              </a:buClr>
              <a:buSzPts val="3200"/>
              <a:buChar char="•"/>
            </a:pPr>
            <a:r>
              <a:rPr lang="en-US"/>
              <a:t>Recommendation</a:t>
            </a:r>
            <a:endParaRPr/>
          </a:p>
          <a:p>
            <a:pPr marL="742950" lvl="1" indent="-285750" algn="l" rtl="0">
              <a:spcBef>
                <a:spcPts val="560"/>
              </a:spcBef>
              <a:spcAft>
                <a:spcPts val="0"/>
              </a:spcAft>
              <a:buClr>
                <a:schemeClr val="dk1"/>
              </a:buClr>
              <a:buSzPts val="2800"/>
              <a:buChar char="–"/>
            </a:pPr>
            <a:r>
              <a:rPr lang="en-US"/>
              <a:t>What would you do differently?</a:t>
            </a:r>
            <a:endParaRPr/>
          </a:p>
          <a:p>
            <a:pPr marL="742950" lvl="1" indent="-285750" algn="l" rtl="0">
              <a:spcBef>
                <a:spcPts val="560"/>
              </a:spcBef>
              <a:spcAft>
                <a:spcPts val="0"/>
              </a:spcAft>
              <a:buClr>
                <a:schemeClr val="dk1"/>
              </a:buClr>
              <a:buSzPts val="2800"/>
              <a:buChar char="–"/>
            </a:pPr>
            <a:r>
              <a:rPr lang="en-US"/>
              <a:t>Any changes would you recommend for the experiment </a:t>
            </a:r>
            <a:endParaRPr/>
          </a:p>
          <a:p>
            <a:pPr marL="1143000" lvl="2" indent="-76200" algn="l" rtl="0">
              <a:spcBef>
                <a:spcPts val="480"/>
              </a:spcBef>
              <a:spcAft>
                <a:spcPts val="0"/>
              </a:spcAft>
              <a:buClr>
                <a:schemeClr val="dk1"/>
              </a:buClr>
              <a:buSzPts val="2400"/>
              <a:buNone/>
            </a:pPr>
            <a:endParaRPr/>
          </a:p>
        </p:txBody>
      </p:sp>
      <p:sp>
        <p:nvSpPr>
          <p:cNvPr id="150" name="Google Shape;150;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Report Format and Organization</a:t>
            </a:r>
            <a:endParaRPr/>
          </a:p>
        </p:txBody>
      </p:sp>
      <p:sp>
        <p:nvSpPr>
          <p:cNvPr id="151" name="Google Shape;151;p11"/>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Visual Design</a:t>
            </a:r>
            <a:endParaRPr/>
          </a:p>
        </p:txBody>
      </p:sp>
      <p:sp>
        <p:nvSpPr>
          <p:cNvPr id="157" name="Google Shape;15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Graphics</a:t>
            </a:r>
            <a:endParaRPr/>
          </a:p>
          <a:p>
            <a:pPr marL="742950" lvl="1" indent="-285750" algn="l" rtl="0">
              <a:spcBef>
                <a:spcPts val="560"/>
              </a:spcBef>
              <a:spcAft>
                <a:spcPts val="0"/>
              </a:spcAft>
              <a:buClr>
                <a:schemeClr val="dk1"/>
              </a:buClr>
              <a:buSzPts val="2800"/>
              <a:buChar char="–"/>
            </a:pPr>
            <a:r>
              <a:rPr lang="en-US"/>
              <a:t>Should be used to illustrate specific points</a:t>
            </a:r>
            <a:endParaRPr/>
          </a:p>
          <a:p>
            <a:pPr marL="742950" lvl="1" indent="-285750" algn="l" rtl="0">
              <a:spcBef>
                <a:spcPts val="560"/>
              </a:spcBef>
              <a:spcAft>
                <a:spcPts val="0"/>
              </a:spcAft>
              <a:buClr>
                <a:schemeClr val="dk1"/>
              </a:buClr>
              <a:buSzPts val="2800"/>
              <a:buChar char="–"/>
            </a:pPr>
            <a:r>
              <a:rPr lang="en-US"/>
              <a:t>Should be incorporated in a way that is natural to report’s content/context</a:t>
            </a:r>
            <a:endParaRPr/>
          </a:p>
          <a:p>
            <a:pPr marL="742950" lvl="1" indent="-285750" algn="l" rtl="0">
              <a:spcBef>
                <a:spcPts val="560"/>
              </a:spcBef>
              <a:spcAft>
                <a:spcPts val="0"/>
              </a:spcAft>
              <a:buClr>
                <a:schemeClr val="dk1"/>
              </a:buClr>
              <a:buSzPts val="2800"/>
              <a:buChar char="–"/>
            </a:pPr>
            <a:r>
              <a:rPr lang="en-US"/>
              <a:t>Should be explained fully in text using references such as “Fig. 1 shows….” </a:t>
            </a:r>
            <a:endParaRPr/>
          </a:p>
          <a:p>
            <a:pPr marL="742950" lvl="1" indent="-285750" algn="l" rtl="0">
              <a:spcBef>
                <a:spcPts val="560"/>
              </a:spcBef>
              <a:spcAft>
                <a:spcPts val="0"/>
              </a:spcAft>
              <a:buClr>
                <a:schemeClr val="dk1"/>
              </a:buClr>
              <a:buSzPts val="2800"/>
              <a:buChar char="–"/>
            </a:pPr>
            <a:r>
              <a:rPr lang="en-US"/>
              <a:t>Should be cited if taken from a source</a:t>
            </a:r>
            <a:endParaRPr/>
          </a:p>
          <a:p>
            <a:pPr marL="742950" lvl="1" indent="-285750" algn="l" rtl="0">
              <a:spcBef>
                <a:spcPts val="560"/>
              </a:spcBef>
              <a:spcAft>
                <a:spcPts val="0"/>
              </a:spcAft>
              <a:buClr>
                <a:schemeClr val="dk1"/>
              </a:buClr>
              <a:buSzPts val="2800"/>
              <a:buChar char="–"/>
            </a:pPr>
            <a:r>
              <a:rPr lang="en-US"/>
              <a:t>Textual information should come before graphics</a:t>
            </a:r>
            <a:endParaRPr/>
          </a:p>
          <a:p>
            <a:pPr marL="457200" lvl="1" indent="0" algn="l" rtl="0">
              <a:spcBef>
                <a:spcPts val="560"/>
              </a:spcBef>
              <a:spcAft>
                <a:spcPts val="0"/>
              </a:spcAft>
              <a:buClr>
                <a:schemeClr val="dk1"/>
              </a:buClr>
              <a:buSzPts val="2800"/>
              <a:buNone/>
            </a:pPr>
            <a:endParaRPr/>
          </a:p>
        </p:txBody>
      </p:sp>
      <p:sp>
        <p:nvSpPr>
          <p:cNvPr id="158" name="Google Shape;158;p12"/>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Calibri"/>
                <a:ea typeface="Calibri"/>
                <a:cs typeface="Calibri"/>
                <a:sym typeface="Calibri"/>
              </a:rPr>
              <a:t>Courtesy: Purdue Writing Lab</a:t>
            </a:r>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txBox="1">
            <a:spLocks noGrp="1"/>
          </p:cNvSpPr>
          <p:nvPr>
            <p:ph type="title"/>
          </p:nvPr>
        </p:nvSpPr>
        <p:spPr>
          <a:xfrm>
            <a:off x="423506" y="152400"/>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Visual Design</a:t>
            </a:r>
            <a:endParaRPr/>
          </a:p>
        </p:txBody>
      </p:sp>
      <p:graphicFrame>
        <p:nvGraphicFramePr>
          <p:cNvPr id="164" name="Google Shape;164;p13"/>
          <p:cNvGraphicFramePr/>
          <p:nvPr/>
        </p:nvGraphicFramePr>
        <p:xfrm>
          <a:off x="990600" y="2057400"/>
          <a:ext cx="6934200" cy="3291840"/>
        </p:xfrm>
        <a:graphic>
          <a:graphicData uri="http://schemas.openxmlformats.org/drawingml/2006/table">
            <a:tbl>
              <a:tblPr firstRow="1" firstCol="1" lastRow="1" lastCol="1" bandRow="1" bandCol="1">
                <a:noFill/>
                <a:tableStyleId>{E81C8A17-1A86-4A52-A5DD-F6E86A563AC7}</a:tableStyleId>
              </a:tblPr>
              <a:tblGrid>
                <a:gridCol w="1733550"/>
                <a:gridCol w="1733550"/>
                <a:gridCol w="1733550"/>
                <a:gridCol w="1733550"/>
              </a:tblGrid>
              <a:tr h="228600">
                <a:tc>
                  <a:txBody>
                    <a:bodyPr/>
                    <a:lstStyle/>
                    <a:p>
                      <a:pPr marL="0" marR="0" lvl="0" indent="0" algn="just" rtl="0">
                        <a:spcBef>
                          <a:spcPts val="0"/>
                        </a:spcBef>
                        <a:spcAft>
                          <a:spcPts val="0"/>
                        </a:spcAft>
                        <a:buNone/>
                      </a:pPr>
                      <a:r>
                        <a:rPr lang="en-US" sz="1800" b="1" u="none" strike="noStrike" cap="none"/>
                        <a:t>Material</a:t>
                      </a:r>
                      <a:endParaRPr sz="18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just" rtl="0">
                        <a:spcBef>
                          <a:spcPts val="0"/>
                        </a:spcBef>
                        <a:spcAft>
                          <a:spcPts val="0"/>
                        </a:spcAft>
                        <a:buNone/>
                      </a:pPr>
                      <a:r>
                        <a:rPr lang="en-US" sz="1800" b="1" u="none" strike="noStrike" cap="none"/>
                        <a:t>Density</a:t>
                      </a:r>
                      <a:endParaRPr/>
                    </a:p>
                    <a:p>
                      <a:pPr marL="0" marR="0" lvl="0" indent="0" algn="just" rtl="0">
                        <a:spcBef>
                          <a:spcPts val="0"/>
                        </a:spcBef>
                        <a:spcAft>
                          <a:spcPts val="0"/>
                        </a:spcAft>
                        <a:buNone/>
                      </a:pPr>
                      <a:r>
                        <a:rPr lang="en-US" sz="1800" b="1" u="none" strike="noStrike" cap="none"/>
                        <a:t> (g/ml)</a:t>
                      </a:r>
                      <a:endParaRPr sz="18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just" rtl="0">
                        <a:spcBef>
                          <a:spcPts val="0"/>
                        </a:spcBef>
                        <a:spcAft>
                          <a:spcPts val="0"/>
                        </a:spcAft>
                        <a:buNone/>
                      </a:pPr>
                      <a:r>
                        <a:rPr lang="en-US" sz="1800" b="1" u="none" strike="noStrike" cap="none"/>
                        <a:t>Mean Particle </a:t>
                      </a:r>
                      <a:endParaRPr/>
                    </a:p>
                    <a:p>
                      <a:pPr marL="0" marR="0" lvl="0" indent="0" algn="just" rtl="0">
                        <a:spcBef>
                          <a:spcPts val="0"/>
                        </a:spcBef>
                        <a:spcAft>
                          <a:spcPts val="0"/>
                        </a:spcAft>
                        <a:buNone/>
                      </a:pPr>
                      <a:r>
                        <a:rPr lang="en-US" sz="1800" b="1" u="none" strike="noStrike" cap="none"/>
                        <a:t>Size </a:t>
                      </a:r>
                      <a:endParaRPr sz="18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just" rtl="0">
                        <a:spcBef>
                          <a:spcPts val="0"/>
                        </a:spcBef>
                        <a:spcAft>
                          <a:spcPts val="0"/>
                        </a:spcAft>
                        <a:buNone/>
                      </a:pPr>
                      <a:r>
                        <a:rPr lang="en-US" sz="1800" b="1" u="none" strike="noStrike" cap="none"/>
                        <a:t>Function</a:t>
                      </a:r>
                      <a:endParaRPr sz="1800" b="1" u="none" strike="noStrike" cap="none">
                        <a:latin typeface="Times New Roman"/>
                        <a:ea typeface="Times New Roman"/>
                        <a:cs typeface="Times New Roman"/>
                        <a:sym typeface="Times New Roman"/>
                      </a:endParaRPr>
                    </a:p>
                  </a:txBody>
                  <a:tcPr marL="68575" marR="68575" marT="0" marB="0"/>
                </a:tc>
              </a:tr>
              <a:tr h="228600">
                <a:tc>
                  <a:txBody>
                    <a:bodyPr/>
                    <a:lstStyle/>
                    <a:p>
                      <a:pPr marL="0" marR="0" lvl="0" indent="0" algn="just" rtl="0">
                        <a:spcBef>
                          <a:spcPts val="0"/>
                        </a:spcBef>
                        <a:spcAft>
                          <a:spcPts val="0"/>
                        </a:spcAft>
                        <a:buNone/>
                      </a:pPr>
                      <a:r>
                        <a:rPr lang="en-US" sz="1800" u="none" strike="noStrike" cap="none"/>
                        <a:t>Aluminum H-5 batch 1</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2.70</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9.44 um</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Host</a:t>
                      </a:r>
                      <a:endParaRPr sz="1800" u="none" strike="noStrike" cap="none">
                        <a:latin typeface="Times New Roman"/>
                        <a:ea typeface="Times New Roman"/>
                        <a:cs typeface="Times New Roman"/>
                        <a:sym typeface="Times New Roman"/>
                      </a:endParaRPr>
                    </a:p>
                  </a:txBody>
                  <a:tcPr marL="68575" marR="68575" marT="0" marB="0"/>
                </a:tc>
              </a:tr>
              <a:tr h="228600">
                <a:tc>
                  <a:txBody>
                    <a:bodyPr/>
                    <a:lstStyle/>
                    <a:p>
                      <a:pPr marL="0" marR="0" lvl="0" indent="0" algn="just" rtl="0">
                        <a:spcBef>
                          <a:spcPts val="0"/>
                        </a:spcBef>
                        <a:spcAft>
                          <a:spcPts val="0"/>
                        </a:spcAft>
                        <a:buNone/>
                      </a:pPr>
                      <a:r>
                        <a:rPr lang="en-US" sz="1800" u="none" strike="noStrike" cap="none"/>
                        <a:t>Aluminum H-5 batch 2        </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2.70</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9.09 um</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Host</a:t>
                      </a:r>
                      <a:endParaRPr sz="1800" u="none" strike="noStrike" cap="none">
                        <a:latin typeface="Times New Roman"/>
                        <a:ea typeface="Times New Roman"/>
                        <a:cs typeface="Times New Roman"/>
                        <a:sym typeface="Times New Roman"/>
                      </a:endParaRPr>
                    </a:p>
                  </a:txBody>
                  <a:tcPr marL="68575" marR="68575" marT="0" marB="0"/>
                </a:tc>
              </a:tr>
              <a:tr h="228600">
                <a:tc>
                  <a:txBody>
                    <a:bodyPr/>
                    <a:lstStyle/>
                    <a:p>
                      <a:pPr marL="0" marR="0" lvl="0" indent="0" algn="just" rtl="0">
                        <a:spcBef>
                          <a:spcPts val="0"/>
                        </a:spcBef>
                        <a:spcAft>
                          <a:spcPts val="0"/>
                        </a:spcAft>
                        <a:buNone/>
                      </a:pPr>
                      <a:r>
                        <a:rPr lang="en-US" sz="1800" u="none" strike="noStrike" cap="none"/>
                        <a:t>Silica</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2.65</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20 nm</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Guest</a:t>
                      </a:r>
                      <a:endParaRPr/>
                    </a:p>
                    <a:p>
                      <a:pPr marL="0" marR="0" lvl="0" indent="0" algn="ctr" rtl="0">
                        <a:spcBef>
                          <a:spcPts val="0"/>
                        </a:spcBef>
                        <a:spcAft>
                          <a:spcPts val="0"/>
                        </a:spcAft>
                        <a:buNone/>
                      </a:pPr>
                      <a:r>
                        <a:rPr lang="en-US" sz="1800" u="none" strike="noStrike" cap="none"/>
                        <a:t> </a:t>
                      </a:r>
                      <a:endParaRPr sz="1800" u="none" strike="noStrike" cap="none">
                        <a:latin typeface="Times New Roman"/>
                        <a:ea typeface="Times New Roman"/>
                        <a:cs typeface="Times New Roman"/>
                        <a:sym typeface="Times New Roman"/>
                      </a:endParaRPr>
                    </a:p>
                  </a:txBody>
                  <a:tcPr marL="68575" marR="68575" marT="0" marB="0"/>
                </a:tc>
              </a:tr>
              <a:tr h="228600">
                <a:tc>
                  <a:txBody>
                    <a:bodyPr/>
                    <a:lstStyle/>
                    <a:p>
                      <a:pPr marL="0" marR="0" lvl="0" indent="0" algn="just" rtl="0">
                        <a:spcBef>
                          <a:spcPts val="0"/>
                        </a:spcBef>
                        <a:spcAft>
                          <a:spcPts val="0"/>
                        </a:spcAft>
                        <a:buNone/>
                      </a:pPr>
                      <a:r>
                        <a:rPr lang="en-US" sz="1800" u="none" strike="noStrike" cap="none"/>
                        <a:t>Carbon black</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2.00</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50 nm</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Guest</a:t>
                      </a:r>
                      <a:endParaRPr/>
                    </a:p>
                    <a:p>
                      <a:pPr marL="0" marR="0" lvl="0" indent="0" algn="ctr" rtl="0">
                        <a:spcBef>
                          <a:spcPts val="0"/>
                        </a:spcBef>
                        <a:spcAft>
                          <a:spcPts val="0"/>
                        </a:spcAft>
                        <a:buNone/>
                      </a:pPr>
                      <a:r>
                        <a:rPr lang="en-US" sz="1800" u="none" strike="noStrike" cap="none"/>
                        <a:t> </a:t>
                      </a:r>
                      <a:endParaRPr sz="1800" u="none" strike="noStrike" cap="none">
                        <a:latin typeface="Times New Roman"/>
                        <a:ea typeface="Times New Roman"/>
                        <a:cs typeface="Times New Roman"/>
                        <a:sym typeface="Times New Roman"/>
                      </a:endParaRPr>
                    </a:p>
                  </a:txBody>
                  <a:tcPr marL="68575" marR="68575" marT="0" marB="0"/>
                </a:tc>
              </a:tr>
              <a:tr h="228600">
                <a:tc>
                  <a:txBody>
                    <a:bodyPr/>
                    <a:lstStyle/>
                    <a:p>
                      <a:pPr marL="0" marR="0" lvl="0" indent="0" algn="just" rtl="0">
                        <a:spcBef>
                          <a:spcPts val="0"/>
                        </a:spcBef>
                        <a:spcAft>
                          <a:spcPts val="0"/>
                        </a:spcAft>
                        <a:buNone/>
                      </a:pPr>
                      <a:r>
                        <a:rPr lang="en-US" sz="1800" u="none" strike="noStrike" cap="none"/>
                        <a:t>Titania</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4.23</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21 nm</a:t>
                      </a:r>
                      <a:endParaRPr sz="18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1800" u="none" strike="noStrike" cap="none"/>
                        <a:t>Guest</a:t>
                      </a:r>
                      <a:endParaRPr/>
                    </a:p>
                    <a:p>
                      <a:pPr marL="0" marR="0" lvl="0" indent="0" algn="ctr" rtl="0">
                        <a:spcBef>
                          <a:spcPts val="0"/>
                        </a:spcBef>
                        <a:spcAft>
                          <a:spcPts val="0"/>
                        </a:spcAft>
                        <a:buNone/>
                      </a:pPr>
                      <a:r>
                        <a:rPr lang="en-US" sz="1800" u="none" strike="noStrike" cap="none"/>
                        <a:t> </a:t>
                      </a:r>
                      <a:endParaRPr sz="1800" u="none" strike="noStrike" cap="none">
                        <a:latin typeface="Times New Roman"/>
                        <a:ea typeface="Times New Roman"/>
                        <a:cs typeface="Times New Roman"/>
                        <a:sym typeface="Times New Roman"/>
                      </a:endParaRPr>
                    </a:p>
                  </a:txBody>
                  <a:tcPr marL="68575" marR="68575" marT="0" marB="0"/>
                </a:tc>
              </a:tr>
            </a:tbl>
          </a:graphicData>
        </a:graphic>
      </p:graphicFrame>
      <p:sp>
        <p:nvSpPr>
          <p:cNvPr id="165" name="Google Shape;165;p13"/>
          <p:cNvSpPr/>
          <p:nvPr/>
        </p:nvSpPr>
        <p:spPr>
          <a:xfrm>
            <a:off x="838200" y="1600200"/>
            <a:ext cx="4309706"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Table 1</a:t>
            </a:r>
            <a:r>
              <a:rPr lang="en-US" sz="1800" b="0" i="0" u="none" strike="noStrike" cap="none">
                <a:solidFill>
                  <a:schemeClr val="dk1"/>
                </a:solidFill>
                <a:latin typeface="Arial"/>
                <a:ea typeface="Arial"/>
                <a:cs typeface="Arial"/>
                <a:sym typeface="Arial"/>
              </a:rPr>
              <a:t>: Properties of the Raw Materials</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a:spLocks noGrp="1"/>
          </p:cNvSpPr>
          <p:nvPr>
            <p:ph type="title"/>
          </p:nvPr>
        </p:nvSpPr>
        <p:spPr>
          <a:xfrm>
            <a:off x="457200" y="21771"/>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Visual Design</a:t>
            </a:r>
            <a:endParaRPr/>
          </a:p>
        </p:txBody>
      </p:sp>
      <p:graphicFrame>
        <p:nvGraphicFramePr>
          <p:cNvPr id="172" name="Google Shape;172;p14"/>
          <p:cNvGraphicFramePr/>
          <p:nvPr/>
        </p:nvGraphicFramePr>
        <p:xfrm>
          <a:off x="457200" y="1066800"/>
          <a:ext cx="8229600" cy="4525963"/>
        </p:xfrm>
        <a:graphic>
          <a:graphicData uri="http://schemas.openxmlformats.org/drawingml/2006/chart">
            <c:chart xmlns:c="http://schemas.openxmlformats.org/drawingml/2006/chart" xmlns:r="http://schemas.openxmlformats.org/officeDocument/2006/relationships" r:id="rId3"/>
          </a:graphicData>
        </a:graphic>
      </p:graphicFrame>
      <p:sp>
        <p:nvSpPr>
          <p:cNvPr id="173" name="Google Shape;173;p14"/>
          <p:cNvSpPr txBox="1"/>
          <p:nvPr/>
        </p:nvSpPr>
        <p:spPr>
          <a:xfrm>
            <a:off x="0" y="5638800"/>
            <a:ext cx="9982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Calibri"/>
                <a:ea typeface="Calibri"/>
                <a:cs typeface="Calibri"/>
                <a:sym typeface="Calibri"/>
              </a:rPr>
              <a:t>Figure 1:</a:t>
            </a:r>
            <a:r>
              <a:rPr lang="en-US" sz="1800" b="0" i="0" u="none" strike="noStrike" cap="none">
                <a:solidFill>
                  <a:schemeClr val="dk1"/>
                </a:solidFill>
                <a:latin typeface="Calibri"/>
                <a:ea typeface="Calibri"/>
                <a:cs typeface="Calibri"/>
                <a:sym typeface="Calibri"/>
              </a:rPr>
              <a:t> show the mean particle size of uncoated and surface modified Micronized APAP as a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of dispersion pressure. The plot shows the effects of magnet ratio on attrition.</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5"/>
          <p:cNvSpPr txBox="1"/>
          <p:nvPr/>
        </p:nvSpPr>
        <p:spPr>
          <a:xfrm>
            <a:off x="609600" y="152400"/>
            <a:ext cx="8229600" cy="1143000"/>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Visual Design</a:t>
            </a:r>
            <a:endParaRPr sz="4400">
              <a:solidFill>
                <a:schemeClr val="dk1"/>
              </a:solidFill>
              <a:latin typeface="Calibri"/>
              <a:ea typeface="Calibri"/>
              <a:cs typeface="Calibri"/>
              <a:sym typeface="Calibri"/>
            </a:endParaRPr>
          </a:p>
        </p:txBody>
      </p:sp>
      <p:pic>
        <p:nvPicPr>
          <p:cNvPr id="179" name="Google Shape;179;p15"/>
          <p:cNvPicPr preferRelativeResize="0">
            <a:picLocks noGrp="1"/>
          </p:cNvPicPr>
          <p:nvPr>
            <p:ph type="body" idx="1"/>
          </p:nvPr>
        </p:nvPicPr>
        <p:blipFill rotWithShape="1">
          <a:blip r:embed="rId3">
            <a:alphaModFix/>
          </a:blip>
          <a:srcRect/>
          <a:stretch/>
        </p:blipFill>
        <p:spPr>
          <a:xfrm>
            <a:off x="838200" y="1143000"/>
            <a:ext cx="6986251" cy="4488750"/>
          </a:xfrm>
          <a:prstGeom prst="rect">
            <a:avLst/>
          </a:prstGeom>
          <a:noFill/>
          <a:ln>
            <a:noFill/>
          </a:ln>
        </p:spPr>
      </p:pic>
      <p:sp>
        <p:nvSpPr>
          <p:cNvPr id="180" name="Google Shape;180;p15"/>
          <p:cNvSpPr txBox="1"/>
          <p:nvPr/>
        </p:nvSpPr>
        <p:spPr>
          <a:xfrm>
            <a:off x="152400" y="5486400"/>
            <a:ext cx="89916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Figure 6.6:</a:t>
            </a:r>
            <a:r>
              <a:rPr lang="en-US" sz="1800">
                <a:solidFill>
                  <a:schemeClr val="dk1"/>
                </a:solidFill>
                <a:latin typeface="Calibri"/>
                <a:ea typeface="Calibri"/>
                <a:cs typeface="Calibri"/>
                <a:sym typeface="Calibri"/>
              </a:rPr>
              <a:t> The relationship between the AOR and basicity/acidity ratio of the surface of the particles. The plot indicates that the more basic the surface of the aluminum powders, the lower the angle of repose which may correlate to better flowability.  Note that the abscissa is plotted in a descending order so as to show the similarity with Figure 6.4.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Reports should be easily accessible</a:t>
            </a:r>
            <a:endParaRPr/>
          </a:p>
          <a:p>
            <a:pPr marL="742950" lvl="1" indent="-285750" algn="l" rtl="0">
              <a:spcBef>
                <a:spcPts val="560"/>
              </a:spcBef>
              <a:spcAft>
                <a:spcPts val="0"/>
              </a:spcAft>
              <a:buClr>
                <a:schemeClr val="dk1"/>
              </a:buClr>
              <a:buSzPts val="2800"/>
              <a:buChar char="–"/>
            </a:pPr>
            <a:r>
              <a:rPr lang="en-US"/>
              <a:t>Be straightforward and concise</a:t>
            </a:r>
            <a:endParaRPr/>
          </a:p>
          <a:p>
            <a:pPr marL="742950" lvl="1" indent="-285750" algn="l" rtl="0">
              <a:spcBef>
                <a:spcPts val="560"/>
              </a:spcBef>
              <a:spcAft>
                <a:spcPts val="0"/>
              </a:spcAft>
              <a:buClr>
                <a:schemeClr val="dk1"/>
              </a:buClr>
              <a:buSzPts val="2800"/>
              <a:buChar char="–"/>
            </a:pPr>
            <a:r>
              <a:rPr lang="en-US"/>
              <a:t>Use simple terms, not jargon </a:t>
            </a:r>
            <a:endParaRPr/>
          </a:p>
          <a:p>
            <a:pPr marL="742950" lvl="1" indent="-285750" algn="l" rtl="0">
              <a:spcBef>
                <a:spcPts val="560"/>
              </a:spcBef>
              <a:spcAft>
                <a:spcPts val="0"/>
              </a:spcAft>
              <a:buClr>
                <a:schemeClr val="dk1"/>
              </a:buClr>
              <a:buSzPts val="2800"/>
              <a:buChar char="–"/>
            </a:pPr>
            <a:r>
              <a:rPr lang="en-US"/>
              <a:t>Keep sentences short and simple (20 words max)</a:t>
            </a:r>
            <a:endParaRPr/>
          </a:p>
          <a:p>
            <a:pPr marL="742950" lvl="1" indent="-285750" algn="l" rtl="0">
              <a:spcBef>
                <a:spcPts val="560"/>
              </a:spcBef>
              <a:spcAft>
                <a:spcPts val="0"/>
              </a:spcAft>
              <a:buClr>
                <a:schemeClr val="dk1"/>
              </a:buClr>
              <a:buSzPts val="2800"/>
              <a:buChar char="–"/>
            </a:pPr>
            <a:r>
              <a:rPr lang="en-US"/>
              <a:t>No common phases (be technical)</a:t>
            </a:r>
            <a:endParaRPr/>
          </a:p>
          <a:p>
            <a:pPr marL="1143000" lvl="2" indent="-228600" algn="l" rtl="0">
              <a:spcBef>
                <a:spcPts val="480"/>
              </a:spcBef>
              <a:spcAft>
                <a:spcPts val="0"/>
              </a:spcAft>
              <a:buClr>
                <a:schemeClr val="dk1"/>
              </a:buClr>
              <a:buSzPts val="2400"/>
              <a:buChar char="•"/>
            </a:pPr>
            <a:r>
              <a:rPr lang="en-US"/>
              <a:t>“in the ballpark”</a:t>
            </a:r>
            <a:endParaRPr/>
          </a:p>
          <a:p>
            <a:pPr marL="742950" lvl="1" indent="-285750" algn="l" rtl="0">
              <a:spcBef>
                <a:spcPts val="560"/>
              </a:spcBef>
              <a:spcAft>
                <a:spcPts val="0"/>
              </a:spcAft>
              <a:buClr>
                <a:schemeClr val="dk1"/>
              </a:buClr>
              <a:buSzPts val="2800"/>
              <a:buChar char="–"/>
            </a:pPr>
            <a:r>
              <a:rPr lang="en-US"/>
              <a:t>Be specific and not general</a:t>
            </a:r>
            <a:endParaRPr/>
          </a:p>
          <a:p>
            <a:pPr marL="1143000" lvl="2" indent="-228600" algn="l" rtl="0">
              <a:spcBef>
                <a:spcPts val="480"/>
              </a:spcBef>
              <a:spcAft>
                <a:spcPts val="0"/>
              </a:spcAft>
              <a:buClr>
                <a:schemeClr val="dk1"/>
              </a:buClr>
              <a:buSzPts val="2400"/>
              <a:buChar char="•"/>
            </a:pPr>
            <a:r>
              <a:rPr lang="en-US"/>
              <a:t>Not “close” or “like” or “pretty” or “roughly”</a:t>
            </a:r>
            <a:endParaRPr/>
          </a:p>
          <a:p>
            <a:pPr marL="914400" lvl="2" indent="0" algn="l" rtl="0">
              <a:spcBef>
                <a:spcPts val="480"/>
              </a:spcBef>
              <a:spcAft>
                <a:spcPts val="0"/>
              </a:spcAft>
              <a:buClr>
                <a:schemeClr val="dk1"/>
              </a:buClr>
              <a:buSzPts val="2400"/>
              <a:buNone/>
            </a:pPr>
            <a:endParaRPr/>
          </a:p>
        </p:txBody>
      </p:sp>
      <p:sp>
        <p:nvSpPr>
          <p:cNvPr id="186" name="Google Shape;18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Language and Vocabulary</a:t>
            </a:r>
            <a:endParaRPr/>
          </a:p>
        </p:txBody>
      </p:sp>
      <p:sp>
        <p:nvSpPr>
          <p:cNvPr id="187" name="Google Shape;187;p16"/>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888888"/>
                </a:solidFill>
                <a:latin typeface="Calibri"/>
                <a:ea typeface="Calibri"/>
                <a:cs typeface="Calibri"/>
                <a:sym typeface="Calibri"/>
              </a:rPr>
              <a:t>Courtesy: Purdue Writing Lab</a:t>
            </a:r>
            <a:endParaRPr sz="1200">
              <a:solidFill>
                <a:srgbClr val="88888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Source Documentation</a:t>
            </a:r>
            <a:endParaRPr/>
          </a:p>
        </p:txBody>
      </p:sp>
      <p:sp>
        <p:nvSpPr>
          <p:cNvPr id="193" name="Google Shape;193;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tabLst>
                <a:tab pos="4797425" algn="l"/>
                <a:tab pos="5830888" algn="l"/>
              </a:tabLst>
            </a:pPr>
            <a:r>
              <a:rPr lang="en-US" dirty="0" smtClean="0"/>
              <a:t>Cite </a:t>
            </a:r>
            <a:r>
              <a:rPr lang="en-US" dirty="0"/>
              <a:t>sources </a:t>
            </a:r>
            <a:r>
              <a:rPr lang="en-US" dirty="0" smtClean="0"/>
              <a:t>:</a:t>
            </a:r>
          </a:p>
          <a:p>
            <a:pPr marL="742950" lvl="1" indent="-285750" algn="just">
              <a:spcBef>
                <a:spcPts val="518"/>
              </a:spcBef>
              <a:buSzPct val="100000"/>
            </a:pPr>
            <a:r>
              <a:rPr lang="en-US" dirty="0" smtClean="0"/>
              <a:t>whenever you are quoting, paraphrasing, or summarizing work that is not your own</a:t>
            </a:r>
          </a:p>
          <a:p>
            <a:pPr marL="742950" lvl="1" indent="-285750" algn="l" rtl="0">
              <a:spcBef>
                <a:spcPts val="518"/>
              </a:spcBef>
              <a:spcAft>
                <a:spcPts val="0"/>
              </a:spcAft>
              <a:buClr>
                <a:schemeClr val="dk1"/>
              </a:buClr>
              <a:buSzPct val="100000"/>
              <a:buChar char="–"/>
            </a:pPr>
            <a:r>
              <a:rPr lang="en-US" dirty="0" smtClean="0"/>
              <a:t>Quote </a:t>
            </a:r>
            <a:r>
              <a:rPr lang="en-US" dirty="0"/>
              <a:t>directly is discouraged</a:t>
            </a:r>
            <a:endParaRPr/>
          </a:p>
          <a:p>
            <a:pPr marL="742950" lvl="1" indent="-285750" algn="l" rtl="0">
              <a:spcBef>
                <a:spcPts val="518"/>
              </a:spcBef>
              <a:spcAft>
                <a:spcPts val="0"/>
              </a:spcAft>
              <a:buClr>
                <a:schemeClr val="dk1"/>
              </a:buClr>
              <a:buSzPct val="100000"/>
              <a:buChar char="–"/>
            </a:pPr>
            <a:r>
              <a:rPr lang="en-US" dirty="0"/>
              <a:t>DO NOT COPY</a:t>
            </a:r>
            <a:endParaRPr/>
          </a:p>
          <a:p>
            <a:pPr marL="342900" lvl="0" indent="-342900" algn="l" rtl="0">
              <a:spcBef>
                <a:spcPts val="592"/>
              </a:spcBef>
              <a:spcAft>
                <a:spcPts val="0"/>
              </a:spcAft>
              <a:buClr>
                <a:schemeClr val="dk1"/>
              </a:buClr>
              <a:buSzPct val="100000"/>
              <a:buChar char="•"/>
            </a:pPr>
            <a:r>
              <a:rPr lang="en-US" dirty="0"/>
              <a:t>Sources include:</a:t>
            </a:r>
            <a:endParaRPr/>
          </a:p>
          <a:p>
            <a:pPr marL="742950" lvl="1" indent="-285750" algn="l" rtl="0">
              <a:spcBef>
                <a:spcPts val="518"/>
              </a:spcBef>
              <a:spcAft>
                <a:spcPts val="0"/>
              </a:spcAft>
              <a:buClr>
                <a:schemeClr val="dk1"/>
              </a:buClr>
              <a:buSzPct val="100000"/>
              <a:buChar char="–"/>
            </a:pPr>
            <a:r>
              <a:rPr lang="en-US" dirty="0"/>
              <a:t>Books</a:t>
            </a:r>
            <a:endParaRPr/>
          </a:p>
          <a:p>
            <a:pPr marL="742950" lvl="1" indent="-285750" algn="l" rtl="0">
              <a:spcBef>
                <a:spcPts val="518"/>
              </a:spcBef>
              <a:spcAft>
                <a:spcPts val="0"/>
              </a:spcAft>
              <a:buClr>
                <a:schemeClr val="dk1"/>
              </a:buClr>
              <a:buSzPct val="100000"/>
              <a:buChar char="–"/>
            </a:pPr>
            <a:r>
              <a:rPr lang="en-US" dirty="0"/>
              <a:t>Journal, magazine, or newspaper articles</a:t>
            </a:r>
            <a:endParaRPr/>
          </a:p>
          <a:p>
            <a:pPr marL="742950" lvl="1" indent="-285750" algn="l" rtl="0">
              <a:spcBef>
                <a:spcPts val="518"/>
              </a:spcBef>
              <a:spcAft>
                <a:spcPts val="0"/>
              </a:spcAft>
              <a:buClr>
                <a:schemeClr val="dk1"/>
              </a:buClr>
              <a:buSzPct val="100000"/>
              <a:buChar char="–"/>
            </a:pPr>
            <a:r>
              <a:rPr lang="en-US" dirty="0"/>
              <a:t>Interviews</a:t>
            </a:r>
            <a:endParaRPr/>
          </a:p>
          <a:p>
            <a:pPr marL="742950" lvl="1" indent="-285750" algn="l" rtl="0">
              <a:spcBef>
                <a:spcPts val="518"/>
              </a:spcBef>
              <a:spcAft>
                <a:spcPts val="0"/>
              </a:spcAft>
              <a:buClr>
                <a:schemeClr val="dk1"/>
              </a:buClr>
              <a:buSzPct val="100000"/>
              <a:buChar char="–"/>
            </a:pPr>
            <a:r>
              <a:rPr lang="en-US" dirty="0"/>
              <a:t>Conference Proceedings</a:t>
            </a:r>
            <a:endParaRPr/>
          </a:p>
          <a:p>
            <a:pPr marL="742950" lvl="1" indent="-285750" algn="l" rtl="0">
              <a:spcBef>
                <a:spcPts val="518"/>
              </a:spcBef>
              <a:spcAft>
                <a:spcPts val="0"/>
              </a:spcAft>
              <a:buClr>
                <a:schemeClr val="dk1"/>
              </a:buClr>
              <a:buSzPct val="100000"/>
              <a:buChar char="–"/>
            </a:pPr>
            <a:r>
              <a:rPr lang="en-US" dirty="0"/>
              <a:t>Lectures</a:t>
            </a:r>
            <a:endParaRPr/>
          </a:p>
        </p:txBody>
      </p:sp>
      <p:sp>
        <p:nvSpPr>
          <p:cNvPr id="194" name="Google Shape;194;p17"/>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888888"/>
                </a:solidFill>
                <a:latin typeface="Calibri"/>
                <a:ea typeface="Calibri"/>
                <a:cs typeface="Calibri"/>
                <a:sym typeface="Calibri"/>
              </a:rPr>
              <a:t>Courtesy: Purdue Writing Lab</a:t>
            </a:r>
            <a:endParaRPr sz="1200">
              <a:solidFill>
                <a:srgbClr val="88888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Source Documentation</a:t>
            </a:r>
            <a:endParaRPr/>
          </a:p>
        </p:txBody>
      </p:sp>
      <p:sp>
        <p:nvSpPr>
          <p:cNvPr id="200" name="Google Shape;200;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Citing</a:t>
            </a:r>
            <a:endParaRPr/>
          </a:p>
          <a:p>
            <a:pPr marL="742950" lvl="1" indent="-285750" algn="l" rtl="0">
              <a:spcBef>
                <a:spcPts val="560"/>
              </a:spcBef>
              <a:spcAft>
                <a:spcPts val="0"/>
              </a:spcAft>
              <a:buClr>
                <a:schemeClr val="dk1"/>
              </a:buClr>
              <a:buSzPts val="2800"/>
              <a:buChar char="–"/>
            </a:pPr>
            <a:r>
              <a:rPr lang="en-US"/>
              <a:t>Shows your credibility as a researcher</a:t>
            </a:r>
            <a:endParaRPr/>
          </a:p>
          <a:p>
            <a:pPr marL="742950" lvl="1" indent="-285750" algn="l" rtl="0">
              <a:spcBef>
                <a:spcPts val="560"/>
              </a:spcBef>
              <a:spcAft>
                <a:spcPts val="0"/>
              </a:spcAft>
              <a:buClr>
                <a:schemeClr val="dk1"/>
              </a:buClr>
              <a:buSzPts val="2800"/>
              <a:buChar char="–"/>
            </a:pPr>
            <a:r>
              <a:rPr lang="en-US"/>
              <a:t>Gives proper credit to authors and researchers</a:t>
            </a:r>
            <a:endParaRPr/>
          </a:p>
          <a:p>
            <a:pPr marL="742950" lvl="1" indent="-285750" algn="l" rtl="0">
              <a:spcBef>
                <a:spcPts val="560"/>
              </a:spcBef>
              <a:spcAft>
                <a:spcPts val="0"/>
              </a:spcAft>
              <a:buClr>
                <a:schemeClr val="dk1"/>
              </a:buClr>
              <a:buSzPts val="2800"/>
              <a:buChar char="–"/>
            </a:pPr>
            <a:r>
              <a:rPr lang="en-US"/>
              <a:t>Protects you from accusations of plagiarism</a:t>
            </a:r>
            <a:endParaRPr/>
          </a:p>
        </p:txBody>
      </p:sp>
      <p:sp>
        <p:nvSpPr>
          <p:cNvPr id="201" name="Google Shape;201;p18"/>
          <p:cNvSpPr txBox="1"/>
          <p:nvPr/>
        </p:nvSpPr>
        <p:spPr>
          <a:xfrm>
            <a:off x="3276600" y="65087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888888"/>
                </a:solidFill>
                <a:latin typeface="Calibri"/>
                <a:ea typeface="Calibri"/>
                <a:cs typeface="Calibri"/>
                <a:sym typeface="Calibri"/>
              </a:rPr>
              <a:t>Courtesy: Purdue Writing Lab</a:t>
            </a:r>
            <a:endParaRPr sz="1200">
              <a:solidFill>
                <a:srgbClr val="88888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977</Words>
  <PresentationFormat>On-screen Show (4:3)</PresentationFormat>
  <Paragraphs>158</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Writing Engineering Reports</vt:lpstr>
      <vt:lpstr>Report Format and Organization</vt:lpstr>
      <vt:lpstr>Report Format and Organization</vt:lpstr>
      <vt:lpstr>Report Format and Organization</vt:lpstr>
      <vt:lpstr>Report Format and Organization</vt:lpstr>
      <vt:lpstr>Report Format and Organization</vt:lpstr>
      <vt:lpstr>Report Format and Organization</vt:lpstr>
      <vt:lpstr>Report Format and Organization</vt:lpstr>
      <vt:lpstr>Report Format and Organization</vt:lpstr>
      <vt:lpstr>Report Format and Organization</vt:lpstr>
      <vt:lpstr>Visual Design</vt:lpstr>
      <vt:lpstr>Visual Design</vt:lpstr>
      <vt:lpstr>Visual Design</vt:lpstr>
      <vt:lpstr>Slide 14</vt:lpstr>
      <vt:lpstr>Language and Vocabulary</vt:lpstr>
      <vt:lpstr>Source Documentation</vt:lpstr>
      <vt:lpstr>Source Documentation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Engineering Reports</dc:title>
  <dc:creator>Laila J. Jallo</dc:creator>
  <cp:lastModifiedBy>A</cp:lastModifiedBy>
  <cp:revision>2</cp:revision>
  <dcterms:created xsi:type="dcterms:W3CDTF">2006-08-16T00:00:00Z</dcterms:created>
  <dcterms:modified xsi:type="dcterms:W3CDTF">2025-10-22T06:32:40Z</dcterms:modified>
</cp:coreProperties>
</file>