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6" Type="http://schemas.openxmlformats.org/officeDocument/2006/relationships/tableStyles" Target="tableStyles.xml"/><Relationship Id="rId25" Type="http://schemas.openxmlformats.org/officeDocument/2006/relationships/viewProps" Target="viewProps.xml"/><Relationship Id="rId24" Type="http://schemas.openxmlformats.org/officeDocument/2006/relationships/presProps" Target="presProps.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2" name="Shape 2"/>
        <p:cNvGrpSpPr/>
        <p:nvPr/>
      </p:nvGrpSpPr>
      <p:grpSpPr>
        <a:xfrm>
          <a:off x="0" y="0"/>
          <a:ext cx="0" cy="0"/>
          <a:chOff x="0" y="0"/>
          <a:chExt cx="0" cy="0"/>
        </a:xfrm>
      </p:grpSpPr>
      <p:sp>
        <p:nvSpPr>
          <p:cNvPr id="3" name="Google Shape;3;n"/>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80" name="Shape 80"/>
        <p:cNvGrpSpPr/>
        <p:nvPr/>
      </p:nvGrpSpPr>
      <p:grpSpPr>
        <a:xfrm>
          <a:off x="0" y="0"/>
          <a:ext cx="0" cy="0"/>
          <a:chOff x="0" y="0"/>
          <a:chExt cx="0" cy="0"/>
        </a:xfrm>
      </p:grpSpPr>
      <p:sp>
        <p:nvSpPr>
          <p:cNvPr id="81" name="Google Shape;81;p1: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82" name="Google Shape;82;p1: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85" name="Shape 85"/>
        <p:cNvGrpSpPr/>
        <p:nvPr/>
      </p:nvGrpSpPr>
      <p:grpSpPr>
        <a:xfrm>
          <a:off x="0" y="0"/>
          <a:ext cx="0" cy="0"/>
          <a:chOff x="0" y="0"/>
          <a:chExt cx="0" cy="0"/>
        </a:xfrm>
      </p:grpSpPr>
      <p:sp>
        <p:nvSpPr>
          <p:cNvPr id="86" name="Google Shape;86;p2: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87" name="Google Shape;87;p2: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90" name="Shape 90"/>
        <p:cNvGrpSpPr/>
        <p:nvPr/>
      </p:nvGrpSpPr>
      <p:grpSpPr>
        <a:xfrm>
          <a:off x="0" y="0"/>
          <a:ext cx="0" cy="0"/>
          <a:chOff x="0" y="0"/>
          <a:chExt cx="0" cy="0"/>
        </a:xfrm>
      </p:grpSpPr>
      <p:sp>
        <p:nvSpPr>
          <p:cNvPr id="91" name="Google Shape;91;p3: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92" name="Google Shape;92;p3: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96" name="Shape 96"/>
        <p:cNvGrpSpPr/>
        <p:nvPr/>
      </p:nvGrpSpPr>
      <p:grpSpPr>
        <a:xfrm>
          <a:off x="0" y="0"/>
          <a:ext cx="0" cy="0"/>
          <a:chOff x="0" y="0"/>
          <a:chExt cx="0" cy="0"/>
        </a:xfrm>
      </p:grpSpPr>
      <p:sp>
        <p:nvSpPr>
          <p:cNvPr id="97" name="Google Shape;97;p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98" name="Google Shape;98;p4: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2" name="Shape 102"/>
        <p:cNvGrpSpPr/>
        <p:nvPr/>
      </p:nvGrpSpPr>
      <p:grpSpPr>
        <a:xfrm>
          <a:off x="0" y="0"/>
          <a:ext cx="0" cy="0"/>
          <a:chOff x="0" y="0"/>
          <a:chExt cx="0" cy="0"/>
        </a:xfrm>
      </p:grpSpPr>
      <p:sp>
        <p:nvSpPr>
          <p:cNvPr id="103" name="Google Shape;103;p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04" name="Google Shape;104;p5: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8" name="Shape 108"/>
        <p:cNvGrpSpPr/>
        <p:nvPr/>
      </p:nvGrpSpPr>
      <p:grpSpPr>
        <a:xfrm>
          <a:off x="0" y="0"/>
          <a:ext cx="0" cy="0"/>
          <a:chOff x="0" y="0"/>
          <a:chExt cx="0" cy="0"/>
        </a:xfrm>
      </p:grpSpPr>
      <p:sp>
        <p:nvSpPr>
          <p:cNvPr id="109" name="Google Shape;109;p6: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10" name="Google Shape;110;p6: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4" name="Shape 114"/>
        <p:cNvGrpSpPr/>
        <p:nvPr/>
      </p:nvGrpSpPr>
      <p:grpSpPr>
        <a:xfrm>
          <a:off x="0" y="0"/>
          <a:ext cx="0" cy="0"/>
          <a:chOff x="0" y="0"/>
          <a:chExt cx="0" cy="0"/>
        </a:xfrm>
      </p:grpSpPr>
      <p:sp>
        <p:nvSpPr>
          <p:cNvPr id="115" name="Google Shape;115;p7: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16" name="Google Shape;116;p7: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0" name="Shape 120"/>
        <p:cNvGrpSpPr/>
        <p:nvPr/>
      </p:nvGrpSpPr>
      <p:grpSpPr>
        <a:xfrm>
          <a:off x="0" y="0"/>
          <a:ext cx="0" cy="0"/>
          <a:chOff x="0" y="0"/>
          <a:chExt cx="0" cy="0"/>
        </a:xfrm>
      </p:grpSpPr>
      <p:sp>
        <p:nvSpPr>
          <p:cNvPr id="121" name="Google Shape;121;p8: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22" name="Google Shape;122;p8: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6" name="Shape 126"/>
        <p:cNvGrpSpPr/>
        <p:nvPr/>
      </p:nvGrpSpPr>
      <p:grpSpPr>
        <a:xfrm>
          <a:off x="0" y="0"/>
          <a:ext cx="0" cy="0"/>
          <a:chOff x="0" y="0"/>
          <a:chExt cx="0" cy="0"/>
        </a:xfrm>
      </p:grpSpPr>
      <p:sp>
        <p:nvSpPr>
          <p:cNvPr id="127" name="Google Shape;127;p9: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28" name="Google Shape;128;p9: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32" name="Shape 132"/>
        <p:cNvGrpSpPr/>
        <p:nvPr/>
      </p:nvGrpSpPr>
      <p:grpSpPr>
        <a:xfrm>
          <a:off x="0" y="0"/>
          <a:ext cx="0" cy="0"/>
          <a:chOff x="0" y="0"/>
          <a:chExt cx="0" cy="0"/>
        </a:xfrm>
      </p:grpSpPr>
      <p:sp>
        <p:nvSpPr>
          <p:cNvPr id="133" name="Google Shape;133;p1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34" name="Google Shape;134;p10: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38" name="Shape 138"/>
        <p:cNvGrpSpPr/>
        <p:nvPr/>
      </p:nvGrpSpPr>
      <p:grpSpPr>
        <a:xfrm>
          <a:off x="0" y="0"/>
          <a:ext cx="0" cy="0"/>
          <a:chOff x="0" y="0"/>
          <a:chExt cx="0" cy="0"/>
        </a:xfrm>
      </p:grpSpPr>
      <p:sp>
        <p:nvSpPr>
          <p:cNvPr id="139" name="Google Shape;139;p11: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40" name="Google Shape;140;p11: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44" name="Shape 144"/>
        <p:cNvGrpSpPr/>
        <p:nvPr/>
      </p:nvGrpSpPr>
      <p:grpSpPr>
        <a:xfrm>
          <a:off x="0" y="0"/>
          <a:ext cx="0" cy="0"/>
          <a:chOff x="0" y="0"/>
          <a:chExt cx="0" cy="0"/>
        </a:xfrm>
      </p:grpSpPr>
      <p:sp>
        <p:nvSpPr>
          <p:cNvPr id="145" name="Google Shape;145;p12: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46" name="Google Shape;146;p12: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50" name="Shape 150"/>
        <p:cNvGrpSpPr/>
        <p:nvPr/>
      </p:nvGrpSpPr>
      <p:grpSpPr>
        <a:xfrm>
          <a:off x="0" y="0"/>
          <a:ext cx="0" cy="0"/>
          <a:chOff x="0" y="0"/>
          <a:chExt cx="0" cy="0"/>
        </a:xfrm>
      </p:grpSpPr>
      <p:sp>
        <p:nvSpPr>
          <p:cNvPr id="151" name="Google Shape;151;p13: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52" name="Google Shape;152;p13: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56" name="Shape 156"/>
        <p:cNvGrpSpPr/>
        <p:nvPr/>
      </p:nvGrpSpPr>
      <p:grpSpPr>
        <a:xfrm>
          <a:off x="0" y="0"/>
          <a:ext cx="0" cy="0"/>
          <a:chOff x="0" y="0"/>
          <a:chExt cx="0" cy="0"/>
        </a:xfrm>
      </p:grpSpPr>
      <p:sp>
        <p:nvSpPr>
          <p:cNvPr id="157" name="Google Shape;157;p1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58" name="Google Shape;158;p14: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61" name="Shape 161"/>
        <p:cNvGrpSpPr/>
        <p:nvPr/>
      </p:nvGrpSpPr>
      <p:grpSpPr>
        <a:xfrm>
          <a:off x="0" y="0"/>
          <a:ext cx="0" cy="0"/>
          <a:chOff x="0" y="0"/>
          <a:chExt cx="0" cy="0"/>
        </a:xfrm>
      </p:grpSpPr>
      <p:sp>
        <p:nvSpPr>
          <p:cNvPr id="162" name="Google Shape;162;p1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63" name="Google Shape;163;p15: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67" name="Shape 167"/>
        <p:cNvGrpSpPr/>
        <p:nvPr/>
      </p:nvGrpSpPr>
      <p:grpSpPr>
        <a:xfrm>
          <a:off x="0" y="0"/>
          <a:ext cx="0" cy="0"/>
          <a:chOff x="0" y="0"/>
          <a:chExt cx="0" cy="0"/>
        </a:xfrm>
      </p:grpSpPr>
      <p:sp>
        <p:nvSpPr>
          <p:cNvPr id="168" name="Google Shape;168;p16: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69" name="Google Shape;169;p16: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72" name="Shape 172"/>
        <p:cNvGrpSpPr/>
        <p:nvPr/>
      </p:nvGrpSpPr>
      <p:grpSpPr>
        <a:xfrm>
          <a:off x="0" y="0"/>
          <a:ext cx="0" cy="0"/>
          <a:chOff x="0" y="0"/>
          <a:chExt cx="0" cy="0"/>
        </a:xfrm>
      </p:grpSpPr>
      <p:sp>
        <p:nvSpPr>
          <p:cNvPr id="173" name="Google Shape;173;p18: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74" name="Google Shape;174;p18: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77" name="Shape 177"/>
        <p:cNvGrpSpPr/>
        <p:nvPr/>
      </p:nvGrpSpPr>
      <p:grpSpPr>
        <a:xfrm>
          <a:off x="0" y="0"/>
          <a:ext cx="0" cy="0"/>
          <a:chOff x="0" y="0"/>
          <a:chExt cx="0" cy="0"/>
        </a:xfrm>
      </p:grpSpPr>
      <p:sp>
        <p:nvSpPr>
          <p:cNvPr id="178" name="Google Shape;178;p19: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79" name="Google Shape;179;p19: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82" name="Shape 182"/>
        <p:cNvGrpSpPr/>
        <p:nvPr/>
      </p:nvGrpSpPr>
      <p:grpSpPr>
        <a:xfrm>
          <a:off x="0" y="0"/>
          <a:ext cx="0" cy="0"/>
          <a:chOff x="0" y="0"/>
          <a:chExt cx="0" cy="0"/>
        </a:xfrm>
      </p:grpSpPr>
      <p:sp>
        <p:nvSpPr>
          <p:cNvPr id="183" name="Google Shape;183;p2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84" name="Google Shape;184;p20: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87" name="Shape 187"/>
        <p:cNvGrpSpPr/>
        <p:nvPr/>
      </p:nvGrpSpPr>
      <p:grpSpPr>
        <a:xfrm>
          <a:off x="0" y="0"/>
          <a:ext cx="0" cy="0"/>
          <a:chOff x="0" y="0"/>
          <a:chExt cx="0" cy="0"/>
        </a:xfrm>
      </p:grpSpPr>
      <p:sp>
        <p:nvSpPr>
          <p:cNvPr id="188" name="Google Shape;188;p21: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89" name="Google Shape;189;p21: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1" name="Shape 11"/>
        <p:cNvGrpSpPr/>
        <p:nvPr/>
      </p:nvGrpSpPr>
      <p:grpSpPr>
        <a:xfrm>
          <a:off x="0" y="0"/>
          <a:ext cx="0" cy="0"/>
          <a:chOff x="0" y="0"/>
          <a:chExt cx="0" cy="0"/>
        </a:xfrm>
      </p:grpSpPr>
      <p:sp>
        <p:nvSpPr>
          <p:cNvPr id="12" name="Google Shape;12;p23"/>
          <p:cNvSpPr txBox="1"/>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panose="020F0502020204030204"/>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23"/>
          <p:cNvSpPr txBox="1"/>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23"/>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23"/>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23"/>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17" name="Shape 17"/>
        <p:cNvGrpSpPr/>
        <p:nvPr/>
      </p:nvGrpSpPr>
      <p:grpSpPr>
        <a:xfrm>
          <a:off x="0" y="0"/>
          <a:ext cx="0" cy="0"/>
          <a:chOff x="0" y="0"/>
          <a:chExt cx="0" cy="0"/>
        </a:xfrm>
      </p:grpSpPr>
      <p:sp>
        <p:nvSpPr>
          <p:cNvPr id="18" name="Google Shape;18;p24"/>
          <p:cNvSpPr txBox="1"/>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24"/>
          <p:cNvSpPr txBox="1"/>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20" name="Google Shape;20;p24"/>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24"/>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24"/>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23" name="Shape 23"/>
        <p:cNvGrpSpPr/>
        <p:nvPr/>
      </p:nvGrpSpPr>
      <p:grpSpPr>
        <a:xfrm>
          <a:off x="0" y="0"/>
          <a:ext cx="0" cy="0"/>
          <a:chOff x="0" y="0"/>
          <a:chExt cx="0" cy="0"/>
        </a:xfrm>
      </p:grpSpPr>
      <p:sp>
        <p:nvSpPr>
          <p:cNvPr id="24" name="Google Shape;24;p25"/>
          <p:cNvSpPr txBox="1"/>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panose="020F0502020204030204"/>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25"/>
          <p:cNvSpPr txBox="1"/>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p:txBody>
      </p:sp>
      <p:sp>
        <p:nvSpPr>
          <p:cNvPr id="26" name="Google Shape;26;p25"/>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25"/>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25"/>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29" name="Shape 29"/>
        <p:cNvGrpSpPr/>
        <p:nvPr/>
      </p:nvGrpSpPr>
      <p:grpSpPr>
        <a:xfrm>
          <a:off x="0" y="0"/>
          <a:ext cx="0" cy="0"/>
          <a:chOff x="0" y="0"/>
          <a:chExt cx="0" cy="0"/>
        </a:xfrm>
      </p:grpSpPr>
      <p:sp>
        <p:nvSpPr>
          <p:cNvPr id="30" name="Google Shape;30;p26"/>
          <p:cNvSpPr txBox="1"/>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26"/>
          <p:cNvSpPr txBox="1"/>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32" name="Google Shape;32;p26"/>
          <p:cNvSpPr txBox="1"/>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33" name="Google Shape;33;p26"/>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26"/>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26"/>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36" name="Shape 36"/>
        <p:cNvGrpSpPr/>
        <p:nvPr/>
      </p:nvGrpSpPr>
      <p:grpSpPr>
        <a:xfrm>
          <a:off x="0" y="0"/>
          <a:ext cx="0" cy="0"/>
          <a:chOff x="0" y="0"/>
          <a:chExt cx="0" cy="0"/>
        </a:xfrm>
      </p:grpSpPr>
      <p:sp>
        <p:nvSpPr>
          <p:cNvPr id="37" name="Google Shape;37;p27"/>
          <p:cNvSpPr txBox="1"/>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27"/>
          <p:cNvSpPr txBox="1"/>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39" name="Google Shape;39;p27"/>
          <p:cNvSpPr txBox="1"/>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40" name="Google Shape;40;p27"/>
          <p:cNvSpPr txBox="1"/>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41" name="Google Shape;41;p27"/>
          <p:cNvSpPr txBox="1"/>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42" name="Google Shape;42;p27"/>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27"/>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27"/>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45" name="Shape 45"/>
        <p:cNvGrpSpPr/>
        <p:nvPr/>
      </p:nvGrpSpPr>
      <p:grpSpPr>
        <a:xfrm>
          <a:off x="0" y="0"/>
          <a:ext cx="0" cy="0"/>
          <a:chOff x="0" y="0"/>
          <a:chExt cx="0" cy="0"/>
        </a:xfrm>
      </p:grpSpPr>
      <p:sp>
        <p:nvSpPr>
          <p:cNvPr id="46" name="Google Shape;46;p28"/>
          <p:cNvSpPr txBox="1"/>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28"/>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8"/>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28"/>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50" name="Shape 50"/>
        <p:cNvGrpSpPr/>
        <p:nvPr/>
      </p:nvGrpSpPr>
      <p:grpSpPr>
        <a:xfrm>
          <a:off x="0" y="0"/>
          <a:ext cx="0" cy="0"/>
          <a:chOff x="0" y="0"/>
          <a:chExt cx="0" cy="0"/>
        </a:xfrm>
      </p:grpSpPr>
      <p:sp>
        <p:nvSpPr>
          <p:cNvPr id="51" name="Google Shape;51;p29"/>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9"/>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9"/>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54" name="Shape 54"/>
        <p:cNvGrpSpPr/>
        <p:nvPr/>
      </p:nvGrpSpPr>
      <p:grpSpPr>
        <a:xfrm>
          <a:off x="0" y="0"/>
          <a:ext cx="0" cy="0"/>
          <a:chOff x="0" y="0"/>
          <a:chExt cx="0" cy="0"/>
        </a:xfrm>
      </p:grpSpPr>
      <p:sp>
        <p:nvSpPr>
          <p:cNvPr id="55" name="Google Shape;55;p30"/>
          <p:cNvSpPr txBox="1"/>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30"/>
          <p:cNvSpPr txBox="1"/>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p:txBody>
      </p:sp>
      <p:sp>
        <p:nvSpPr>
          <p:cNvPr id="57" name="Google Shape;57;p30"/>
          <p:cNvSpPr txBox="1"/>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58" name="Google Shape;58;p30"/>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30"/>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30"/>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61" name="Shape 61"/>
        <p:cNvGrpSpPr/>
        <p:nvPr/>
      </p:nvGrpSpPr>
      <p:grpSpPr>
        <a:xfrm>
          <a:off x="0" y="0"/>
          <a:ext cx="0" cy="0"/>
          <a:chOff x="0" y="0"/>
          <a:chExt cx="0" cy="0"/>
        </a:xfrm>
      </p:grpSpPr>
      <p:sp>
        <p:nvSpPr>
          <p:cNvPr id="62" name="Google Shape;62;p31"/>
          <p:cNvSpPr txBox="1"/>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31"/>
          <p:cNvSpPr/>
          <p:nvPr>
            <p:ph type="pic" idx="2"/>
          </p:nvPr>
        </p:nvSpPr>
        <p:spPr>
          <a:xfrm>
            <a:off x="5183188" y="987425"/>
            <a:ext cx="6172200" cy="4873625"/>
          </a:xfrm>
          <a:prstGeom prst="rect">
            <a:avLst/>
          </a:prstGeom>
          <a:noFill/>
          <a:ln>
            <a:noFill/>
          </a:ln>
        </p:spPr>
      </p:sp>
      <p:sp>
        <p:nvSpPr>
          <p:cNvPr id="64" name="Google Shape;64;p31"/>
          <p:cNvSpPr txBox="1"/>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65" name="Google Shape;65;p31"/>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31"/>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31"/>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68" name="Shape 68"/>
        <p:cNvGrpSpPr/>
        <p:nvPr/>
      </p:nvGrpSpPr>
      <p:grpSpPr>
        <a:xfrm>
          <a:off x="0" y="0"/>
          <a:ext cx="0" cy="0"/>
          <a:chOff x="0" y="0"/>
          <a:chExt cx="0" cy="0"/>
        </a:xfrm>
      </p:grpSpPr>
      <p:sp>
        <p:nvSpPr>
          <p:cNvPr id="69" name="Google Shape;69;p32"/>
          <p:cNvSpPr txBox="1"/>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32"/>
          <p:cNvSpPr txBox="1"/>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71" name="Google Shape;71;p32"/>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32"/>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32"/>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74" name="Shape 74"/>
        <p:cNvGrpSpPr/>
        <p:nvPr/>
      </p:nvGrpSpPr>
      <p:grpSpPr>
        <a:xfrm>
          <a:off x="0" y="0"/>
          <a:ext cx="0" cy="0"/>
          <a:chOff x="0" y="0"/>
          <a:chExt cx="0" cy="0"/>
        </a:xfrm>
      </p:grpSpPr>
      <p:sp>
        <p:nvSpPr>
          <p:cNvPr id="75" name="Google Shape;75;p33"/>
          <p:cNvSpPr txBox="1"/>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33"/>
          <p:cNvSpPr txBox="1"/>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77" name="Google Shape;77;p33"/>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33"/>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33"/>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Google Shape;6;p22"/>
          <p:cNvSpPr txBox="1"/>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22"/>
          <p:cNvSpPr txBox="1"/>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8" name="Google Shape;8;p22"/>
          <p:cNvSpPr txBox="1"/>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9" name="Google Shape;9;p22"/>
          <p:cNvSpPr txBox="1"/>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0" name="Google Shape;10;p22"/>
          <p:cNvSpPr txBox="1"/>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83" name="Shape 83"/>
        <p:cNvGrpSpPr/>
        <p:nvPr/>
      </p:nvGrpSpPr>
      <p:grpSpPr>
        <a:xfrm>
          <a:off x="0" y="0"/>
          <a:ext cx="0" cy="0"/>
          <a:chOff x="0" y="0"/>
          <a:chExt cx="0" cy="0"/>
        </a:xfrm>
      </p:grpSpPr>
      <p:sp>
        <p:nvSpPr>
          <p:cNvPr id="84" name="Google Shape;84;p1"/>
          <p:cNvSpPr txBox="1"/>
          <p:nvPr>
            <p:ph type="ctrTitle"/>
          </p:nvPr>
        </p:nvSpPr>
        <p:spPr>
          <a:xfrm>
            <a:off x="1524000" y="1122363"/>
            <a:ext cx="9144000" cy="424605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dk1"/>
              </a:buClr>
              <a:buSzPts val="6000"/>
              <a:buFont typeface="Times New Roman" panose="02020603050405020304"/>
              <a:buNone/>
            </a:pPr>
            <a:r>
              <a:rPr lang="en-US" b="1">
                <a:latin typeface="Times New Roman" panose="02020603050405020304"/>
                <a:ea typeface="Times New Roman" panose="02020603050405020304"/>
                <a:cs typeface="Times New Roman" panose="02020603050405020304"/>
                <a:sym typeface="Times New Roman" panose="02020603050405020304"/>
              </a:rPr>
              <a:t>RM3151 </a:t>
            </a:r>
            <a:br>
              <a:rPr lang="en-US" b="1">
                <a:latin typeface="Times New Roman" panose="02020603050405020304"/>
                <a:ea typeface="Times New Roman" panose="02020603050405020304"/>
                <a:cs typeface="Times New Roman" panose="02020603050405020304"/>
                <a:sym typeface="Times New Roman" panose="02020603050405020304"/>
              </a:rPr>
            </a:br>
            <a:br>
              <a:rPr lang="en-US" b="1">
                <a:latin typeface="Times New Roman" panose="02020603050405020304"/>
                <a:ea typeface="Times New Roman" panose="02020603050405020304"/>
                <a:cs typeface="Times New Roman" panose="02020603050405020304"/>
                <a:sym typeface="Times New Roman" panose="02020603050405020304"/>
              </a:rPr>
            </a:br>
            <a:r>
              <a:rPr lang="en-US" b="1">
                <a:latin typeface="Times New Roman" panose="02020603050405020304"/>
                <a:ea typeface="Times New Roman" panose="02020603050405020304"/>
                <a:cs typeface="Times New Roman" panose="02020603050405020304"/>
                <a:sym typeface="Times New Roman" panose="02020603050405020304"/>
              </a:rPr>
              <a:t>RESEARCH METHODOLOGY AND IPR</a:t>
            </a:r>
            <a:endParaRPr lang="en-US" b="1">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88" name="Shape 88"/>
        <p:cNvGrpSpPr/>
        <p:nvPr/>
      </p:nvGrpSpPr>
      <p:grpSpPr>
        <a:xfrm>
          <a:off x="0" y="0"/>
          <a:ext cx="0" cy="0"/>
          <a:chOff x="0" y="0"/>
          <a:chExt cx="0" cy="0"/>
        </a:xfrm>
      </p:grpSpPr>
      <p:sp>
        <p:nvSpPr>
          <p:cNvPr id="89" name="Google Shape;89;p2"/>
          <p:cNvSpPr txBox="1"/>
          <p:nvPr>
            <p:ph type="title"/>
          </p:nvPr>
        </p:nvSpPr>
        <p:spPr>
          <a:xfrm>
            <a:off x="1029929" y="2415150"/>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Times New Roman" panose="02020603050405020304"/>
              <a:buNone/>
            </a:pPr>
            <a:r>
              <a:rPr lang="en-US" b="1">
                <a:latin typeface="Times New Roman" panose="02020603050405020304"/>
                <a:ea typeface="Times New Roman" panose="02020603050405020304"/>
                <a:cs typeface="Times New Roman" panose="02020603050405020304"/>
                <a:sym typeface="Times New Roman" panose="02020603050405020304"/>
              </a:rPr>
              <a:t>INTRODUCTION</a:t>
            </a:r>
            <a:endParaRPr lang="en-US" b="1">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93" name="Shape 93"/>
        <p:cNvGrpSpPr/>
        <p:nvPr/>
      </p:nvGrpSpPr>
      <p:grpSpPr>
        <a:xfrm>
          <a:off x="0" y="0"/>
          <a:ext cx="0" cy="0"/>
          <a:chOff x="0" y="0"/>
          <a:chExt cx="0" cy="0"/>
        </a:xfrm>
      </p:grpSpPr>
      <p:sp>
        <p:nvSpPr>
          <p:cNvPr id="94" name="Google Shape;94;p3"/>
          <p:cNvSpPr txBox="1"/>
          <p:nvPr>
            <p:ph type="title"/>
          </p:nvPr>
        </p:nvSpPr>
        <p:spPr>
          <a:xfrm>
            <a:off x="838200" y="365125"/>
            <a:ext cx="10515600" cy="711507"/>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Times New Roman" panose="02020603050405020304"/>
              <a:buNone/>
            </a:pPr>
            <a:r>
              <a:rPr lang="en-US" b="1">
                <a:latin typeface="Times New Roman" panose="02020603050405020304"/>
                <a:ea typeface="Times New Roman" panose="02020603050405020304"/>
                <a:cs typeface="Times New Roman" panose="02020603050405020304"/>
                <a:sym typeface="Times New Roman" panose="02020603050405020304"/>
              </a:rPr>
              <a:t>Meaning of Research</a:t>
            </a:r>
            <a:endParaRPr b="1">
              <a:latin typeface="Times New Roman" panose="02020603050405020304"/>
              <a:ea typeface="Times New Roman" panose="02020603050405020304"/>
              <a:cs typeface="Times New Roman" panose="02020603050405020304"/>
              <a:sym typeface="Times New Roman" panose="02020603050405020304"/>
            </a:endParaRPr>
          </a:p>
        </p:txBody>
      </p:sp>
      <p:sp>
        <p:nvSpPr>
          <p:cNvPr id="95" name="Google Shape;95;p3"/>
          <p:cNvSpPr txBox="1"/>
          <p:nvPr>
            <p:ph type="body" idx="1"/>
          </p:nvPr>
        </p:nvSpPr>
        <p:spPr>
          <a:xfrm>
            <a:off x="838200" y="1356851"/>
            <a:ext cx="10515600" cy="5014452"/>
          </a:xfrm>
          <a:prstGeom prst="rect">
            <a:avLst/>
          </a:prstGeom>
          <a:noFill/>
          <a:ln>
            <a:noFill/>
          </a:ln>
        </p:spPr>
        <p:txBody>
          <a:bodyPr spcFirstLastPara="1" wrap="square" lIns="91425" tIns="45700" rIns="91425" bIns="45700" anchor="t" anchorCtr="0">
            <a:normAutofit fontScale="85000" lnSpcReduction="20000"/>
          </a:bodyPr>
          <a:lstStyle/>
          <a:p>
            <a:pPr marL="228600" lvl="0" indent="-228600" algn="just" rtl="0">
              <a:lnSpc>
                <a:spcPct val="90000"/>
              </a:lnSpc>
              <a:spcBef>
                <a:spcPts val="0"/>
              </a:spcBef>
              <a:spcAft>
                <a:spcPts val="0"/>
              </a:spcAft>
              <a:buClr>
                <a:schemeClr val="dk1"/>
              </a:buClr>
              <a:buSzPct val="100000"/>
              <a:buChar char="•"/>
            </a:pPr>
            <a:r>
              <a:rPr lang="en-US" sz="3500">
                <a:latin typeface="Times New Roman" panose="02020603050405020304"/>
                <a:ea typeface="Times New Roman" panose="02020603050405020304"/>
                <a:cs typeface="Times New Roman" panose="02020603050405020304"/>
                <a:sym typeface="Times New Roman" panose="02020603050405020304"/>
              </a:rPr>
              <a:t>As per  Advanced Learner’s Dictionary of Current English  “A careful investigation or inquiry specially through search for new facts in any branch of knowledge.”</a:t>
            </a:r>
            <a:endParaRPr sz="3500" b="0">
              <a:latin typeface="Times New Roman" panose="02020603050405020304"/>
              <a:ea typeface="Times New Roman" panose="02020603050405020304"/>
              <a:cs typeface="Times New Roman" panose="02020603050405020304"/>
              <a:sym typeface="Times New Roman" panose="02020603050405020304"/>
            </a:endParaRPr>
          </a:p>
          <a:p>
            <a:pPr marL="228600" lvl="0" indent="-228600" algn="just" rtl="0">
              <a:lnSpc>
                <a:spcPct val="90000"/>
              </a:lnSpc>
              <a:spcBef>
                <a:spcPts val="1000"/>
              </a:spcBef>
              <a:spcAft>
                <a:spcPts val="0"/>
              </a:spcAft>
              <a:buClr>
                <a:schemeClr val="dk1"/>
              </a:buClr>
              <a:buSzPct val="100000"/>
              <a:buChar char="•"/>
            </a:pPr>
            <a:r>
              <a:rPr lang="en-US" sz="3500">
                <a:latin typeface="Times New Roman" panose="02020603050405020304"/>
                <a:ea typeface="Times New Roman" panose="02020603050405020304"/>
                <a:cs typeface="Times New Roman" panose="02020603050405020304"/>
                <a:sym typeface="Times New Roman" panose="02020603050405020304"/>
              </a:rPr>
              <a:t>Redman and Mory define research as a “Systematized effort to gain new knowledge.”</a:t>
            </a:r>
            <a:endParaRPr sz="3500" b="0">
              <a:latin typeface="Times New Roman" panose="02020603050405020304"/>
              <a:ea typeface="Times New Roman" panose="02020603050405020304"/>
              <a:cs typeface="Times New Roman" panose="02020603050405020304"/>
              <a:sym typeface="Times New Roman" panose="02020603050405020304"/>
            </a:endParaRPr>
          </a:p>
          <a:p>
            <a:pPr marL="228600" lvl="0" indent="-228600" algn="just" rtl="0">
              <a:lnSpc>
                <a:spcPct val="90000"/>
              </a:lnSpc>
              <a:spcBef>
                <a:spcPts val="1000"/>
              </a:spcBef>
              <a:spcAft>
                <a:spcPts val="0"/>
              </a:spcAft>
              <a:buClr>
                <a:schemeClr val="dk1"/>
              </a:buClr>
              <a:buSzPct val="100000"/>
              <a:buChar char="•"/>
            </a:pPr>
            <a:r>
              <a:rPr lang="en-US" sz="3500">
                <a:latin typeface="Times New Roman" panose="02020603050405020304"/>
                <a:ea typeface="Times New Roman" panose="02020603050405020304"/>
                <a:cs typeface="Times New Roman" panose="02020603050405020304"/>
                <a:sym typeface="Times New Roman" panose="02020603050405020304"/>
              </a:rPr>
              <a:t>Some other definitions are </a:t>
            </a:r>
            <a:endParaRPr sz="3500" b="0">
              <a:latin typeface="Times New Roman" panose="02020603050405020304"/>
              <a:ea typeface="Times New Roman" panose="02020603050405020304"/>
              <a:cs typeface="Times New Roman" panose="02020603050405020304"/>
              <a:sym typeface="Times New Roman" panose="02020603050405020304"/>
            </a:endParaRPr>
          </a:p>
          <a:p>
            <a:pPr marL="228600" lvl="0" indent="-228600" algn="just" rtl="0">
              <a:lnSpc>
                <a:spcPct val="90000"/>
              </a:lnSpc>
              <a:spcBef>
                <a:spcPts val="1000"/>
              </a:spcBef>
              <a:spcAft>
                <a:spcPts val="0"/>
              </a:spcAft>
              <a:buClr>
                <a:schemeClr val="dk1"/>
              </a:buClr>
              <a:buSzPct val="100000"/>
              <a:buChar char="•"/>
            </a:pPr>
            <a:r>
              <a:rPr lang="en-US" sz="3500">
                <a:latin typeface="Times New Roman" panose="02020603050405020304"/>
                <a:ea typeface="Times New Roman" panose="02020603050405020304"/>
                <a:cs typeface="Times New Roman" panose="02020603050405020304"/>
                <a:sym typeface="Times New Roman" panose="02020603050405020304"/>
              </a:rPr>
              <a:t>“A movement from the known to the unknown. It is actually a voyage of discovery.”</a:t>
            </a:r>
            <a:endParaRPr sz="3500" b="0">
              <a:latin typeface="Times New Roman" panose="02020603050405020304"/>
              <a:ea typeface="Times New Roman" panose="02020603050405020304"/>
              <a:cs typeface="Times New Roman" panose="02020603050405020304"/>
              <a:sym typeface="Times New Roman" panose="02020603050405020304"/>
            </a:endParaRPr>
          </a:p>
          <a:p>
            <a:pPr marL="228600" lvl="0" indent="-228600" algn="just" rtl="0">
              <a:lnSpc>
                <a:spcPct val="90000"/>
              </a:lnSpc>
              <a:spcBef>
                <a:spcPts val="1000"/>
              </a:spcBef>
              <a:spcAft>
                <a:spcPts val="0"/>
              </a:spcAft>
              <a:buClr>
                <a:schemeClr val="dk1"/>
              </a:buClr>
              <a:buSzPct val="100000"/>
              <a:buChar char="•"/>
            </a:pPr>
            <a:r>
              <a:rPr lang="en-US" sz="3500">
                <a:latin typeface="Times New Roman" panose="02020603050405020304"/>
                <a:ea typeface="Times New Roman" panose="02020603050405020304"/>
                <a:cs typeface="Times New Roman" panose="02020603050405020304"/>
                <a:sym typeface="Times New Roman" panose="02020603050405020304"/>
              </a:rPr>
              <a:t>“As a scientific and systematic search for pertinent information on a specific topic. In fact,  research is an art of scientific investigation.”</a:t>
            </a:r>
            <a:endParaRPr sz="3500" b="0">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lnSpc>
                <a:spcPct val="90000"/>
              </a:lnSpc>
              <a:spcBef>
                <a:spcPts val="1000"/>
              </a:spcBef>
              <a:spcAft>
                <a:spcPts val="0"/>
              </a:spcAft>
              <a:buClr>
                <a:schemeClr val="dk1"/>
              </a:buClr>
              <a:buSzPct val="100000"/>
              <a:buNone/>
            </a:pPr>
            <a:br>
              <a:rPr lang="en-US" sz="3500">
                <a:latin typeface="Times New Roman" panose="02020603050405020304"/>
                <a:ea typeface="Times New Roman" panose="02020603050405020304"/>
                <a:cs typeface="Times New Roman" panose="02020603050405020304"/>
                <a:sym typeface="Times New Roman" panose="02020603050405020304"/>
              </a:rPr>
            </a:br>
            <a:endParaRPr sz="3500">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99" name="Shape 99"/>
        <p:cNvGrpSpPr/>
        <p:nvPr/>
      </p:nvGrpSpPr>
      <p:grpSpPr>
        <a:xfrm>
          <a:off x="0" y="0"/>
          <a:ext cx="0" cy="0"/>
          <a:chOff x="0" y="0"/>
          <a:chExt cx="0" cy="0"/>
        </a:xfrm>
      </p:grpSpPr>
      <p:sp>
        <p:nvSpPr>
          <p:cNvPr id="100" name="Google Shape;100;p4"/>
          <p:cNvSpPr txBox="1"/>
          <p:nvPr>
            <p:ph type="title"/>
          </p:nvPr>
        </p:nvSpPr>
        <p:spPr>
          <a:xfrm>
            <a:off x="838200" y="188145"/>
            <a:ext cx="10515600" cy="726256"/>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Times New Roman" panose="02020603050405020304"/>
              <a:buNone/>
            </a:pPr>
            <a:r>
              <a:rPr lang="en-US" b="1">
                <a:latin typeface="Times New Roman" panose="02020603050405020304"/>
                <a:ea typeface="Times New Roman" panose="02020603050405020304"/>
                <a:cs typeface="Times New Roman" panose="02020603050405020304"/>
                <a:sym typeface="Times New Roman" panose="02020603050405020304"/>
              </a:rPr>
              <a:t>Objective </a:t>
            </a:r>
            <a:endParaRPr>
              <a:latin typeface="Times New Roman" panose="02020603050405020304"/>
              <a:ea typeface="Times New Roman" panose="02020603050405020304"/>
              <a:cs typeface="Times New Roman" panose="02020603050405020304"/>
              <a:sym typeface="Times New Roman" panose="02020603050405020304"/>
            </a:endParaRPr>
          </a:p>
        </p:txBody>
      </p:sp>
      <p:sp>
        <p:nvSpPr>
          <p:cNvPr id="101" name="Google Shape;101;p4"/>
          <p:cNvSpPr txBox="1"/>
          <p:nvPr>
            <p:ph type="body" idx="1"/>
          </p:nvPr>
        </p:nvSpPr>
        <p:spPr>
          <a:xfrm>
            <a:off x="838200" y="914400"/>
            <a:ext cx="10515600" cy="5722373"/>
          </a:xfrm>
          <a:prstGeom prst="rect">
            <a:avLst/>
          </a:prstGeom>
          <a:noFill/>
          <a:ln>
            <a:noFill/>
          </a:ln>
        </p:spPr>
        <p:txBody>
          <a:bodyPr spcFirstLastPara="1" wrap="square" lIns="91425" tIns="45700" rIns="91425" bIns="45700" anchor="t" anchorCtr="0">
            <a:normAutofit fontScale="77500" lnSpcReduction="20000"/>
          </a:bodyPr>
          <a:lstStyle/>
          <a:p>
            <a:pPr marL="400050" lvl="0" indent="-420370" algn="l" rtl="0">
              <a:lnSpc>
                <a:spcPct val="90000"/>
              </a:lnSpc>
              <a:spcBef>
                <a:spcPts val="0"/>
              </a:spcBef>
              <a:spcAft>
                <a:spcPts val="0"/>
              </a:spcAft>
              <a:buClr>
                <a:schemeClr val="dk1"/>
              </a:buClr>
              <a:buSzPct val="100000"/>
              <a:buChar char="•"/>
            </a:pPr>
            <a:r>
              <a:rPr lang="en-US" sz="3900">
                <a:latin typeface="Times New Roman" panose="02020603050405020304"/>
                <a:ea typeface="Times New Roman" panose="02020603050405020304"/>
                <a:cs typeface="Times New Roman" panose="02020603050405020304"/>
                <a:sym typeface="Times New Roman" panose="02020603050405020304"/>
              </a:rPr>
              <a:t>The main aim of the research is to find out the truth which is hidden and which has not been discovered as yet. </a:t>
            </a:r>
            <a:endParaRPr sz="3900" b="0">
              <a:latin typeface="Times New Roman" panose="02020603050405020304"/>
              <a:ea typeface="Times New Roman" panose="02020603050405020304"/>
              <a:cs typeface="Times New Roman" panose="02020603050405020304"/>
              <a:sym typeface="Times New Roman" panose="02020603050405020304"/>
            </a:endParaRPr>
          </a:p>
          <a:p>
            <a:pPr marL="400050" lvl="0" indent="-420370" algn="l" rtl="0">
              <a:lnSpc>
                <a:spcPct val="90000"/>
              </a:lnSpc>
              <a:spcBef>
                <a:spcPts val="1000"/>
              </a:spcBef>
              <a:spcAft>
                <a:spcPts val="0"/>
              </a:spcAft>
              <a:buClr>
                <a:schemeClr val="dk1"/>
              </a:buClr>
              <a:buSzPct val="100000"/>
              <a:buChar char="•"/>
            </a:pPr>
            <a:r>
              <a:rPr lang="en-US" sz="3900">
                <a:latin typeface="Times New Roman" panose="02020603050405020304"/>
                <a:ea typeface="Times New Roman" panose="02020603050405020304"/>
                <a:cs typeface="Times New Roman" panose="02020603050405020304"/>
                <a:sym typeface="Times New Roman" panose="02020603050405020304"/>
              </a:rPr>
              <a:t>The research objectives that may fall  into the following broad groupings:</a:t>
            </a:r>
            <a:endParaRPr sz="3900" b="0">
              <a:latin typeface="Times New Roman" panose="02020603050405020304"/>
              <a:ea typeface="Times New Roman" panose="02020603050405020304"/>
              <a:cs typeface="Times New Roman" panose="02020603050405020304"/>
              <a:sym typeface="Times New Roman" panose="02020603050405020304"/>
            </a:endParaRPr>
          </a:p>
          <a:p>
            <a:pPr marL="914400" lvl="0" indent="-477520" algn="just" rtl="0">
              <a:lnSpc>
                <a:spcPct val="90000"/>
              </a:lnSpc>
              <a:spcBef>
                <a:spcPts val="1000"/>
              </a:spcBef>
              <a:spcAft>
                <a:spcPts val="0"/>
              </a:spcAft>
              <a:buClr>
                <a:schemeClr val="dk1"/>
              </a:buClr>
              <a:buSzPct val="100000"/>
              <a:buFont typeface="Calibri" panose="020F0502020204030204"/>
              <a:buAutoNum type="arabicPeriod"/>
            </a:pPr>
            <a:r>
              <a:rPr lang="en-US" sz="3900">
                <a:latin typeface="Times New Roman" panose="02020603050405020304"/>
                <a:ea typeface="Times New Roman" panose="02020603050405020304"/>
                <a:cs typeface="Times New Roman" panose="02020603050405020304"/>
                <a:sym typeface="Times New Roman" panose="02020603050405020304"/>
              </a:rPr>
              <a:t>To gain familiarity with a phenomenon or to achieve new insights into it. Ex. Exploratory or </a:t>
            </a:r>
            <a:r>
              <a:rPr lang="en-US" sz="3900">
                <a:latin typeface="Times New Roman" panose="02020603050405020304"/>
                <a:ea typeface="Times New Roman" panose="02020603050405020304"/>
                <a:cs typeface="Times New Roman" panose="02020603050405020304"/>
                <a:sym typeface="Times New Roman" panose="02020603050405020304"/>
              </a:rPr>
              <a:t>Formulative</a:t>
            </a:r>
            <a:r>
              <a:rPr lang="en-US" sz="3900">
                <a:latin typeface="Times New Roman" panose="02020603050405020304"/>
                <a:ea typeface="Times New Roman" panose="02020603050405020304"/>
                <a:cs typeface="Times New Roman" panose="02020603050405020304"/>
                <a:sym typeface="Times New Roman" panose="02020603050405020304"/>
              </a:rPr>
              <a:t> research studies. </a:t>
            </a:r>
            <a:endParaRPr lang="en-US" sz="3900">
              <a:latin typeface="Times New Roman" panose="02020603050405020304"/>
              <a:ea typeface="Times New Roman" panose="02020603050405020304"/>
              <a:cs typeface="Times New Roman" panose="02020603050405020304"/>
              <a:sym typeface="Times New Roman" panose="02020603050405020304"/>
            </a:endParaRPr>
          </a:p>
          <a:p>
            <a:pPr marL="914400" lvl="0" indent="-477520" algn="just" rtl="0">
              <a:lnSpc>
                <a:spcPct val="90000"/>
              </a:lnSpc>
              <a:spcBef>
                <a:spcPts val="1000"/>
              </a:spcBef>
              <a:spcAft>
                <a:spcPts val="0"/>
              </a:spcAft>
              <a:buClr>
                <a:schemeClr val="dk1"/>
              </a:buClr>
              <a:buSzPct val="100000"/>
              <a:buFont typeface="Calibri" panose="020F0502020204030204"/>
              <a:buAutoNum type="arabicPeriod"/>
            </a:pPr>
            <a:r>
              <a:rPr lang="en-US" sz="3900">
                <a:latin typeface="Times New Roman" panose="02020603050405020304"/>
                <a:ea typeface="Times New Roman" panose="02020603050405020304"/>
                <a:cs typeface="Times New Roman" panose="02020603050405020304"/>
                <a:sym typeface="Times New Roman" panose="02020603050405020304"/>
              </a:rPr>
              <a:t>To portray accurately the characteristics of a particular individual, situation or a group. Ex. Descriptive research studies</a:t>
            </a:r>
            <a:endParaRPr sz="3900" b="0">
              <a:latin typeface="Times New Roman" panose="02020603050405020304"/>
              <a:ea typeface="Times New Roman" panose="02020603050405020304"/>
              <a:cs typeface="Times New Roman" panose="02020603050405020304"/>
              <a:sym typeface="Times New Roman" panose="02020603050405020304"/>
            </a:endParaRPr>
          </a:p>
          <a:p>
            <a:pPr marL="914400" lvl="0" indent="-477520" algn="just" rtl="0">
              <a:lnSpc>
                <a:spcPct val="90000"/>
              </a:lnSpc>
              <a:spcBef>
                <a:spcPts val="1000"/>
              </a:spcBef>
              <a:spcAft>
                <a:spcPts val="0"/>
              </a:spcAft>
              <a:buClr>
                <a:schemeClr val="dk1"/>
              </a:buClr>
              <a:buSzPct val="100000"/>
              <a:buFont typeface="Calibri" panose="020F0502020204030204"/>
              <a:buAutoNum type="arabicPeriod"/>
            </a:pPr>
            <a:r>
              <a:rPr lang="en-US" sz="3900">
                <a:latin typeface="Times New Roman" panose="02020603050405020304"/>
                <a:ea typeface="Times New Roman" panose="02020603050405020304"/>
                <a:cs typeface="Times New Roman" panose="02020603050405020304"/>
                <a:sym typeface="Times New Roman" panose="02020603050405020304"/>
              </a:rPr>
              <a:t>To determine the frequency with which something occurs or with which it is associated with something else.  Ex. Diagnostic research studies.  </a:t>
            </a:r>
            <a:endParaRPr sz="3900" b="0">
              <a:latin typeface="Times New Roman" panose="02020603050405020304"/>
              <a:ea typeface="Times New Roman" panose="02020603050405020304"/>
              <a:cs typeface="Times New Roman" panose="02020603050405020304"/>
              <a:sym typeface="Times New Roman" panose="02020603050405020304"/>
            </a:endParaRPr>
          </a:p>
          <a:p>
            <a:pPr marL="914400" lvl="0" indent="-477520" algn="just" rtl="0">
              <a:lnSpc>
                <a:spcPct val="90000"/>
              </a:lnSpc>
              <a:spcBef>
                <a:spcPts val="1000"/>
              </a:spcBef>
              <a:spcAft>
                <a:spcPts val="0"/>
              </a:spcAft>
              <a:buClr>
                <a:schemeClr val="dk1"/>
              </a:buClr>
              <a:buSzPct val="100000"/>
              <a:buFont typeface="Calibri" panose="020F0502020204030204"/>
              <a:buAutoNum type="arabicPeriod"/>
            </a:pPr>
            <a:r>
              <a:rPr lang="en-US" sz="3900">
                <a:latin typeface="Times New Roman" panose="02020603050405020304"/>
                <a:ea typeface="Times New Roman" panose="02020603050405020304"/>
                <a:cs typeface="Times New Roman" panose="02020603050405020304"/>
                <a:sym typeface="Times New Roman" panose="02020603050405020304"/>
              </a:rPr>
              <a:t>To test a hypothesis of a causal relationship between variables. Ex. hypothesis-testing research studies.</a:t>
            </a:r>
            <a:endParaRPr lang="en-US" sz="3900">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05" name="Shape 105"/>
        <p:cNvGrpSpPr/>
        <p:nvPr/>
      </p:nvGrpSpPr>
      <p:grpSpPr>
        <a:xfrm>
          <a:off x="0" y="0"/>
          <a:ext cx="0" cy="0"/>
          <a:chOff x="0" y="0"/>
          <a:chExt cx="0" cy="0"/>
        </a:xfrm>
      </p:grpSpPr>
      <p:sp>
        <p:nvSpPr>
          <p:cNvPr id="106" name="Google Shape;106;p5"/>
          <p:cNvSpPr txBox="1"/>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Times New Roman" panose="02020603050405020304"/>
              <a:buNone/>
            </a:pPr>
            <a:r>
              <a:rPr lang="en-US" b="1">
                <a:latin typeface="Times New Roman" panose="02020603050405020304"/>
                <a:ea typeface="Times New Roman" panose="02020603050405020304"/>
                <a:cs typeface="Times New Roman" panose="02020603050405020304"/>
                <a:sym typeface="Times New Roman" panose="02020603050405020304"/>
              </a:rPr>
              <a:t>Motivation in Research</a:t>
            </a:r>
            <a:endParaRPr lang="en-US" b="1">
              <a:latin typeface="Times New Roman" panose="02020603050405020304"/>
              <a:ea typeface="Times New Roman" panose="02020603050405020304"/>
              <a:cs typeface="Times New Roman" panose="02020603050405020304"/>
              <a:sym typeface="Times New Roman" panose="02020603050405020304"/>
            </a:endParaRPr>
          </a:p>
        </p:txBody>
      </p:sp>
      <p:sp>
        <p:nvSpPr>
          <p:cNvPr id="107" name="Google Shape;107;p5"/>
          <p:cNvSpPr txBox="1"/>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800"/>
              <a:buNone/>
            </a:pPr>
          </a:p>
          <a:p>
            <a:pPr marL="0" lvl="0" indent="0" algn="l" rtl="0">
              <a:lnSpc>
                <a:spcPct val="90000"/>
              </a:lnSpc>
              <a:spcBef>
                <a:spcPts val="1000"/>
              </a:spcBef>
              <a:spcAft>
                <a:spcPts val="0"/>
              </a:spcAft>
              <a:buClr>
                <a:schemeClr val="dk1"/>
              </a:buClr>
              <a:buSzPts val="2800"/>
              <a:buNone/>
            </a:pPr>
          </a:p>
          <a:p>
            <a:pPr marL="0" lvl="0" indent="0" algn="l" rtl="0">
              <a:lnSpc>
                <a:spcPct val="90000"/>
              </a:lnSpc>
              <a:spcBef>
                <a:spcPts val="1000"/>
              </a:spcBef>
              <a:spcAft>
                <a:spcPts val="0"/>
              </a:spcAft>
              <a:buClr>
                <a:schemeClr val="dk1"/>
              </a:buClr>
              <a:buSzPts val="2800"/>
              <a:buNone/>
            </a:pPr>
          </a:p>
          <a:p>
            <a:pPr marL="0" lvl="0" indent="0" algn="ctr" rtl="0">
              <a:lnSpc>
                <a:spcPct val="90000"/>
              </a:lnSpc>
              <a:spcBef>
                <a:spcPts val="1000"/>
              </a:spcBef>
              <a:spcAft>
                <a:spcPts val="0"/>
              </a:spcAft>
              <a:buClr>
                <a:schemeClr val="dk1"/>
              </a:buClr>
              <a:buSzPts val="10000"/>
              <a:buNone/>
            </a:pPr>
            <a:r>
              <a:rPr lang="en-US" sz="10000">
                <a:latin typeface="Times New Roman" panose="02020603050405020304"/>
                <a:ea typeface="Times New Roman" panose="02020603050405020304"/>
                <a:cs typeface="Times New Roman" panose="02020603050405020304"/>
                <a:sym typeface="Times New Roman" panose="02020603050405020304"/>
              </a:rPr>
              <a:t>? ? ? ?</a:t>
            </a:r>
            <a:endParaRPr sz="10000">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11" name="Shape 111"/>
        <p:cNvGrpSpPr/>
        <p:nvPr/>
      </p:nvGrpSpPr>
      <p:grpSpPr>
        <a:xfrm>
          <a:off x="0" y="0"/>
          <a:ext cx="0" cy="0"/>
          <a:chOff x="0" y="0"/>
          <a:chExt cx="0" cy="0"/>
        </a:xfrm>
      </p:grpSpPr>
      <p:sp>
        <p:nvSpPr>
          <p:cNvPr id="112" name="Google Shape;112;p6"/>
          <p:cNvSpPr txBox="1"/>
          <p:nvPr>
            <p:ph type="title"/>
          </p:nvPr>
        </p:nvSpPr>
        <p:spPr>
          <a:xfrm>
            <a:off x="838200" y="188144"/>
            <a:ext cx="10515600" cy="93273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Times New Roman" panose="02020603050405020304"/>
              <a:buNone/>
            </a:pPr>
            <a:r>
              <a:rPr lang="en-US" b="1">
                <a:latin typeface="Times New Roman" panose="02020603050405020304"/>
                <a:ea typeface="Times New Roman" panose="02020603050405020304"/>
                <a:cs typeface="Times New Roman" panose="02020603050405020304"/>
                <a:sym typeface="Times New Roman" panose="02020603050405020304"/>
              </a:rPr>
              <a:t>Motivation in Research</a:t>
            </a:r>
            <a:endParaRPr>
              <a:latin typeface="Times New Roman" panose="02020603050405020304"/>
              <a:ea typeface="Times New Roman" panose="02020603050405020304"/>
              <a:cs typeface="Times New Roman" panose="02020603050405020304"/>
              <a:sym typeface="Times New Roman" panose="02020603050405020304"/>
            </a:endParaRPr>
          </a:p>
        </p:txBody>
      </p:sp>
      <p:sp>
        <p:nvSpPr>
          <p:cNvPr id="113" name="Google Shape;113;p6"/>
          <p:cNvSpPr txBox="1"/>
          <p:nvPr>
            <p:ph type="body" idx="1"/>
          </p:nvPr>
        </p:nvSpPr>
        <p:spPr>
          <a:xfrm>
            <a:off x="985684" y="1120878"/>
            <a:ext cx="10515600" cy="5368412"/>
          </a:xfrm>
          <a:prstGeom prst="rect">
            <a:avLst/>
          </a:prstGeom>
          <a:noFill/>
          <a:ln>
            <a:noFill/>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None/>
            </a:pPr>
            <a:r>
              <a:rPr lang="en-US" sz="3000">
                <a:latin typeface="Times New Roman" panose="02020603050405020304"/>
                <a:ea typeface="Times New Roman" panose="02020603050405020304"/>
                <a:cs typeface="Times New Roman" panose="02020603050405020304"/>
                <a:sym typeface="Times New Roman" panose="02020603050405020304"/>
              </a:rPr>
              <a:t>The possible motives for doing research may be either one or more of the following:</a:t>
            </a:r>
            <a:endParaRPr sz="3000" b="0">
              <a:latin typeface="Times New Roman" panose="02020603050405020304"/>
              <a:ea typeface="Times New Roman" panose="02020603050405020304"/>
              <a:cs typeface="Times New Roman" panose="02020603050405020304"/>
              <a:sym typeface="Times New Roman" panose="02020603050405020304"/>
            </a:endParaRPr>
          </a:p>
          <a:p>
            <a:pPr marL="571500" lvl="0" indent="-419100" algn="l" rtl="0">
              <a:lnSpc>
                <a:spcPct val="90000"/>
              </a:lnSpc>
              <a:spcBef>
                <a:spcPts val="1000"/>
              </a:spcBef>
              <a:spcAft>
                <a:spcPts val="0"/>
              </a:spcAft>
              <a:buClr>
                <a:schemeClr val="dk1"/>
              </a:buClr>
              <a:buSzPts val="3000"/>
              <a:buChar char="•"/>
            </a:pPr>
            <a:r>
              <a:rPr lang="en-US" sz="3000">
                <a:latin typeface="Times New Roman" panose="02020603050405020304"/>
                <a:ea typeface="Times New Roman" panose="02020603050405020304"/>
                <a:cs typeface="Times New Roman" panose="02020603050405020304"/>
                <a:sym typeface="Times New Roman" panose="02020603050405020304"/>
              </a:rPr>
              <a:t>Desire to get a research degree along with its consequential benefits.</a:t>
            </a:r>
            <a:endParaRPr lang="en-US" sz="3000">
              <a:latin typeface="Times New Roman" panose="02020603050405020304"/>
              <a:ea typeface="Times New Roman" panose="02020603050405020304"/>
              <a:cs typeface="Times New Roman" panose="02020603050405020304"/>
              <a:sym typeface="Times New Roman" panose="02020603050405020304"/>
            </a:endParaRPr>
          </a:p>
          <a:p>
            <a:pPr marL="571500" lvl="0" indent="-419100" algn="l" rtl="0">
              <a:lnSpc>
                <a:spcPct val="90000"/>
              </a:lnSpc>
              <a:spcBef>
                <a:spcPts val="1000"/>
              </a:spcBef>
              <a:spcAft>
                <a:spcPts val="0"/>
              </a:spcAft>
              <a:buClr>
                <a:schemeClr val="dk1"/>
              </a:buClr>
              <a:buSzPts val="3000"/>
              <a:buChar char="•"/>
            </a:pPr>
            <a:r>
              <a:rPr lang="en-US" sz="3000">
                <a:latin typeface="Times New Roman" panose="02020603050405020304"/>
                <a:ea typeface="Times New Roman" panose="02020603050405020304"/>
                <a:cs typeface="Times New Roman" panose="02020603050405020304"/>
                <a:sym typeface="Times New Roman" panose="02020603050405020304"/>
              </a:rPr>
              <a:t>Desire to face the challenge in solving the unsolved problems, i.e., concern over practical problems initiates research.</a:t>
            </a:r>
            <a:endParaRPr lang="en-US" sz="3000">
              <a:latin typeface="Times New Roman" panose="02020603050405020304"/>
              <a:ea typeface="Times New Roman" panose="02020603050405020304"/>
              <a:cs typeface="Times New Roman" panose="02020603050405020304"/>
              <a:sym typeface="Times New Roman" panose="02020603050405020304"/>
            </a:endParaRPr>
          </a:p>
          <a:p>
            <a:pPr marL="571500" lvl="0" indent="-419100" algn="l" rtl="0">
              <a:lnSpc>
                <a:spcPct val="90000"/>
              </a:lnSpc>
              <a:spcBef>
                <a:spcPts val="1000"/>
              </a:spcBef>
              <a:spcAft>
                <a:spcPts val="0"/>
              </a:spcAft>
              <a:buClr>
                <a:schemeClr val="dk1"/>
              </a:buClr>
              <a:buSzPts val="3000"/>
              <a:buChar char="•"/>
            </a:pPr>
            <a:r>
              <a:rPr lang="en-US" sz="3000">
                <a:latin typeface="Times New Roman" panose="02020603050405020304"/>
                <a:ea typeface="Times New Roman" panose="02020603050405020304"/>
                <a:cs typeface="Times New Roman" panose="02020603050405020304"/>
                <a:sym typeface="Times New Roman" panose="02020603050405020304"/>
              </a:rPr>
              <a:t>Desire to get intellectual joy from doing some creative work.</a:t>
            </a:r>
            <a:endParaRPr lang="en-US" sz="3000">
              <a:latin typeface="Times New Roman" panose="02020603050405020304"/>
              <a:ea typeface="Times New Roman" panose="02020603050405020304"/>
              <a:cs typeface="Times New Roman" panose="02020603050405020304"/>
              <a:sym typeface="Times New Roman" panose="02020603050405020304"/>
            </a:endParaRPr>
          </a:p>
          <a:p>
            <a:pPr marL="571500" lvl="0" indent="-419100" algn="l" rtl="0">
              <a:lnSpc>
                <a:spcPct val="90000"/>
              </a:lnSpc>
              <a:spcBef>
                <a:spcPts val="1000"/>
              </a:spcBef>
              <a:spcAft>
                <a:spcPts val="0"/>
              </a:spcAft>
              <a:buClr>
                <a:schemeClr val="dk1"/>
              </a:buClr>
              <a:buSzPts val="3000"/>
              <a:buChar char="•"/>
            </a:pPr>
            <a:r>
              <a:rPr lang="en-US" sz="3000">
                <a:latin typeface="Times New Roman" panose="02020603050405020304"/>
                <a:ea typeface="Times New Roman" panose="02020603050405020304"/>
                <a:cs typeface="Times New Roman" panose="02020603050405020304"/>
                <a:sym typeface="Times New Roman" panose="02020603050405020304"/>
              </a:rPr>
              <a:t>Desire to be of service to society.</a:t>
            </a:r>
            <a:endParaRPr lang="en-US" sz="3000">
              <a:latin typeface="Times New Roman" panose="02020603050405020304"/>
              <a:ea typeface="Times New Roman" panose="02020603050405020304"/>
              <a:cs typeface="Times New Roman" panose="02020603050405020304"/>
              <a:sym typeface="Times New Roman" panose="02020603050405020304"/>
            </a:endParaRPr>
          </a:p>
          <a:p>
            <a:pPr marL="571500" lvl="0" indent="-419100" algn="l" rtl="0">
              <a:lnSpc>
                <a:spcPct val="90000"/>
              </a:lnSpc>
              <a:spcBef>
                <a:spcPts val="1000"/>
              </a:spcBef>
              <a:spcAft>
                <a:spcPts val="0"/>
              </a:spcAft>
              <a:buClr>
                <a:schemeClr val="dk1"/>
              </a:buClr>
              <a:buSzPts val="3000"/>
              <a:buChar char="•"/>
            </a:pPr>
            <a:r>
              <a:rPr lang="en-US" sz="3000">
                <a:latin typeface="Times New Roman" panose="02020603050405020304"/>
                <a:ea typeface="Times New Roman" panose="02020603050405020304"/>
                <a:cs typeface="Times New Roman" panose="02020603050405020304"/>
                <a:sym typeface="Times New Roman" panose="02020603050405020304"/>
              </a:rPr>
              <a:t>Desire to get respectability.</a:t>
            </a:r>
            <a:endParaRPr sz="3000">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17" name="Shape 117"/>
        <p:cNvGrpSpPr/>
        <p:nvPr/>
      </p:nvGrpSpPr>
      <p:grpSpPr>
        <a:xfrm>
          <a:off x="0" y="0"/>
          <a:ext cx="0" cy="0"/>
          <a:chOff x="0" y="0"/>
          <a:chExt cx="0" cy="0"/>
        </a:xfrm>
      </p:grpSpPr>
      <p:sp>
        <p:nvSpPr>
          <p:cNvPr id="118" name="Google Shape;118;p7"/>
          <p:cNvSpPr txBox="1"/>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Times New Roman" panose="02020603050405020304"/>
              <a:buNone/>
            </a:pPr>
            <a:r>
              <a:rPr lang="en-US" b="1">
                <a:latin typeface="Times New Roman" panose="02020603050405020304"/>
                <a:ea typeface="Times New Roman" panose="02020603050405020304"/>
                <a:cs typeface="Times New Roman" panose="02020603050405020304"/>
                <a:sym typeface="Times New Roman" panose="02020603050405020304"/>
              </a:rPr>
              <a:t>Types of Research</a:t>
            </a:r>
            <a:endParaRPr>
              <a:latin typeface="Times New Roman" panose="02020603050405020304"/>
              <a:ea typeface="Times New Roman" panose="02020603050405020304"/>
              <a:cs typeface="Times New Roman" panose="02020603050405020304"/>
              <a:sym typeface="Times New Roman" panose="02020603050405020304"/>
            </a:endParaRPr>
          </a:p>
        </p:txBody>
      </p:sp>
      <p:sp>
        <p:nvSpPr>
          <p:cNvPr id="119" name="Google Shape;119;p7"/>
          <p:cNvSpPr txBox="1"/>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800"/>
              <a:buNone/>
            </a:pPr>
          </a:p>
          <a:p>
            <a:pPr marL="0" lvl="0" indent="0" algn="l" rtl="0">
              <a:lnSpc>
                <a:spcPct val="90000"/>
              </a:lnSpc>
              <a:spcBef>
                <a:spcPts val="1000"/>
              </a:spcBef>
              <a:spcAft>
                <a:spcPts val="0"/>
              </a:spcAft>
              <a:buClr>
                <a:schemeClr val="dk1"/>
              </a:buClr>
              <a:buSzPts val="2800"/>
              <a:buNone/>
            </a:pPr>
          </a:p>
          <a:p>
            <a:pPr marL="0" lvl="0" indent="0" algn="l" rtl="0">
              <a:lnSpc>
                <a:spcPct val="90000"/>
              </a:lnSpc>
              <a:spcBef>
                <a:spcPts val="1000"/>
              </a:spcBef>
              <a:spcAft>
                <a:spcPts val="0"/>
              </a:spcAft>
              <a:buClr>
                <a:schemeClr val="dk1"/>
              </a:buClr>
              <a:buSzPts val="2800"/>
              <a:buNone/>
            </a:pPr>
          </a:p>
          <a:p>
            <a:pPr marL="0" lvl="0" indent="0" algn="ctr" rtl="0">
              <a:lnSpc>
                <a:spcPct val="90000"/>
              </a:lnSpc>
              <a:spcBef>
                <a:spcPts val="1000"/>
              </a:spcBef>
              <a:spcAft>
                <a:spcPts val="0"/>
              </a:spcAft>
              <a:buClr>
                <a:schemeClr val="dk1"/>
              </a:buClr>
              <a:buSzPts val="10000"/>
              <a:buNone/>
            </a:pPr>
            <a:r>
              <a:rPr lang="en-US" sz="10000">
                <a:latin typeface="Times New Roman" panose="02020603050405020304"/>
                <a:ea typeface="Times New Roman" panose="02020603050405020304"/>
                <a:cs typeface="Times New Roman" panose="02020603050405020304"/>
                <a:sym typeface="Times New Roman" panose="02020603050405020304"/>
              </a:rPr>
              <a:t>? ? ? ?</a:t>
            </a:r>
            <a:endParaRPr sz="10000">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23" name="Shape 123"/>
        <p:cNvGrpSpPr/>
        <p:nvPr/>
      </p:nvGrpSpPr>
      <p:grpSpPr>
        <a:xfrm>
          <a:off x="0" y="0"/>
          <a:ext cx="0" cy="0"/>
          <a:chOff x="0" y="0"/>
          <a:chExt cx="0" cy="0"/>
        </a:xfrm>
      </p:grpSpPr>
      <p:sp>
        <p:nvSpPr>
          <p:cNvPr id="124" name="Google Shape;124;p8"/>
          <p:cNvSpPr txBox="1"/>
          <p:nvPr>
            <p:ph type="title"/>
          </p:nvPr>
        </p:nvSpPr>
        <p:spPr>
          <a:xfrm>
            <a:off x="838200" y="188144"/>
            <a:ext cx="10515600" cy="93273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Times New Roman" panose="02020603050405020304"/>
              <a:buNone/>
            </a:pPr>
            <a:r>
              <a:rPr lang="en-US" b="1">
                <a:latin typeface="Times New Roman" panose="02020603050405020304"/>
                <a:ea typeface="Times New Roman" panose="02020603050405020304"/>
                <a:cs typeface="Times New Roman" panose="02020603050405020304"/>
                <a:sym typeface="Times New Roman" panose="02020603050405020304"/>
              </a:rPr>
              <a:t>Types of Research</a:t>
            </a:r>
            <a:endParaRPr>
              <a:latin typeface="Times New Roman" panose="02020603050405020304"/>
              <a:ea typeface="Times New Roman" panose="02020603050405020304"/>
              <a:cs typeface="Times New Roman" panose="02020603050405020304"/>
              <a:sym typeface="Times New Roman" panose="02020603050405020304"/>
            </a:endParaRPr>
          </a:p>
        </p:txBody>
      </p:sp>
      <p:sp>
        <p:nvSpPr>
          <p:cNvPr id="125" name="Google Shape;125;p8"/>
          <p:cNvSpPr txBox="1"/>
          <p:nvPr>
            <p:ph type="body" idx="1"/>
          </p:nvPr>
        </p:nvSpPr>
        <p:spPr>
          <a:xfrm>
            <a:off x="985684" y="1120878"/>
            <a:ext cx="10515600" cy="5368412"/>
          </a:xfrm>
          <a:prstGeom prst="rect">
            <a:avLst/>
          </a:prstGeom>
          <a:noFill/>
          <a:ln>
            <a:noFill/>
          </a:ln>
        </p:spPr>
        <p:txBody>
          <a:bodyPr spcFirstLastPara="1" wrap="square" lIns="91425" tIns="45700" rIns="91425" bIns="45700" anchor="t" anchorCtr="0">
            <a:noAutofit/>
          </a:bodyPr>
          <a:lstStyle/>
          <a:p>
            <a:pPr marL="633730" lvl="0" indent="-633730" algn="l" rtl="0">
              <a:lnSpc>
                <a:spcPct val="90000"/>
              </a:lnSpc>
              <a:spcBef>
                <a:spcPts val="0"/>
              </a:spcBef>
              <a:spcAft>
                <a:spcPts val="0"/>
              </a:spcAft>
              <a:buClr>
                <a:schemeClr val="dk1"/>
              </a:buClr>
              <a:buSzPts val="4000"/>
              <a:buChar char="•"/>
            </a:pPr>
            <a:r>
              <a:rPr lang="en-US" sz="4000">
                <a:latin typeface="Times New Roman" panose="02020603050405020304"/>
                <a:ea typeface="Times New Roman" panose="02020603050405020304"/>
                <a:cs typeface="Times New Roman" panose="02020603050405020304"/>
                <a:sym typeface="Times New Roman" panose="02020603050405020304"/>
              </a:rPr>
              <a:t>Descriptive vs. Analytical</a:t>
            </a:r>
            <a:endParaRPr lang="en-US" sz="4000">
              <a:latin typeface="Times New Roman" panose="02020603050405020304"/>
              <a:ea typeface="Times New Roman" panose="02020603050405020304"/>
              <a:cs typeface="Times New Roman" panose="02020603050405020304"/>
              <a:sym typeface="Times New Roman" panose="02020603050405020304"/>
            </a:endParaRPr>
          </a:p>
          <a:p>
            <a:pPr marL="633730" lvl="0" indent="-633730" algn="l" rtl="0">
              <a:lnSpc>
                <a:spcPct val="90000"/>
              </a:lnSpc>
              <a:spcBef>
                <a:spcPts val="1000"/>
              </a:spcBef>
              <a:spcAft>
                <a:spcPts val="0"/>
              </a:spcAft>
              <a:buClr>
                <a:schemeClr val="dk1"/>
              </a:buClr>
              <a:buSzPts val="4000"/>
              <a:buChar char="•"/>
            </a:pPr>
            <a:r>
              <a:rPr lang="en-US" sz="4000">
                <a:latin typeface="Times New Roman" panose="02020603050405020304"/>
                <a:ea typeface="Times New Roman" panose="02020603050405020304"/>
                <a:cs typeface="Times New Roman" panose="02020603050405020304"/>
                <a:sym typeface="Times New Roman" panose="02020603050405020304"/>
              </a:rPr>
              <a:t>Applied vs. Fundamental</a:t>
            </a:r>
            <a:endParaRPr lang="en-US" sz="4000">
              <a:latin typeface="Times New Roman" panose="02020603050405020304"/>
              <a:ea typeface="Times New Roman" panose="02020603050405020304"/>
              <a:cs typeface="Times New Roman" panose="02020603050405020304"/>
              <a:sym typeface="Times New Roman" panose="02020603050405020304"/>
            </a:endParaRPr>
          </a:p>
          <a:p>
            <a:pPr marL="633730" lvl="0" indent="-633730" algn="l" rtl="0">
              <a:lnSpc>
                <a:spcPct val="90000"/>
              </a:lnSpc>
              <a:spcBef>
                <a:spcPts val="1000"/>
              </a:spcBef>
              <a:spcAft>
                <a:spcPts val="0"/>
              </a:spcAft>
              <a:buClr>
                <a:schemeClr val="dk1"/>
              </a:buClr>
              <a:buSzPts val="4000"/>
              <a:buChar char="•"/>
            </a:pPr>
            <a:r>
              <a:rPr lang="en-US" sz="4000">
                <a:latin typeface="Times New Roman" panose="02020603050405020304"/>
                <a:ea typeface="Times New Roman" panose="02020603050405020304"/>
                <a:cs typeface="Times New Roman" panose="02020603050405020304"/>
                <a:sym typeface="Times New Roman" panose="02020603050405020304"/>
              </a:rPr>
              <a:t>Quantitative vs. Qualitative</a:t>
            </a:r>
            <a:endParaRPr lang="en-US" sz="4000">
              <a:latin typeface="Times New Roman" panose="02020603050405020304"/>
              <a:ea typeface="Times New Roman" panose="02020603050405020304"/>
              <a:cs typeface="Times New Roman" panose="02020603050405020304"/>
              <a:sym typeface="Times New Roman" panose="02020603050405020304"/>
            </a:endParaRPr>
          </a:p>
          <a:p>
            <a:pPr marL="633730" lvl="0" indent="-633730" algn="l" rtl="0">
              <a:lnSpc>
                <a:spcPct val="90000"/>
              </a:lnSpc>
              <a:spcBef>
                <a:spcPts val="1000"/>
              </a:spcBef>
              <a:spcAft>
                <a:spcPts val="0"/>
              </a:spcAft>
              <a:buClr>
                <a:schemeClr val="dk1"/>
              </a:buClr>
              <a:buSzPts val="4000"/>
              <a:buChar char="•"/>
            </a:pPr>
            <a:r>
              <a:rPr lang="en-US" sz="4000">
                <a:latin typeface="Times New Roman" panose="02020603050405020304"/>
                <a:ea typeface="Times New Roman" panose="02020603050405020304"/>
                <a:cs typeface="Times New Roman" panose="02020603050405020304"/>
                <a:sym typeface="Times New Roman" panose="02020603050405020304"/>
              </a:rPr>
              <a:t>Conceptual vs. Empirical</a:t>
            </a:r>
            <a:endParaRPr lang="en-US" sz="4000">
              <a:latin typeface="Times New Roman" panose="02020603050405020304"/>
              <a:ea typeface="Times New Roman" panose="02020603050405020304"/>
              <a:cs typeface="Times New Roman" panose="02020603050405020304"/>
              <a:sym typeface="Times New Roman" panose="02020603050405020304"/>
            </a:endParaRPr>
          </a:p>
          <a:p>
            <a:pPr marL="633730" lvl="0" indent="-633730" algn="l" rtl="0">
              <a:lnSpc>
                <a:spcPct val="90000"/>
              </a:lnSpc>
              <a:spcBef>
                <a:spcPts val="1000"/>
              </a:spcBef>
              <a:spcAft>
                <a:spcPts val="0"/>
              </a:spcAft>
              <a:buClr>
                <a:schemeClr val="dk1"/>
              </a:buClr>
              <a:buSzPts val="4000"/>
              <a:buChar char="•"/>
            </a:pPr>
            <a:r>
              <a:rPr lang="en-US" sz="4000">
                <a:latin typeface="Times New Roman" panose="02020603050405020304"/>
                <a:ea typeface="Times New Roman" panose="02020603050405020304"/>
                <a:cs typeface="Times New Roman" panose="02020603050405020304"/>
                <a:sym typeface="Times New Roman" panose="02020603050405020304"/>
              </a:rPr>
              <a:t>Some Other Types of Research</a:t>
            </a:r>
            <a:endParaRPr lang="en-US" sz="4000">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29" name="Shape 129"/>
        <p:cNvGrpSpPr/>
        <p:nvPr/>
      </p:nvGrpSpPr>
      <p:grpSpPr>
        <a:xfrm>
          <a:off x="0" y="0"/>
          <a:ext cx="0" cy="0"/>
          <a:chOff x="0" y="0"/>
          <a:chExt cx="0" cy="0"/>
        </a:xfrm>
      </p:grpSpPr>
      <p:sp>
        <p:nvSpPr>
          <p:cNvPr id="130" name="Google Shape;130;p9"/>
          <p:cNvSpPr txBox="1"/>
          <p:nvPr>
            <p:ph type="title"/>
          </p:nvPr>
        </p:nvSpPr>
        <p:spPr>
          <a:xfrm>
            <a:off x="838200" y="365126"/>
            <a:ext cx="10515600" cy="401790"/>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100000"/>
              <a:buFont typeface="Times New Roman" panose="02020603050405020304"/>
              <a:buNone/>
            </a:pPr>
            <a:r>
              <a:rPr lang="en-US" b="1">
                <a:latin typeface="Times New Roman" panose="02020603050405020304"/>
                <a:ea typeface="Times New Roman" panose="02020603050405020304"/>
                <a:cs typeface="Times New Roman" panose="02020603050405020304"/>
                <a:sym typeface="Times New Roman" panose="02020603050405020304"/>
              </a:rPr>
              <a:t>Descriptive vs. Analytical</a:t>
            </a:r>
            <a:endParaRPr>
              <a:latin typeface="Times New Roman" panose="02020603050405020304"/>
              <a:ea typeface="Times New Roman" panose="02020603050405020304"/>
              <a:cs typeface="Times New Roman" panose="02020603050405020304"/>
              <a:sym typeface="Times New Roman" panose="02020603050405020304"/>
            </a:endParaRPr>
          </a:p>
        </p:txBody>
      </p:sp>
      <p:sp>
        <p:nvSpPr>
          <p:cNvPr id="131" name="Google Shape;131;p9"/>
          <p:cNvSpPr txBox="1"/>
          <p:nvPr>
            <p:ph type="body" idx="1"/>
          </p:nvPr>
        </p:nvSpPr>
        <p:spPr>
          <a:xfrm>
            <a:off x="838200" y="929148"/>
            <a:ext cx="10515600" cy="5707626"/>
          </a:xfrm>
          <a:prstGeom prst="rect">
            <a:avLst/>
          </a:prstGeom>
          <a:noFill/>
          <a:ln>
            <a:noFill/>
          </a:ln>
        </p:spPr>
        <p:txBody>
          <a:bodyPr spcFirstLastPara="1" wrap="square" lIns="91425" tIns="45700" rIns="91425" bIns="45700" anchor="t" anchorCtr="0">
            <a:normAutofit fontScale="92500" lnSpcReduction="20000"/>
          </a:bodyPr>
          <a:lstStyle/>
          <a:p>
            <a:pPr marL="400050" lvl="0" indent="-393065" algn="just" rtl="0">
              <a:lnSpc>
                <a:spcPct val="90000"/>
              </a:lnSpc>
              <a:spcBef>
                <a:spcPts val="0"/>
              </a:spcBef>
              <a:spcAft>
                <a:spcPts val="0"/>
              </a:spcAft>
              <a:buClr>
                <a:schemeClr val="dk1"/>
              </a:buClr>
              <a:buSzPct val="100000"/>
              <a:buChar char="•"/>
            </a:pPr>
            <a:r>
              <a:rPr lang="en-US">
                <a:latin typeface="Times New Roman" panose="02020603050405020304"/>
                <a:ea typeface="Times New Roman" panose="02020603050405020304"/>
                <a:cs typeface="Times New Roman" panose="02020603050405020304"/>
                <a:sym typeface="Times New Roman" panose="02020603050405020304"/>
              </a:rPr>
              <a:t>Descriptive research includes surveys and fact-finding enquiries of different kinds. </a:t>
            </a:r>
            <a:endParaRPr lang="en-US">
              <a:latin typeface="Times New Roman" panose="02020603050405020304"/>
              <a:ea typeface="Times New Roman" panose="02020603050405020304"/>
              <a:cs typeface="Times New Roman" panose="02020603050405020304"/>
              <a:sym typeface="Times New Roman" panose="02020603050405020304"/>
            </a:endParaRPr>
          </a:p>
          <a:p>
            <a:pPr marL="400050" lvl="0" indent="-393065" algn="just" rtl="0">
              <a:lnSpc>
                <a:spcPct val="90000"/>
              </a:lnSpc>
              <a:spcBef>
                <a:spcPts val="1000"/>
              </a:spcBef>
              <a:spcAft>
                <a:spcPts val="0"/>
              </a:spcAft>
              <a:buClr>
                <a:schemeClr val="dk1"/>
              </a:buClr>
              <a:buSzPct val="100000"/>
              <a:buChar char="•"/>
            </a:pPr>
            <a:r>
              <a:rPr lang="en-US">
                <a:latin typeface="Times New Roman" panose="02020603050405020304"/>
                <a:ea typeface="Times New Roman" panose="02020603050405020304"/>
                <a:cs typeface="Times New Roman" panose="02020603050405020304"/>
                <a:sym typeface="Times New Roman" panose="02020603050405020304"/>
              </a:rPr>
              <a:t>The major purpose of descriptive research is the description of the state of affairs as it exists at present.</a:t>
            </a:r>
            <a:endParaRPr lang="en-US">
              <a:latin typeface="Times New Roman" panose="02020603050405020304"/>
              <a:ea typeface="Times New Roman" panose="02020603050405020304"/>
              <a:cs typeface="Times New Roman" panose="02020603050405020304"/>
              <a:sym typeface="Times New Roman" panose="02020603050405020304"/>
            </a:endParaRPr>
          </a:p>
          <a:p>
            <a:pPr marL="400050" lvl="0" indent="-393065" algn="just" rtl="0">
              <a:lnSpc>
                <a:spcPct val="90000"/>
              </a:lnSpc>
              <a:spcBef>
                <a:spcPts val="1000"/>
              </a:spcBef>
              <a:spcAft>
                <a:spcPts val="0"/>
              </a:spcAft>
              <a:buClr>
                <a:schemeClr val="dk1"/>
              </a:buClr>
              <a:buSzPct val="100000"/>
              <a:buChar char="•"/>
            </a:pPr>
            <a:r>
              <a:rPr lang="en-US">
                <a:latin typeface="Times New Roman" panose="02020603050405020304"/>
                <a:ea typeface="Times New Roman" panose="02020603050405020304"/>
                <a:cs typeface="Times New Roman" panose="02020603050405020304"/>
                <a:sym typeface="Times New Roman" panose="02020603050405020304"/>
              </a:rPr>
              <a:t>In social science and business research, descriptive research studies are termed as  Ex post facto research.</a:t>
            </a:r>
            <a:endParaRPr lang="en-US">
              <a:latin typeface="Times New Roman" panose="02020603050405020304"/>
              <a:ea typeface="Times New Roman" panose="02020603050405020304"/>
              <a:cs typeface="Times New Roman" panose="02020603050405020304"/>
              <a:sym typeface="Times New Roman" panose="02020603050405020304"/>
            </a:endParaRPr>
          </a:p>
          <a:p>
            <a:pPr marL="400050" lvl="0" indent="-393065" algn="just" rtl="0">
              <a:lnSpc>
                <a:spcPct val="90000"/>
              </a:lnSpc>
              <a:spcBef>
                <a:spcPts val="1000"/>
              </a:spcBef>
              <a:spcAft>
                <a:spcPts val="0"/>
              </a:spcAft>
              <a:buClr>
                <a:schemeClr val="dk1"/>
              </a:buClr>
              <a:buSzPct val="100000"/>
              <a:buChar char="•"/>
            </a:pPr>
            <a:r>
              <a:rPr lang="en-US">
                <a:latin typeface="Times New Roman" panose="02020603050405020304"/>
                <a:ea typeface="Times New Roman" panose="02020603050405020304"/>
                <a:cs typeface="Times New Roman" panose="02020603050405020304"/>
                <a:sym typeface="Times New Roman" panose="02020603050405020304"/>
              </a:rPr>
              <a:t>Ex post facto research: has no control over the variables; he can only report what has happened or what is happening. </a:t>
            </a:r>
            <a:endParaRPr lang="en-US">
              <a:latin typeface="Times New Roman" panose="02020603050405020304"/>
              <a:ea typeface="Times New Roman" panose="02020603050405020304"/>
              <a:cs typeface="Times New Roman" panose="02020603050405020304"/>
              <a:sym typeface="Times New Roman" panose="02020603050405020304"/>
            </a:endParaRPr>
          </a:p>
          <a:p>
            <a:pPr marL="400050" lvl="0" indent="-393065" algn="just" rtl="0">
              <a:lnSpc>
                <a:spcPct val="90000"/>
              </a:lnSpc>
              <a:spcBef>
                <a:spcPts val="1000"/>
              </a:spcBef>
              <a:spcAft>
                <a:spcPts val="0"/>
              </a:spcAft>
              <a:buClr>
                <a:schemeClr val="dk1"/>
              </a:buClr>
              <a:buSzPct val="100000"/>
              <a:buChar char="•"/>
            </a:pPr>
            <a:r>
              <a:rPr lang="en-US">
                <a:latin typeface="Times New Roman" panose="02020603050405020304"/>
                <a:ea typeface="Times New Roman" panose="02020603050405020304"/>
                <a:cs typeface="Times New Roman" panose="02020603050405020304"/>
                <a:sym typeface="Times New Roman" panose="02020603050405020304"/>
              </a:rPr>
              <a:t>In Ex post facto research, the researcher seeks to measure the frequency of shopping, preferences of people, or similar data. </a:t>
            </a:r>
            <a:endParaRPr lang="en-US">
              <a:latin typeface="Times New Roman" panose="02020603050405020304"/>
              <a:ea typeface="Times New Roman" panose="02020603050405020304"/>
              <a:cs typeface="Times New Roman" panose="02020603050405020304"/>
              <a:sym typeface="Times New Roman" panose="02020603050405020304"/>
            </a:endParaRPr>
          </a:p>
          <a:p>
            <a:pPr marL="400050" lvl="0" indent="-393065" algn="just" rtl="0">
              <a:lnSpc>
                <a:spcPct val="90000"/>
              </a:lnSpc>
              <a:spcBef>
                <a:spcPts val="1000"/>
              </a:spcBef>
              <a:spcAft>
                <a:spcPts val="0"/>
              </a:spcAft>
              <a:buClr>
                <a:schemeClr val="dk1"/>
              </a:buClr>
              <a:buSzPct val="100000"/>
              <a:buChar char="•"/>
            </a:pPr>
            <a:r>
              <a:rPr lang="en-US">
                <a:latin typeface="Times New Roman" panose="02020603050405020304"/>
                <a:ea typeface="Times New Roman" panose="02020603050405020304"/>
                <a:cs typeface="Times New Roman" panose="02020603050405020304"/>
                <a:sym typeface="Times New Roman" panose="02020603050405020304"/>
              </a:rPr>
              <a:t>Ex post facto also discover causes even when they cannot control the variables.</a:t>
            </a:r>
            <a:endParaRPr lang="en-US">
              <a:latin typeface="Times New Roman" panose="02020603050405020304"/>
              <a:ea typeface="Times New Roman" panose="02020603050405020304"/>
              <a:cs typeface="Times New Roman" panose="02020603050405020304"/>
              <a:sym typeface="Times New Roman" panose="02020603050405020304"/>
            </a:endParaRPr>
          </a:p>
          <a:p>
            <a:pPr marL="400050" lvl="0" indent="-393065" algn="just" rtl="0">
              <a:lnSpc>
                <a:spcPct val="90000"/>
              </a:lnSpc>
              <a:spcBef>
                <a:spcPts val="1000"/>
              </a:spcBef>
              <a:spcAft>
                <a:spcPts val="0"/>
              </a:spcAft>
              <a:buClr>
                <a:schemeClr val="dk1"/>
              </a:buClr>
              <a:buSzPct val="100000"/>
              <a:buChar char="•"/>
            </a:pPr>
            <a:r>
              <a:rPr lang="en-US">
                <a:latin typeface="Times New Roman" panose="02020603050405020304"/>
                <a:ea typeface="Times New Roman" panose="02020603050405020304"/>
                <a:cs typeface="Times New Roman" panose="02020603050405020304"/>
                <a:sym typeface="Times New Roman" panose="02020603050405020304"/>
              </a:rPr>
              <a:t>In analytical research, the researcher has to use the available facts or information and analyze these to make a critical evaluation of the material.</a:t>
            </a:r>
            <a:endParaRPr lang="en-US">
              <a:latin typeface="Times New Roman" panose="02020603050405020304"/>
              <a:ea typeface="Times New Roman" panose="02020603050405020304"/>
              <a:cs typeface="Times New Roman" panose="02020603050405020304"/>
              <a:sym typeface="Times New Roman" panose="02020603050405020304"/>
            </a:endParaRPr>
          </a:p>
          <a:p>
            <a:pPr marL="164465" lvl="0" indent="0" algn="just" rtl="0">
              <a:lnSpc>
                <a:spcPct val="90000"/>
              </a:lnSpc>
              <a:spcBef>
                <a:spcPts val="1000"/>
              </a:spcBef>
              <a:spcAft>
                <a:spcPts val="0"/>
              </a:spcAft>
              <a:buClr>
                <a:schemeClr val="dk1"/>
              </a:buClr>
              <a:buSzPct val="100000"/>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35" name="Shape 135"/>
        <p:cNvGrpSpPr/>
        <p:nvPr/>
      </p:nvGrpSpPr>
      <p:grpSpPr>
        <a:xfrm>
          <a:off x="0" y="0"/>
          <a:ext cx="0" cy="0"/>
          <a:chOff x="0" y="0"/>
          <a:chExt cx="0" cy="0"/>
        </a:xfrm>
      </p:grpSpPr>
      <p:sp>
        <p:nvSpPr>
          <p:cNvPr id="136" name="Google Shape;136;p10"/>
          <p:cNvSpPr txBox="1"/>
          <p:nvPr>
            <p:ph type="title"/>
          </p:nvPr>
        </p:nvSpPr>
        <p:spPr>
          <a:xfrm>
            <a:off x="838200" y="162232"/>
            <a:ext cx="10515600" cy="604684"/>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100000"/>
              <a:buFont typeface="Times New Roman" panose="02020603050405020304"/>
              <a:buNone/>
            </a:pPr>
            <a:r>
              <a:rPr lang="en-US" b="1">
                <a:latin typeface="Times New Roman" panose="02020603050405020304"/>
                <a:ea typeface="Times New Roman" panose="02020603050405020304"/>
                <a:cs typeface="Times New Roman" panose="02020603050405020304"/>
                <a:sym typeface="Times New Roman" panose="02020603050405020304"/>
              </a:rPr>
              <a:t>Applied vs. Fundamental</a:t>
            </a:r>
            <a:endParaRPr b="0">
              <a:latin typeface="Times New Roman" panose="02020603050405020304"/>
              <a:ea typeface="Times New Roman" panose="02020603050405020304"/>
              <a:cs typeface="Times New Roman" panose="02020603050405020304"/>
              <a:sym typeface="Times New Roman" panose="02020603050405020304"/>
            </a:endParaRPr>
          </a:p>
        </p:txBody>
      </p:sp>
      <p:sp>
        <p:nvSpPr>
          <p:cNvPr id="137" name="Google Shape;137;p10"/>
          <p:cNvSpPr txBox="1"/>
          <p:nvPr>
            <p:ph type="body" idx="1"/>
          </p:nvPr>
        </p:nvSpPr>
        <p:spPr>
          <a:xfrm>
            <a:off x="838200" y="929148"/>
            <a:ext cx="10515600" cy="5707626"/>
          </a:xfrm>
          <a:prstGeom prst="rect">
            <a:avLst/>
          </a:prstGeom>
          <a:noFill/>
          <a:ln>
            <a:noFill/>
          </a:ln>
        </p:spPr>
        <p:txBody>
          <a:bodyPr spcFirstLastPara="1" wrap="square" lIns="91425" tIns="45700" rIns="91425" bIns="45700" anchor="t" anchorCtr="0">
            <a:normAutofit fontScale="85000" lnSpcReduction="20000"/>
          </a:bodyPr>
          <a:lstStyle/>
          <a:p>
            <a:pPr marL="228600" lvl="0" indent="-228600" algn="just" rtl="0">
              <a:lnSpc>
                <a:spcPct val="90000"/>
              </a:lnSpc>
              <a:spcBef>
                <a:spcPts val="0"/>
              </a:spcBef>
              <a:spcAft>
                <a:spcPts val="0"/>
              </a:spcAft>
              <a:buClr>
                <a:schemeClr val="dk1"/>
              </a:buClr>
              <a:buSzPct val="100000"/>
              <a:buChar char="•"/>
            </a:pPr>
            <a:r>
              <a:rPr lang="en-US">
                <a:latin typeface="Times New Roman" panose="02020603050405020304"/>
                <a:ea typeface="Times New Roman" panose="02020603050405020304"/>
                <a:cs typeface="Times New Roman" panose="02020603050405020304"/>
                <a:sym typeface="Times New Roman" panose="02020603050405020304"/>
              </a:rPr>
              <a:t>Fundamental research is mainly concerned with generalizations and with the formulation of a theory.  It is also termed ‘pure’ or ‘basic’ research. </a:t>
            </a:r>
            <a:endParaRPr lang="en-US">
              <a:latin typeface="Times New Roman" panose="02020603050405020304"/>
              <a:ea typeface="Times New Roman" panose="02020603050405020304"/>
              <a:cs typeface="Times New Roman" panose="02020603050405020304"/>
              <a:sym typeface="Times New Roman" panose="02020603050405020304"/>
            </a:endParaRPr>
          </a:p>
          <a:p>
            <a:pPr marL="228600" lvl="0" indent="-228600" algn="just" rtl="0">
              <a:lnSpc>
                <a:spcPct val="90000"/>
              </a:lnSpc>
              <a:spcBef>
                <a:spcPts val="1000"/>
              </a:spcBef>
              <a:spcAft>
                <a:spcPts val="0"/>
              </a:spcAft>
              <a:buClr>
                <a:schemeClr val="dk1"/>
              </a:buClr>
              <a:buSzPct val="100000"/>
              <a:buChar char="•"/>
            </a:pPr>
            <a:r>
              <a:rPr lang="en-US">
                <a:latin typeface="Times New Roman" panose="02020603050405020304"/>
                <a:ea typeface="Times New Roman" panose="02020603050405020304"/>
                <a:cs typeface="Times New Roman" panose="02020603050405020304"/>
                <a:sym typeface="Times New Roman" panose="02020603050405020304"/>
              </a:rPr>
              <a:t>Ex: </a:t>
            </a:r>
            <a:endParaRPr>
              <a:latin typeface="Times New Roman" panose="02020603050405020304"/>
              <a:ea typeface="Times New Roman" panose="02020603050405020304"/>
              <a:cs typeface="Times New Roman" panose="02020603050405020304"/>
              <a:sym typeface="Times New Roman" panose="02020603050405020304"/>
            </a:endParaRPr>
          </a:p>
          <a:p>
            <a:pPr marL="796925" lvl="0" indent="-457200" algn="just" rtl="0">
              <a:lnSpc>
                <a:spcPct val="90000"/>
              </a:lnSpc>
              <a:spcBef>
                <a:spcPts val="1000"/>
              </a:spcBef>
              <a:spcAft>
                <a:spcPts val="0"/>
              </a:spcAft>
              <a:buClr>
                <a:schemeClr val="dk1"/>
              </a:buClr>
              <a:buSzPct val="100000"/>
              <a:buFont typeface="Noto Sans Symbols"/>
              <a:buChar char="⮚"/>
            </a:pPr>
            <a:r>
              <a:rPr lang="en-US">
                <a:latin typeface="Times New Roman" panose="02020603050405020304"/>
                <a:ea typeface="Times New Roman" panose="02020603050405020304"/>
                <a:cs typeface="Times New Roman" panose="02020603050405020304"/>
                <a:sym typeface="Times New Roman" panose="02020603050405020304"/>
              </a:rPr>
              <a:t>Gathering knowledge for knowledge’s sake, </a:t>
            </a:r>
            <a:endParaRPr lang="en-US">
              <a:latin typeface="Times New Roman" panose="02020603050405020304"/>
              <a:ea typeface="Times New Roman" panose="02020603050405020304"/>
              <a:cs typeface="Times New Roman" panose="02020603050405020304"/>
              <a:sym typeface="Times New Roman" panose="02020603050405020304"/>
            </a:endParaRPr>
          </a:p>
          <a:p>
            <a:pPr marL="796925" lvl="0" indent="-457200" algn="just" rtl="0">
              <a:lnSpc>
                <a:spcPct val="90000"/>
              </a:lnSpc>
              <a:spcBef>
                <a:spcPts val="1000"/>
              </a:spcBef>
              <a:spcAft>
                <a:spcPts val="0"/>
              </a:spcAft>
              <a:buClr>
                <a:schemeClr val="dk1"/>
              </a:buClr>
              <a:buSzPct val="100000"/>
              <a:buFont typeface="Noto Sans Symbols"/>
              <a:buChar char="⮚"/>
            </a:pPr>
            <a:r>
              <a:rPr lang="en-US">
                <a:latin typeface="Times New Roman" panose="02020603050405020304"/>
                <a:ea typeface="Times New Roman" panose="02020603050405020304"/>
                <a:cs typeface="Times New Roman" panose="02020603050405020304"/>
                <a:sym typeface="Times New Roman" panose="02020603050405020304"/>
              </a:rPr>
              <a:t>Research concerning some natural phenomenon or relating to pure mathematics.</a:t>
            </a:r>
            <a:endParaRPr b="0">
              <a:latin typeface="Times New Roman" panose="02020603050405020304"/>
              <a:ea typeface="Times New Roman" panose="02020603050405020304"/>
              <a:cs typeface="Times New Roman" panose="02020603050405020304"/>
              <a:sym typeface="Times New Roman" panose="02020603050405020304"/>
            </a:endParaRPr>
          </a:p>
          <a:p>
            <a:pPr marL="796925" lvl="0" indent="-457200" algn="just" rtl="0">
              <a:lnSpc>
                <a:spcPct val="90000"/>
              </a:lnSpc>
              <a:spcBef>
                <a:spcPts val="1000"/>
              </a:spcBef>
              <a:spcAft>
                <a:spcPts val="0"/>
              </a:spcAft>
              <a:buClr>
                <a:schemeClr val="dk1"/>
              </a:buClr>
              <a:buSzPct val="100000"/>
              <a:buFont typeface="Noto Sans Symbols"/>
              <a:buChar char="⮚"/>
            </a:pPr>
            <a:r>
              <a:rPr lang="en-US">
                <a:latin typeface="Times New Roman" panose="02020603050405020304"/>
                <a:ea typeface="Times New Roman" panose="02020603050405020304"/>
                <a:cs typeface="Times New Roman" panose="02020603050405020304"/>
                <a:sym typeface="Times New Roman" panose="02020603050405020304"/>
              </a:rPr>
              <a:t>Research concerning human behavior carried to make generalizations about human behavior.</a:t>
            </a:r>
            <a:endParaRPr lang="en-US">
              <a:latin typeface="Times New Roman" panose="02020603050405020304"/>
              <a:ea typeface="Times New Roman" panose="02020603050405020304"/>
              <a:cs typeface="Times New Roman" panose="02020603050405020304"/>
              <a:sym typeface="Times New Roman" panose="02020603050405020304"/>
            </a:endParaRPr>
          </a:p>
          <a:p>
            <a:pPr marL="796925" lvl="0" indent="-306070" algn="just" rtl="0">
              <a:lnSpc>
                <a:spcPct val="90000"/>
              </a:lnSpc>
              <a:spcBef>
                <a:spcPts val="1000"/>
              </a:spcBef>
              <a:spcAft>
                <a:spcPts val="0"/>
              </a:spcAft>
              <a:buClr>
                <a:schemeClr val="dk1"/>
              </a:buClr>
              <a:buSzPct val="100000"/>
              <a:buFont typeface="Noto Sans Symbols"/>
              <a:buNone/>
            </a:pPr>
            <a:endParaRPr b="0">
              <a:latin typeface="Times New Roman" panose="02020603050405020304"/>
              <a:ea typeface="Times New Roman" panose="02020603050405020304"/>
              <a:cs typeface="Times New Roman" panose="02020603050405020304"/>
              <a:sym typeface="Times New Roman" panose="02020603050405020304"/>
            </a:endParaRPr>
          </a:p>
          <a:p>
            <a:pPr marL="228600" lvl="0" indent="-228600" algn="just" rtl="0">
              <a:lnSpc>
                <a:spcPct val="90000"/>
              </a:lnSpc>
              <a:spcBef>
                <a:spcPts val="1000"/>
              </a:spcBef>
              <a:spcAft>
                <a:spcPts val="0"/>
              </a:spcAft>
              <a:buClr>
                <a:schemeClr val="dk1"/>
              </a:buClr>
              <a:buSzPct val="100000"/>
              <a:buChar char="•"/>
            </a:pPr>
            <a:r>
              <a:rPr lang="en-US">
                <a:latin typeface="Times New Roman" panose="02020603050405020304"/>
                <a:ea typeface="Times New Roman" panose="02020603050405020304"/>
                <a:cs typeface="Times New Roman" panose="02020603050405020304"/>
                <a:sym typeface="Times New Roman" panose="02020603050405020304"/>
              </a:rPr>
              <a:t>Applied research aims at finding a solution for an immediate problem facing a society or an industrial/business organization.</a:t>
            </a:r>
            <a:endParaRPr lang="en-US">
              <a:latin typeface="Times New Roman" panose="02020603050405020304"/>
              <a:ea typeface="Times New Roman" panose="02020603050405020304"/>
              <a:cs typeface="Times New Roman" panose="02020603050405020304"/>
              <a:sym typeface="Times New Roman" panose="02020603050405020304"/>
            </a:endParaRPr>
          </a:p>
          <a:p>
            <a:pPr marL="228600" lvl="0" indent="-228600" algn="just" rtl="0">
              <a:lnSpc>
                <a:spcPct val="90000"/>
              </a:lnSpc>
              <a:spcBef>
                <a:spcPts val="1000"/>
              </a:spcBef>
              <a:spcAft>
                <a:spcPts val="0"/>
              </a:spcAft>
              <a:buClr>
                <a:schemeClr val="dk1"/>
              </a:buClr>
              <a:buSzPct val="100000"/>
              <a:buChar char="•"/>
            </a:pPr>
            <a:r>
              <a:rPr lang="en-US">
                <a:latin typeface="Times New Roman" panose="02020603050405020304"/>
                <a:ea typeface="Times New Roman" panose="02020603050405020304"/>
                <a:cs typeface="Times New Roman" panose="02020603050405020304"/>
                <a:sym typeface="Times New Roman" panose="02020603050405020304"/>
              </a:rPr>
              <a:t>Ex:</a:t>
            </a:r>
            <a:endParaRPr b="0">
              <a:latin typeface="Times New Roman" panose="02020603050405020304"/>
              <a:ea typeface="Times New Roman" panose="02020603050405020304"/>
              <a:cs typeface="Times New Roman" panose="02020603050405020304"/>
              <a:sym typeface="Times New Roman" panose="02020603050405020304"/>
            </a:endParaRPr>
          </a:p>
          <a:p>
            <a:pPr marL="738505" lvl="0" indent="-457200" algn="just" rtl="0">
              <a:lnSpc>
                <a:spcPct val="90000"/>
              </a:lnSpc>
              <a:spcBef>
                <a:spcPts val="1000"/>
              </a:spcBef>
              <a:spcAft>
                <a:spcPts val="0"/>
              </a:spcAft>
              <a:buClr>
                <a:schemeClr val="dk1"/>
              </a:buClr>
              <a:buSzPct val="100000"/>
              <a:buFont typeface="Noto Sans Symbols"/>
              <a:buChar char="⮚"/>
            </a:pPr>
            <a:r>
              <a:rPr lang="en-US">
                <a:latin typeface="Times New Roman" panose="02020603050405020304"/>
                <a:ea typeface="Times New Roman" panose="02020603050405020304"/>
                <a:cs typeface="Times New Roman" panose="02020603050405020304"/>
                <a:sym typeface="Times New Roman" panose="02020603050405020304"/>
              </a:rPr>
              <a:t>Research to identify social, economic or political trends that may affect a particular institution.</a:t>
            </a:r>
            <a:endParaRPr b="0">
              <a:latin typeface="Times New Roman" panose="02020603050405020304"/>
              <a:ea typeface="Times New Roman" panose="02020603050405020304"/>
              <a:cs typeface="Times New Roman" panose="02020603050405020304"/>
              <a:sym typeface="Times New Roman" panose="02020603050405020304"/>
            </a:endParaRPr>
          </a:p>
          <a:p>
            <a:pPr marL="738505" lvl="0" indent="-457200" algn="just" rtl="0">
              <a:lnSpc>
                <a:spcPct val="90000"/>
              </a:lnSpc>
              <a:spcBef>
                <a:spcPts val="1000"/>
              </a:spcBef>
              <a:spcAft>
                <a:spcPts val="0"/>
              </a:spcAft>
              <a:buClr>
                <a:schemeClr val="dk1"/>
              </a:buClr>
              <a:buSzPct val="100000"/>
              <a:buFont typeface="Noto Sans Symbols"/>
              <a:buChar char="⮚"/>
            </a:pPr>
            <a:r>
              <a:rPr lang="en-US">
                <a:latin typeface="Times New Roman" panose="02020603050405020304"/>
                <a:ea typeface="Times New Roman" panose="02020603050405020304"/>
                <a:cs typeface="Times New Roman" panose="02020603050405020304"/>
                <a:sym typeface="Times New Roman" panose="02020603050405020304"/>
              </a:rPr>
              <a:t>Marketing research  </a:t>
            </a:r>
            <a:endParaRPr b="0">
              <a:latin typeface="Times New Roman" panose="02020603050405020304"/>
              <a:ea typeface="Times New Roman" panose="02020603050405020304"/>
              <a:cs typeface="Times New Roman" panose="02020603050405020304"/>
              <a:sym typeface="Times New Roman" panose="02020603050405020304"/>
            </a:endParaRPr>
          </a:p>
          <a:p>
            <a:pPr marL="738505" lvl="0" indent="-457200" algn="just" rtl="0">
              <a:lnSpc>
                <a:spcPct val="90000"/>
              </a:lnSpc>
              <a:spcBef>
                <a:spcPts val="1000"/>
              </a:spcBef>
              <a:spcAft>
                <a:spcPts val="0"/>
              </a:spcAft>
              <a:buClr>
                <a:schemeClr val="dk1"/>
              </a:buClr>
              <a:buSzPct val="100000"/>
              <a:buFont typeface="Noto Sans Symbols"/>
              <a:buChar char="⮚"/>
            </a:pPr>
            <a:r>
              <a:rPr lang="en-US">
                <a:latin typeface="Times New Roman" panose="02020603050405020304"/>
                <a:ea typeface="Times New Roman" panose="02020603050405020304"/>
                <a:cs typeface="Times New Roman" panose="02020603050405020304"/>
                <a:sym typeface="Times New Roman" panose="02020603050405020304"/>
              </a:rPr>
              <a:t>Evaluation research </a:t>
            </a:r>
            <a:endParaRPr b="0">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41" name="Shape 141"/>
        <p:cNvGrpSpPr/>
        <p:nvPr/>
      </p:nvGrpSpPr>
      <p:grpSpPr>
        <a:xfrm>
          <a:off x="0" y="0"/>
          <a:ext cx="0" cy="0"/>
          <a:chOff x="0" y="0"/>
          <a:chExt cx="0" cy="0"/>
        </a:xfrm>
      </p:grpSpPr>
      <p:sp>
        <p:nvSpPr>
          <p:cNvPr id="142" name="Google Shape;142;p11"/>
          <p:cNvSpPr txBox="1"/>
          <p:nvPr>
            <p:ph type="title"/>
          </p:nvPr>
        </p:nvSpPr>
        <p:spPr>
          <a:xfrm>
            <a:off x="838200" y="162232"/>
            <a:ext cx="10515600" cy="9144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Times New Roman" panose="02020603050405020304"/>
              <a:buNone/>
            </a:pPr>
            <a:r>
              <a:rPr lang="en-US" b="1">
                <a:latin typeface="Times New Roman" panose="02020603050405020304"/>
                <a:ea typeface="Times New Roman" panose="02020603050405020304"/>
                <a:cs typeface="Times New Roman" panose="02020603050405020304"/>
                <a:sym typeface="Times New Roman" panose="02020603050405020304"/>
              </a:rPr>
              <a:t>Quantitative vs. Qualitative</a:t>
            </a:r>
            <a:endParaRPr b="0">
              <a:latin typeface="Times New Roman" panose="02020603050405020304"/>
              <a:ea typeface="Times New Roman" panose="02020603050405020304"/>
              <a:cs typeface="Times New Roman" panose="02020603050405020304"/>
              <a:sym typeface="Times New Roman" panose="02020603050405020304"/>
            </a:endParaRPr>
          </a:p>
        </p:txBody>
      </p:sp>
      <p:sp>
        <p:nvSpPr>
          <p:cNvPr id="143" name="Google Shape;143;p11"/>
          <p:cNvSpPr txBox="1"/>
          <p:nvPr>
            <p:ph type="body" idx="1"/>
          </p:nvPr>
        </p:nvSpPr>
        <p:spPr>
          <a:xfrm>
            <a:off x="838200" y="1445342"/>
            <a:ext cx="10515600" cy="5191432"/>
          </a:xfrm>
          <a:prstGeom prst="rect">
            <a:avLst/>
          </a:prstGeom>
          <a:noFill/>
          <a:ln>
            <a:noFill/>
          </a:ln>
        </p:spPr>
        <p:txBody>
          <a:bodyPr spcFirstLastPara="1" wrap="square" lIns="91425" tIns="45700" rIns="91425" bIns="45700" anchor="t" anchorCtr="0">
            <a:normAutofit/>
          </a:bodyPr>
          <a:lstStyle/>
          <a:p>
            <a:pPr marL="228600" lvl="0" indent="-228600" algn="just" rtl="0">
              <a:lnSpc>
                <a:spcPct val="90000"/>
              </a:lnSpc>
              <a:spcBef>
                <a:spcPts val="0"/>
              </a:spcBef>
              <a:spcAft>
                <a:spcPts val="0"/>
              </a:spcAft>
              <a:buClr>
                <a:schemeClr val="dk1"/>
              </a:buClr>
              <a:buSzPts val="3200"/>
              <a:buChar char="•"/>
            </a:pPr>
            <a:r>
              <a:rPr lang="en-US" sz="3200">
                <a:latin typeface="Times New Roman" panose="02020603050405020304"/>
                <a:ea typeface="Times New Roman" panose="02020603050405020304"/>
                <a:cs typeface="Times New Roman" panose="02020603050405020304"/>
                <a:sym typeface="Times New Roman" panose="02020603050405020304"/>
              </a:rPr>
              <a:t>Quantitative research is based on the measurement of quantity or amount. It is applicable to phenomena that can be expressed in terms of quantity. </a:t>
            </a:r>
            <a:endParaRPr lang="en-US" sz="3200">
              <a:latin typeface="Times New Roman" panose="02020603050405020304"/>
              <a:ea typeface="Times New Roman" panose="02020603050405020304"/>
              <a:cs typeface="Times New Roman" panose="02020603050405020304"/>
              <a:sym typeface="Times New Roman" panose="02020603050405020304"/>
            </a:endParaRPr>
          </a:p>
          <a:p>
            <a:pPr marL="228600" lvl="0" indent="-228600" algn="just" rtl="0">
              <a:lnSpc>
                <a:spcPct val="90000"/>
              </a:lnSpc>
              <a:spcBef>
                <a:spcPts val="1000"/>
              </a:spcBef>
              <a:spcAft>
                <a:spcPts val="0"/>
              </a:spcAft>
              <a:buClr>
                <a:schemeClr val="dk1"/>
              </a:buClr>
              <a:buSzPts val="3200"/>
              <a:buChar char="•"/>
            </a:pPr>
            <a:r>
              <a:rPr lang="en-US" sz="3200">
                <a:latin typeface="Times New Roman" panose="02020603050405020304"/>
                <a:ea typeface="Times New Roman" panose="02020603050405020304"/>
                <a:cs typeface="Times New Roman" panose="02020603050405020304"/>
                <a:sym typeface="Times New Roman" panose="02020603050405020304"/>
              </a:rPr>
              <a:t>Qualitative research, on the other hand, is concerned with qualitative phenomena, i.e., phenomena relating to or involving quality or kind.</a:t>
            </a:r>
            <a:endParaRPr lang="en-US" sz="3200">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47" name="Shape 147"/>
        <p:cNvGrpSpPr/>
        <p:nvPr/>
      </p:nvGrpSpPr>
      <p:grpSpPr>
        <a:xfrm>
          <a:off x="0" y="0"/>
          <a:ext cx="0" cy="0"/>
          <a:chOff x="0" y="0"/>
          <a:chExt cx="0" cy="0"/>
        </a:xfrm>
      </p:grpSpPr>
      <p:sp>
        <p:nvSpPr>
          <p:cNvPr id="148" name="Google Shape;148;p12"/>
          <p:cNvSpPr txBox="1"/>
          <p:nvPr>
            <p:ph type="title"/>
          </p:nvPr>
        </p:nvSpPr>
        <p:spPr>
          <a:xfrm>
            <a:off x="838200" y="162232"/>
            <a:ext cx="10515600" cy="9144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Times New Roman" panose="02020603050405020304"/>
              <a:buNone/>
            </a:pPr>
            <a:r>
              <a:rPr lang="en-US" b="1">
                <a:latin typeface="Times New Roman" panose="02020603050405020304"/>
                <a:ea typeface="Times New Roman" panose="02020603050405020304"/>
                <a:cs typeface="Times New Roman" panose="02020603050405020304"/>
                <a:sym typeface="Times New Roman" panose="02020603050405020304"/>
              </a:rPr>
              <a:t>Conceptual vs. Empirical</a:t>
            </a:r>
            <a:endParaRPr sz="4800" b="0">
              <a:latin typeface="Times New Roman" panose="02020603050405020304"/>
              <a:ea typeface="Times New Roman" panose="02020603050405020304"/>
              <a:cs typeface="Times New Roman" panose="02020603050405020304"/>
              <a:sym typeface="Times New Roman" panose="02020603050405020304"/>
            </a:endParaRPr>
          </a:p>
        </p:txBody>
      </p:sp>
      <p:sp>
        <p:nvSpPr>
          <p:cNvPr id="149" name="Google Shape;149;p12"/>
          <p:cNvSpPr txBox="1"/>
          <p:nvPr>
            <p:ph type="body" idx="1"/>
          </p:nvPr>
        </p:nvSpPr>
        <p:spPr>
          <a:xfrm>
            <a:off x="838200" y="1238865"/>
            <a:ext cx="10515600" cy="5191432"/>
          </a:xfrm>
          <a:prstGeom prst="rect">
            <a:avLst/>
          </a:prstGeom>
          <a:noFill/>
          <a:ln>
            <a:noFill/>
          </a:ln>
        </p:spPr>
        <p:txBody>
          <a:bodyPr spcFirstLastPara="1" wrap="square" lIns="91425" tIns="45700" rIns="91425" bIns="45700" anchor="t" anchorCtr="0">
            <a:normAutofit/>
          </a:bodyPr>
          <a:lstStyle/>
          <a:p>
            <a:pPr marL="514350" lvl="0" indent="-463550" algn="just" rtl="0">
              <a:lnSpc>
                <a:spcPct val="90000"/>
              </a:lnSpc>
              <a:spcBef>
                <a:spcPts val="0"/>
              </a:spcBef>
              <a:spcAft>
                <a:spcPts val="0"/>
              </a:spcAft>
              <a:buClr>
                <a:schemeClr val="dk1"/>
              </a:buClr>
              <a:buSzPts val="2800"/>
              <a:buChar char="•"/>
            </a:pPr>
            <a:r>
              <a:rPr lang="en-US">
                <a:latin typeface="Times New Roman" panose="02020603050405020304"/>
                <a:ea typeface="Times New Roman" panose="02020603050405020304"/>
                <a:cs typeface="Times New Roman" panose="02020603050405020304"/>
                <a:sym typeface="Times New Roman" panose="02020603050405020304"/>
              </a:rPr>
              <a:t>Conceptual research is related to some abstract idea(s) or theory. </a:t>
            </a:r>
            <a:endParaRPr>
              <a:latin typeface="Times New Roman" panose="02020603050405020304"/>
              <a:ea typeface="Times New Roman" panose="02020603050405020304"/>
              <a:cs typeface="Times New Roman" panose="02020603050405020304"/>
              <a:sym typeface="Times New Roman" panose="02020603050405020304"/>
            </a:endParaRPr>
          </a:p>
          <a:p>
            <a:pPr marL="514350" lvl="0" indent="-463550" algn="just" rtl="0">
              <a:lnSpc>
                <a:spcPct val="90000"/>
              </a:lnSpc>
              <a:spcBef>
                <a:spcPts val="1000"/>
              </a:spcBef>
              <a:spcAft>
                <a:spcPts val="0"/>
              </a:spcAft>
              <a:buClr>
                <a:schemeClr val="dk1"/>
              </a:buClr>
              <a:buSzPts val="2800"/>
              <a:buChar char="•"/>
            </a:pPr>
            <a:r>
              <a:rPr lang="en-US">
                <a:latin typeface="Times New Roman" panose="02020603050405020304"/>
                <a:ea typeface="Times New Roman" panose="02020603050405020304"/>
                <a:cs typeface="Times New Roman" panose="02020603050405020304"/>
                <a:sym typeface="Times New Roman" panose="02020603050405020304"/>
              </a:rPr>
              <a:t>It is generally used by philosophers and thinkers to develop new concepts or to reinterpret existing ones.</a:t>
            </a:r>
            <a:endParaRPr lang="en-US">
              <a:latin typeface="Times New Roman" panose="02020603050405020304"/>
              <a:ea typeface="Times New Roman" panose="02020603050405020304"/>
              <a:cs typeface="Times New Roman" panose="02020603050405020304"/>
              <a:sym typeface="Times New Roman" panose="02020603050405020304"/>
            </a:endParaRPr>
          </a:p>
          <a:p>
            <a:pPr marL="514350" lvl="0" indent="-463550" algn="just" rtl="0">
              <a:lnSpc>
                <a:spcPct val="90000"/>
              </a:lnSpc>
              <a:spcBef>
                <a:spcPts val="1000"/>
              </a:spcBef>
              <a:spcAft>
                <a:spcPts val="0"/>
              </a:spcAft>
              <a:buClr>
                <a:schemeClr val="dk1"/>
              </a:buClr>
              <a:buSzPts val="2800"/>
              <a:buChar char="•"/>
            </a:pPr>
            <a:r>
              <a:rPr lang="en-US">
                <a:latin typeface="Times New Roman" panose="02020603050405020304"/>
                <a:ea typeface="Times New Roman" panose="02020603050405020304"/>
                <a:cs typeface="Times New Roman" panose="02020603050405020304"/>
                <a:sym typeface="Times New Roman" panose="02020603050405020304"/>
              </a:rPr>
              <a:t>Empirical research relies on experience or observation. </a:t>
            </a:r>
            <a:endParaRPr>
              <a:latin typeface="Times New Roman" panose="02020603050405020304"/>
              <a:ea typeface="Times New Roman" panose="02020603050405020304"/>
              <a:cs typeface="Times New Roman" panose="02020603050405020304"/>
              <a:sym typeface="Times New Roman" panose="02020603050405020304"/>
            </a:endParaRPr>
          </a:p>
          <a:p>
            <a:pPr marL="514350" lvl="0" indent="-463550" algn="just" rtl="0">
              <a:lnSpc>
                <a:spcPct val="90000"/>
              </a:lnSpc>
              <a:spcBef>
                <a:spcPts val="1000"/>
              </a:spcBef>
              <a:spcAft>
                <a:spcPts val="0"/>
              </a:spcAft>
              <a:buClr>
                <a:schemeClr val="dk1"/>
              </a:buClr>
              <a:buSzPts val="2800"/>
              <a:buChar char="•"/>
            </a:pPr>
            <a:r>
              <a:rPr lang="en-US">
                <a:latin typeface="Times New Roman" panose="02020603050405020304"/>
                <a:ea typeface="Times New Roman" panose="02020603050405020304"/>
                <a:cs typeface="Times New Roman" panose="02020603050405020304"/>
                <a:sym typeface="Times New Roman" panose="02020603050405020304"/>
              </a:rPr>
              <a:t>It is data-based research, coming up with conclusions that are capable of being verified by observation or experiment.</a:t>
            </a:r>
            <a:endParaRPr lang="en-US">
              <a:latin typeface="Times New Roman" panose="02020603050405020304"/>
              <a:ea typeface="Times New Roman" panose="02020603050405020304"/>
              <a:cs typeface="Times New Roman" panose="02020603050405020304"/>
              <a:sym typeface="Times New Roman" panose="02020603050405020304"/>
            </a:endParaRPr>
          </a:p>
          <a:p>
            <a:pPr marL="514350" lvl="0" indent="-463550" algn="just" rtl="0">
              <a:lnSpc>
                <a:spcPct val="90000"/>
              </a:lnSpc>
              <a:spcBef>
                <a:spcPts val="1000"/>
              </a:spcBef>
              <a:spcAft>
                <a:spcPts val="0"/>
              </a:spcAft>
              <a:buClr>
                <a:schemeClr val="dk1"/>
              </a:buClr>
              <a:buSzPts val="2800"/>
              <a:buChar char="•"/>
            </a:pPr>
            <a:r>
              <a:rPr lang="en-US">
                <a:latin typeface="Times New Roman" panose="02020603050405020304"/>
                <a:ea typeface="Times New Roman" panose="02020603050405020304"/>
                <a:cs typeface="Times New Roman" panose="02020603050405020304"/>
                <a:sym typeface="Times New Roman" panose="02020603050405020304"/>
              </a:rPr>
              <a:t>Empirical research is appropriate when the proof is sought that certain variables affect other variables in some way. </a:t>
            </a:r>
            <a:endParaRPr lang="en-US">
              <a:latin typeface="Times New Roman" panose="02020603050405020304"/>
              <a:ea typeface="Times New Roman" panose="02020603050405020304"/>
              <a:cs typeface="Times New Roman" panose="02020603050405020304"/>
              <a:sym typeface="Times New Roman" panose="02020603050405020304"/>
            </a:endParaRPr>
          </a:p>
          <a:p>
            <a:pPr marL="514350" lvl="0" indent="-285750" algn="just" rtl="0">
              <a:lnSpc>
                <a:spcPct val="90000"/>
              </a:lnSpc>
              <a:spcBef>
                <a:spcPts val="1000"/>
              </a:spcBef>
              <a:spcAft>
                <a:spcPts val="0"/>
              </a:spcAft>
              <a:buClr>
                <a:schemeClr val="dk1"/>
              </a:buClr>
              <a:buSzPts val="2800"/>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53" name="Shape 153"/>
        <p:cNvGrpSpPr/>
        <p:nvPr/>
      </p:nvGrpSpPr>
      <p:grpSpPr>
        <a:xfrm>
          <a:off x="0" y="0"/>
          <a:ext cx="0" cy="0"/>
          <a:chOff x="0" y="0"/>
          <a:chExt cx="0" cy="0"/>
        </a:xfrm>
      </p:grpSpPr>
      <p:sp>
        <p:nvSpPr>
          <p:cNvPr id="154" name="Google Shape;154;p13"/>
          <p:cNvSpPr txBox="1"/>
          <p:nvPr>
            <p:ph type="title"/>
          </p:nvPr>
        </p:nvSpPr>
        <p:spPr>
          <a:xfrm>
            <a:off x="838200" y="162232"/>
            <a:ext cx="10515600" cy="9144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Times New Roman" panose="02020603050405020304"/>
              <a:buNone/>
            </a:pPr>
            <a:r>
              <a:rPr lang="en-US" b="1">
                <a:latin typeface="Times New Roman" panose="02020603050405020304"/>
                <a:ea typeface="Times New Roman" panose="02020603050405020304"/>
                <a:cs typeface="Times New Roman" panose="02020603050405020304"/>
                <a:sym typeface="Times New Roman" panose="02020603050405020304"/>
              </a:rPr>
              <a:t>Some other types of research</a:t>
            </a:r>
            <a:endParaRPr b="0">
              <a:latin typeface="Times New Roman" panose="02020603050405020304"/>
              <a:ea typeface="Times New Roman" panose="02020603050405020304"/>
              <a:cs typeface="Times New Roman" panose="02020603050405020304"/>
              <a:sym typeface="Times New Roman" panose="02020603050405020304"/>
            </a:endParaRPr>
          </a:p>
        </p:txBody>
      </p:sp>
      <p:sp>
        <p:nvSpPr>
          <p:cNvPr id="155" name="Google Shape;155;p13"/>
          <p:cNvSpPr txBox="1"/>
          <p:nvPr>
            <p:ph type="body" idx="1"/>
          </p:nvPr>
        </p:nvSpPr>
        <p:spPr>
          <a:xfrm>
            <a:off x="838200" y="1238865"/>
            <a:ext cx="10515600" cy="5191432"/>
          </a:xfrm>
          <a:prstGeom prst="rect">
            <a:avLst/>
          </a:prstGeom>
          <a:noFill/>
          <a:ln>
            <a:noFill/>
          </a:ln>
        </p:spPr>
        <p:txBody>
          <a:bodyPr spcFirstLastPara="1" wrap="square" lIns="91425" tIns="45700" rIns="91425" bIns="45700" anchor="t" anchorCtr="0">
            <a:normAutofit lnSpcReduction="20000"/>
          </a:bodyPr>
          <a:lstStyle/>
          <a:p>
            <a:pPr marL="228600" lvl="0" indent="-241935" algn="just" rtl="0">
              <a:lnSpc>
                <a:spcPct val="90000"/>
              </a:lnSpc>
              <a:spcBef>
                <a:spcPts val="0"/>
              </a:spcBef>
              <a:spcAft>
                <a:spcPts val="0"/>
              </a:spcAft>
              <a:buClr>
                <a:schemeClr val="dk1"/>
              </a:buClr>
              <a:buSzPts val="2800"/>
              <a:buChar char="•"/>
            </a:pPr>
            <a:r>
              <a:rPr lang="en-US" b="1">
                <a:latin typeface="Times New Roman" panose="02020603050405020304"/>
                <a:ea typeface="Times New Roman" panose="02020603050405020304"/>
                <a:cs typeface="Times New Roman" panose="02020603050405020304"/>
                <a:sym typeface="Times New Roman" panose="02020603050405020304"/>
              </a:rPr>
              <a:t>One-time research or Longitudinal research</a:t>
            </a:r>
            <a:r>
              <a:rPr lang="en-US">
                <a:latin typeface="Times New Roman" panose="02020603050405020304"/>
                <a:ea typeface="Times New Roman" panose="02020603050405020304"/>
                <a:cs typeface="Times New Roman" panose="02020603050405020304"/>
                <a:sym typeface="Times New Roman" panose="02020603050405020304"/>
              </a:rPr>
              <a:t>:  In the first case, the research is confined to a single time period, whereas in the second case, the research is carried over several time periods.</a:t>
            </a:r>
            <a:endParaRPr lang="en-US">
              <a:latin typeface="Times New Roman" panose="02020603050405020304"/>
              <a:ea typeface="Times New Roman" panose="02020603050405020304"/>
              <a:cs typeface="Times New Roman" panose="02020603050405020304"/>
              <a:sym typeface="Times New Roman" panose="02020603050405020304"/>
            </a:endParaRPr>
          </a:p>
          <a:p>
            <a:pPr marL="228600" lvl="0" indent="-241935" algn="just" rtl="0">
              <a:lnSpc>
                <a:spcPct val="90000"/>
              </a:lnSpc>
              <a:spcBef>
                <a:spcPts val="1000"/>
              </a:spcBef>
              <a:spcAft>
                <a:spcPts val="0"/>
              </a:spcAft>
              <a:buClr>
                <a:schemeClr val="dk1"/>
              </a:buClr>
              <a:buSzPts val="2800"/>
              <a:buChar char="•"/>
            </a:pPr>
            <a:r>
              <a:rPr lang="en-US" b="1">
                <a:latin typeface="Times New Roman" panose="02020603050405020304"/>
                <a:ea typeface="Times New Roman" panose="02020603050405020304"/>
                <a:cs typeface="Times New Roman" panose="02020603050405020304"/>
                <a:sym typeface="Times New Roman" panose="02020603050405020304"/>
              </a:rPr>
              <a:t>Field-setting research or Laboratory research or Simulation research: </a:t>
            </a:r>
            <a:r>
              <a:rPr lang="en-US">
                <a:latin typeface="Times New Roman" panose="02020603050405020304"/>
                <a:ea typeface="Times New Roman" panose="02020603050405020304"/>
                <a:cs typeface="Times New Roman" panose="02020603050405020304"/>
                <a:sym typeface="Times New Roman" panose="02020603050405020304"/>
              </a:rPr>
              <a:t>Depending upon the environment in which it is to be carried out.</a:t>
            </a:r>
            <a:endParaRPr lang="en-US">
              <a:latin typeface="Times New Roman" panose="02020603050405020304"/>
              <a:ea typeface="Times New Roman" panose="02020603050405020304"/>
              <a:cs typeface="Times New Roman" panose="02020603050405020304"/>
              <a:sym typeface="Times New Roman" panose="02020603050405020304"/>
            </a:endParaRPr>
          </a:p>
          <a:p>
            <a:pPr marL="228600" lvl="0" indent="-241935" algn="just" rtl="0">
              <a:lnSpc>
                <a:spcPct val="90000"/>
              </a:lnSpc>
              <a:spcBef>
                <a:spcPts val="1000"/>
              </a:spcBef>
              <a:spcAft>
                <a:spcPts val="0"/>
              </a:spcAft>
              <a:buClr>
                <a:schemeClr val="dk1"/>
              </a:buClr>
              <a:buSzPts val="2800"/>
              <a:buChar char="•"/>
            </a:pPr>
            <a:r>
              <a:rPr lang="en-US" b="1">
                <a:latin typeface="Times New Roman" panose="02020603050405020304"/>
                <a:ea typeface="Times New Roman" panose="02020603050405020304"/>
                <a:cs typeface="Times New Roman" panose="02020603050405020304"/>
                <a:sym typeface="Times New Roman" panose="02020603050405020304"/>
              </a:rPr>
              <a:t>Clinical or Diagnostic research</a:t>
            </a:r>
            <a:r>
              <a:rPr lang="en-US">
                <a:latin typeface="Times New Roman" panose="02020603050405020304"/>
                <a:ea typeface="Times New Roman" panose="02020603050405020304"/>
                <a:cs typeface="Times New Roman" panose="02020603050405020304"/>
                <a:sym typeface="Times New Roman" panose="02020603050405020304"/>
              </a:rPr>
              <a:t>: Such research follows case-study methods or in-depth approaches to reach the basic causal relations.</a:t>
            </a:r>
            <a:endParaRPr lang="en-US">
              <a:latin typeface="Times New Roman" panose="02020603050405020304"/>
              <a:ea typeface="Times New Roman" panose="02020603050405020304"/>
              <a:cs typeface="Times New Roman" panose="02020603050405020304"/>
              <a:sym typeface="Times New Roman" panose="02020603050405020304"/>
            </a:endParaRPr>
          </a:p>
          <a:p>
            <a:pPr marL="228600" lvl="0" indent="-241935" algn="just" rtl="0">
              <a:lnSpc>
                <a:spcPct val="90000"/>
              </a:lnSpc>
              <a:spcBef>
                <a:spcPts val="1000"/>
              </a:spcBef>
              <a:spcAft>
                <a:spcPts val="0"/>
              </a:spcAft>
              <a:buClr>
                <a:schemeClr val="dk1"/>
              </a:buClr>
              <a:buSzPts val="2800"/>
              <a:buChar char="•"/>
            </a:pPr>
            <a:r>
              <a:rPr lang="en-US" b="1">
                <a:latin typeface="Times New Roman" panose="02020603050405020304"/>
                <a:ea typeface="Times New Roman" panose="02020603050405020304"/>
                <a:cs typeface="Times New Roman" panose="02020603050405020304"/>
                <a:sym typeface="Times New Roman" panose="02020603050405020304"/>
              </a:rPr>
              <a:t>Exploratory or Formalized research: </a:t>
            </a:r>
            <a:r>
              <a:rPr lang="en-US">
                <a:latin typeface="Times New Roman" panose="02020603050405020304"/>
                <a:ea typeface="Times New Roman" panose="02020603050405020304"/>
                <a:cs typeface="Times New Roman" panose="02020603050405020304"/>
                <a:sym typeface="Times New Roman" panose="02020603050405020304"/>
              </a:rPr>
              <a:t>The objective of exploratory research is the development of hypotheses rather than their testing, whereas Formalized research studies are those with substantial structure and with specific hypotheses to be tested.</a:t>
            </a:r>
            <a:endParaRPr b="1">
              <a:latin typeface="Times New Roman" panose="02020603050405020304"/>
              <a:ea typeface="Times New Roman" panose="02020603050405020304"/>
              <a:cs typeface="Times New Roman" panose="02020603050405020304"/>
              <a:sym typeface="Times New Roman" panose="02020603050405020304"/>
            </a:endParaRPr>
          </a:p>
          <a:p>
            <a:pPr marL="228600" lvl="0" indent="-241935" algn="just" rtl="0">
              <a:lnSpc>
                <a:spcPct val="90000"/>
              </a:lnSpc>
              <a:spcBef>
                <a:spcPts val="1000"/>
              </a:spcBef>
              <a:spcAft>
                <a:spcPts val="0"/>
              </a:spcAft>
              <a:buClr>
                <a:schemeClr val="dk1"/>
              </a:buClr>
              <a:buSzPts val="2800"/>
              <a:buChar char="•"/>
            </a:pPr>
            <a:r>
              <a:rPr lang="en-US" b="1">
                <a:latin typeface="Times New Roman" panose="02020603050405020304"/>
                <a:ea typeface="Times New Roman" panose="02020603050405020304"/>
                <a:cs typeface="Times New Roman" panose="02020603050405020304"/>
                <a:sym typeface="Times New Roman" panose="02020603050405020304"/>
              </a:rPr>
              <a:t>Historical research: </a:t>
            </a:r>
            <a:r>
              <a:rPr lang="en-US">
                <a:latin typeface="Times New Roman" panose="02020603050405020304"/>
                <a:ea typeface="Times New Roman" panose="02020603050405020304"/>
                <a:cs typeface="Times New Roman" panose="02020603050405020304"/>
                <a:sym typeface="Times New Roman" panose="02020603050405020304"/>
              </a:rPr>
              <a:t>It is a study that utilizes historical documents to study events or ideas of the past, including the philosophy of persons and groups at any remote point in time.</a:t>
            </a:r>
            <a:endParaRPr lang="en-US">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59" name="Shape 159"/>
        <p:cNvGrpSpPr/>
        <p:nvPr/>
      </p:nvGrpSpPr>
      <p:grpSpPr>
        <a:xfrm>
          <a:off x="0" y="0"/>
          <a:ext cx="0" cy="0"/>
          <a:chOff x="0" y="0"/>
          <a:chExt cx="0" cy="0"/>
        </a:xfrm>
      </p:grpSpPr>
      <p:sp>
        <p:nvSpPr>
          <p:cNvPr id="160" name="Google Shape;160;p14"/>
          <p:cNvSpPr txBox="1"/>
          <p:nvPr>
            <p:ph type="title"/>
          </p:nvPr>
        </p:nvSpPr>
        <p:spPr>
          <a:xfrm>
            <a:off x="1074175" y="2592131"/>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Times New Roman" panose="02020603050405020304"/>
              <a:buNone/>
            </a:pPr>
            <a:r>
              <a:rPr lang="en-US" b="1">
                <a:latin typeface="Times New Roman" panose="02020603050405020304"/>
                <a:ea typeface="Times New Roman" panose="02020603050405020304"/>
                <a:cs typeface="Times New Roman" panose="02020603050405020304"/>
                <a:sym typeface="Times New Roman" panose="02020603050405020304"/>
              </a:rPr>
              <a:t>Research Process: A Quick Glance</a:t>
            </a: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64" name="Shape 164"/>
        <p:cNvGrpSpPr/>
        <p:nvPr/>
      </p:nvGrpSpPr>
      <p:grpSpPr>
        <a:xfrm>
          <a:off x="0" y="0"/>
          <a:ext cx="0" cy="0"/>
          <a:chOff x="0" y="0"/>
          <a:chExt cx="0" cy="0"/>
        </a:xfrm>
      </p:grpSpPr>
      <p:sp>
        <p:nvSpPr>
          <p:cNvPr id="165" name="Google Shape;165;p15"/>
          <p:cNvSpPr txBox="1"/>
          <p:nvPr>
            <p:ph type="title"/>
          </p:nvPr>
        </p:nvSpPr>
        <p:spPr>
          <a:xfrm>
            <a:off x="838200" y="162232"/>
            <a:ext cx="10515600" cy="9144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Times New Roman" panose="02020603050405020304"/>
              <a:buNone/>
            </a:pPr>
            <a:r>
              <a:rPr lang="en-US" b="1">
                <a:latin typeface="Times New Roman" panose="02020603050405020304"/>
                <a:ea typeface="Times New Roman" panose="02020603050405020304"/>
                <a:cs typeface="Times New Roman" panose="02020603050405020304"/>
                <a:sym typeface="Times New Roman" panose="02020603050405020304"/>
              </a:rPr>
              <a:t>Research Process: A Quick Glance</a:t>
            </a:r>
            <a:endParaRPr b="0">
              <a:latin typeface="Times New Roman" panose="02020603050405020304"/>
              <a:ea typeface="Times New Roman" panose="02020603050405020304"/>
              <a:cs typeface="Times New Roman" panose="02020603050405020304"/>
              <a:sym typeface="Times New Roman" panose="02020603050405020304"/>
            </a:endParaRPr>
          </a:p>
        </p:txBody>
      </p:sp>
      <p:sp>
        <p:nvSpPr>
          <p:cNvPr id="166" name="Google Shape;166;p15"/>
          <p:cNvSpPr txBox="1"/>
          <p:nvPr>
            <p:ph type="body" idx="1"/>
          </p:nvPr>
        </p:nvSpPr>
        <p:spPr>
          <a:xfrm>
            <a:off x="838200" y="1238865"/>
            <a:ext cx="10515600" cy="5191432"/>
          </a:xfrm>
          <a:prstGeom prst="rect">
            <a:avLst/>
          </a:prstGeom>
          <a:noFill/>
          <a:ln>
            <a:noFill/>
          </a:ln>
        </p:spPr>
        <p:txBody>
          <a:bodyPr spcFirstLastPara="1" wrap="square" lIns="91425" tIns="45700" rIns="91425" bIns="45700" anchor="t" anchorCtr="0">
            <a:normAutofit fontScale="92500" lnSpcReduction="20000"/>
          </a:bodyPr>
          <a:lstStyle/>
          <a:p>
            <a:pPr marL="0" lvl="0" indent="0" algn="l" rtl="0">
              <a:lnSpc>
                <a:spcPct val="90000"/>
              </a:lnSpc>
              <a:spcBef>
                <a:spcPts val="0"/>
              </a:spcBef>
              <a:spcAft>
                <a:spcPts val="0"/>
              </a:spcAft>
              <a:buClr>
                <a:schemeClr val="dk1"/>
              </a:buClr>
              <a:buSzPct val="100000"/>
              <a:buNone/>
            </a:pPr>
            <a:r>
              <a:rPr lang="en-US">
                <a:latin typeface="Times New Roman" panose="02020603050405020304"/>
                <a:ea typeface="Times New Roman" panose="02020603050405020304"/>
                <a:cs typeface="Times New Roman" panose="02020603050405020304"/>
                <a:sym typeface="Times New Roman" panose="02020603050405020304"/>
              </a:rPr>
              <a:t>The eight-step model for carrying out research</a:t>
            </a:r>
            <a:endParaRPr b="0">
              <a:latin typeface="Times New Roman" panose="02020603050405020304"/>
              <a:ea typeface="Times New Roman" panose="02020603050405020304"/>
              <a:cs typeface="Times New Roman" panose="02020603050405020304"/>
              <a:sym typeface="Times New Roman" panose="02020603050405020304"/>
            </a:endParaRPr>
          </a:p>
          <a:p>
            <a:pPr marL="228600" lvl="0" indent="-228600" algn="l" rtl="0">
              <a:lnSpc>
                <a:spcPct val="90000"/>
              </a:lnSpc>
              <a:spcBef>
                <a:spcPts val="1000"/>
              </a:spcBef>
              <a:spcAft>
                <a:spcPts val="0"/>
              </a:spcAft>
              <a:buClr>
                <a:schemeClr val="dk1"/>
              </a:buClr>
              <a:buSzPct val="100000"/>
              <a:buChar char="•"/>
            </a:pPr>
            <a:r>
              <a:rPr lang="en-US" b="1">
                <a:latin typeface="Times New Roman" panose="02020603050405020304"/>
                <a:ea typeface="Times New Roman" panose="02020603050405020304"/>
                <a:cs typeface="Times New Roman" panose="02020603050405020304"/>
                <a:sym typeface="Times New Roman" panose="02020603050405020304"/>
              </a:rPr>
              <a:t>PHASE I DECIDING WHAT TO RESEARCH</a:t>
            </a:r>
            <a:endParaRPr b="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1000"/>
              </a:spcBef>
              <a:spcAft>
                <a:spcPts val="0"/>
              </a:spcAft>
              <a:buClr>
                <a:schemeClr val="dk1"/>
              </a:buClr>
              <a:buSzPct val="100000"/>
              <a:buNone/>
            </a:pPr>
            <a:r>
              <a:rPr lang="en-US">
                <a:latin typeface="Times New Roman" panose="02020603050405020304"/>
                <a:ea typeface="Times New Roman" panose="02020603050405020304"/>
                <a:cs typeface="Times New Roman" panose="02020603050405020304"/>
                <a:sym typeface="Times New Roman" panose="02020603050405020304"/>
              </a:rPr>
              <a:t>	Step I Formulating a research problem</a:t>
            </a:r>
            <a:endParaRPr b="0">
              <a:latin typeface="Times New Roman" panose="02020603050405020304"/>
              <a:ea typeface="Times New Roman" panose="02020603050405020304"/>
              <a:cs typeface="Times New Roman" panose="02020603050405020304"/>
              <a:sym typeface="Times New Roman" panose="02020603050405020304"/>
            </a:endParaRPr>
          </a:p>
          <a:p>
            <a:pPr marL="228600" lvl="0" indent="-228600" algn="l" rtl="0">
              <a:lnSpc>
                <a:spcPct val="90000"/>
              </a:lnSpc>
              <a:spcBef>
                <a:spcPts val="1000"/>
              </a:spcBef>
              <a:spcAft>
                <a:spcPts val="0"/>
              </a:spcAft>
              <a:buClr>
                <a:schemeClr val="dk1"/>
              </a:buClr>
              <a:buSzPct val="100000"/>
              <a:buChar char="•"/>
            </a:pPr>
            <a:r>
              <a:rPr lang="en-US" b="1">
                <a:latin typeface="Times New Roman" panose="02020603050405020304"/>
                <a:ea typeface="Times New Roman" panose="02020603050405020304"/>
                <a:cs typeface="Times New Roman" panose="02020603050405020304"/>
                <a:sym typeface="Times New Roman" panose="02020603050405020304"/>
              </a:rPr>
              <a:t>PHASE II PLANNING A RESEARCH STUDY</a:t>
            </a:r>
            <a:endParaRPr b="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1000"/>
              </a:spcBef>
              <a:spcAft>
                <a:spcPts val="0"/>
              </a:spcAft>
              <a:buClr>
                <a:schemeClr val="dk1"/>
              </a:buClr>
              <a:buSzPct val="100000"/>
              <a:buNone/>
            </a:pPr>
            <a:r>
              <a:rPr lang="en-US">
                <a:latin typeface="Times New Roman" panose="02020603050405020304"/>
                <a:ea typeface="Times New Roman" panose="02020603050405020304"/>
                <a:cs typeface="Times New Roman" panose="02020603050405020304"/>
                <a:sym typeface="Times New Roman" panose="02020603050405020304"/>
              </a:rPr>
              <a:t>	Step II Conceptualising a research design</a:t>
            </a:r>
            <a:endParaRPr b="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1000"/>
              </a:spcBef>
              <a:spcAft>
                <a:spcPts val="0"/>
              </a:spcAft>
              <a:buClr>
                <a:schemeClr val="dk1"/>
              </a:buClr>
              <a:buSzPct val="100000"/>
              <a:buNone/>
            </a:pPr>
            <a:r>
              <a:rPr lang="en-US">
                <a:latin typeface="Times New Roman" panose="02020603050405020304"/>
                <a:ea typeface="Times New Roman" panose="02020603050405020304"/>
                <a:cs typeface="Times New Roman" panose="02020603050405020304"/>
                <a:sym typeface="Times New Roman" panose="02020603050405020304"/>
              </a:rPr>
              <a:t>	Step III Constructing an instrument for data collection</a:t>
            </a:r>
            <a:endParaRPr b="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1000"/>
              </a:spcBef>
              <a:spcAft>
                <a:spcPts val="0"/>
              </a:spcAft>
              <a:buClr>
                <a:schemeClr val="dk1"/>
              </a:buClr>
              <a:buSzPct val="100000"/>
              <a:buNone/>
            </a:pPr>
            <a:r>
              <a:rPr lang="en-US">
                <a:latin typeface="Times New Roman" panose="02020603050405020304"/>
                <a:ea typeface="Times New Roman" panose="02020603050405020304"/>
                <a:cs typeface="Times New Roman" panose="02020603050405020304"/>
                <a:sym typeface="Times New Roman" panose="02020603050405020304"/>
              </a:rPr>
              <a:t>	Step IV Selecting a sample</a:t>
            </a:r>
            <a:endParaRPr b="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1000"/>
              </a:spcBef>
              <a:spcAft>
                <a:spcPts val="0"/>
              </a:spcAft>
              <a:buClr>
                <a:schemeClr val="dk1"/>
              </a:buClr>
              <a:buSzPct val="100000"/>
              <a:buNone/>
            </a:pPr>
            <a:r>
              <a:rPr lang="en-US">
                <a:latin typeface="Times New Roman" panose="02020603050405020304"/>
                <a:ea typeface="Times New Roman" panose="02020603050405020304"/>
                <a:cs typeface="Times New Roman" panose="02020603050405020304"/>
                <a:sym typeface="Times New Roman" panose="02020603050405020304"/>
              </a:rPr>
              <a:t>	Step V Writing a research proposal</a:t>
            </a:r>
            <a:endParaRPr b="0">
              <a:latin typeface="Times New Roman" panose="02020603050405020304"/>
              <a:ea typeface="Times New Roman" panose="02020603050405020304"/>
              <a:cs typeface="Times New Roman" panose="02020603050405020304"/>
              <a:sym typeface="Times New Roman" panose="02020603050405020304"/>
            </a:endParaRPr>
          </a:p>
          <a:p>
            <a:pPr marL="228600" lvl="0" indent="-228600" algn="l" rtl="0">
              <a:lnSpc>
                <a:spcPct val="90000"/>
              </a:lnSpc>
              <a:spcBef>
                <a:spcPts val="1000"/>
              </a:spcBef>
              <a:spcAft>
                <a:spcPts val="0"/>
              </a:spcAft>
              <a:buClr>
                <a:schemeClr val="dk1"/>
              </a:buClr>
              <a:buSzPct val="100000"/>
              <a:buChar char="•"/>
            </a:pPr>
            <a:r>
              <a:rPr lang="en-US" b="1">
                <a:latin typeface="Times New Roman" panose="02020603050405020304"/>
                <a:ea typeface="Times New Roman" panose="02020603050405020304"/>
                <a:cs typeface="Times New Roman" panose="02020603050405020304"/>
                <a:sym typeface="Times New Roman" panose="02020603050405020304"/>
              </a:rPr>
              <a:t>PHASE III CONDUCTING A RESEARCH STUDY</a:t>
            </a:r>
            <a:endParaRPr b="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1000"/>
              </a:spcBef>
              <a:spcAft>
                <a:spcPts val="0"/>
              </a:spcAft>
              <a:buClr>
                <a:schemeClr val="dk1"/>
              </a:buClr>
              <a:buSzPct val="100000"/>
              <a:buNone/>
            </a:pPr>
            <a:r>
              <a:rPr lang="en-US">
                <a:latin typeface="Times New Roman" panose="02020603050405020304"/>
                <a:ea typeface="Times New Roman" panose="02020603050405020304"/>
                <a:cs typeface="Times New Roman" panose="02020603050405020304"/>
                <a:sym typeface="Times New Roman" panose="02020603050405020304"/>
              </a:rPr>
              <a:t>	Step VI Collecting data</a:t>
            </a:r>
            <a:endParaRPr b="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1000"/>
              </a:spcBef>
              <a:spcAft>
                <a:spcPts val="0"/>
              </a:spcAft>
              <a:buClr>
                <a:schemeClr val="dk1"/>
              </a:buClr>
              <a:buSzPct val="100000"/>
              <a:buNone/>
            </a:pPr>
            <a:r>
              <a:rPr lang="en-US">
                <a:latin typeface="Times New Roman" panose="02020603050405020304"/>
                <a:ea typeface="Times New Roman" panose="02020603050405020304"/>
                <a:cs typeface="Times New Roman" panose="02020603050405020304"/>
                <a:sym typeface="Times New Roman" panose="02020603050405020304"/>
              </a:rPr>
              <a:t>	Step VII Processing and displaying data</a:t>
            </a:r>
            <a:endParaRPr b="0">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1000"/>
              </a:spcBef>
              <a:spcAft>
                <a:spcPts val="0"/>
              </a:spcAft>
              <a:buClr>
                <a:schemeClr val="dk1"/>
              </a:buClr>
              <a:buSzPct val="100000"/>
              <a:buNone/>
            </a:pPr>
            <a:r>
              <a:rPr lang="en-US">
                <a:latin typeface="Times New Roman" panose="02020603050405020304"/>
                <a:ea typeface="Times New Roman" panose="02020603050405020304"/>
                <a:cs typeface="Times New Roman" panose="02020603050405020304"/>
                <a:sym typeface="Times New Roman" panose="02020603050405020304"/>
              </a:rPr>
              <a:t>	Step VIII Writing a research report</a:t>
            </a:r>
            <a:endParaRPr b="0">
              <a:latin typeface="Times New Roman" panose="02020603050405020304"/>
              <a:ea typeface="Times New Roman" panose="02020603050405020304"/>
              <a:cs typeface="Times New Roman" panose="02020603050405020304"/>
              <a:sym typeface="Times New Roman" panose="02020603050405020304"/>
            </a:endParaRPr>
          </a:p>
          <a:p>
            <a:pPr marL="228600" lvl="0" indent="-64135" algn="l" rtl="0">
              <a:lnSpc>
                <a:spcPct val="90000"/>
              </a:lnSpc>
              <a:spcBef>
                <a:spcPts val="1000"/>
              </a:spcBef>
              <a:spcAft>
                <a:spcPts val="0"/>
              </a:spcAft>
              <a:buClr>
                <a:schemeClr val="dk1"/>
              </a:buClr>
              <a:buSzPct val="100000"/>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70" name="Shape 170"/>
        <p:cNvGrpSpPr/>
        <p:nvPr/>
      </p:nvGrpSpPr>
      <p:grpSpPr>
        <a:xfrm>
          <a:off x="0" y="0"/>
          <a:ext cx="0" cy="0"/>
          <a:chOff x="0" y="0"/>
          <a:chExt cx="0" cy="0"/>
        </a:xfrm>
      </p:grpSpPr>
      <p:sp>
        <p:nvSpPr>
          <p:cNvPr id="171" name="Google Shape;171;p16"/>
          <p:cNvSpPr txBox="1"/>
          <p:nvPr>
            <p:ph type="body" idx="1"/>
          </p:nvPr>
        </p:nvSpPr>
        <p:spPr>
          <a:xfrm>
            <a:off x="838200" y="412955"/>
            <a:ext cx="10515600" cy="6297561"/>
          </a:xfrm>
          <a:prstGeom prst="rect">
            <a:avLst/>
          </a:prstGeom>
          <a:noFill/>
          <a:ln>
            <a:noFill/>
          </a:ln>
        </p:spPr>
        <p:txBody>
          <a:bodyPr spcFirstLastPara="1" wrap="square" lIns="91425" tIns="45700" rIns="91425" bIns="45700" anchor="t" anchorCtr="0">
            <a:normAutofit fontScale="92500" lnSpcReduction="20000"/>
          </a:bodyPr>
          <a:lstStyle/>
          <a:p>
            <a:pPr marL="0" lvl="0" indent="0" algn="just" rtl="0">
              <a:lnSpc>
                <a:spcPct val="90000"/>
              </a:lnSpc>
              <a:spcBef>
                <a:spcPts val="0"/>
              </a:spcBef>
              <a:spcAft>
                <a:spcPts val="0"/>
              </a:spcAft>
              <a:buClr>
                <a:schemeClr val="dk1"/>
              </a:buClr>
              <a:buSzPct val="100000"/>
              <a:buNone/>
            </a:pPr>
            <a:r>
              <a:rPr lang="en-US" b="1">
                <a:latin typeface="Times New Roman" panose="02020603050405020304"/>
                <a:ea typeface="Times New Roman" panose="02020603050405020304"/>
                <a:cs typeface="Times New Roman" panose="02020603050405020304"/>
                <a:sym typeface="Times New Roman" panose="02020603050405020304"/>
              </a:rPr>
              <a:t>Step I : Formulating a research problem</a:t>
            </a:r>
            <a:endParaRPr>
              <a:latin typeface="Times New Roman" panose="02020603050405020304"/>
              <a:ea typeface="Times New Roman" panose="02020603050405020304"/>
              <a:cs typeface="Times New Roman" panose="02020603050405020304"/>
              <a:sym typeface="Times New Roman" panose="02020603050405020304"/>
            </a:endParaRPr>
          </a:p>
          <a:p>
            <a:pPr marL="457200" lvl="0" indent="-457200" algn="just" rtl="0">
              <a:lnSpc>
                <a:spcPct val="90000"/>
              </a:lnSpc>
              <a:spcBef>
                <a:spcPts val="1000"/>
              </a:spcBef>
              <a:spcAft>
                <a:spcPts val="0"/>
              </a:spcAft>
              <a:buClr>
                <a:schemeClr val="dk1"/>
              </a:buClr>
              <a:buSzPct val="100000"/>
              <a:buChar char="•"/>
            </a:pPr>
            <a:r>
              <a:rPr lang="en-US">
                <a:latin typeface="Times New Roman" panose="02020603050405020304"/>
                <a:ea typeface="Times New Roman" panose="02020603050405020304"/>
                <a:cs typeface="Times New Roman" panose="02020603050405020304"/>
                <a:sym typeface="Times New Roman" panose="02020603050405020304"/>
              </a:rPr>
              <a:t>Formulating a research problem is the first and most important step in the research process. </a:t>
            </a:r>
            <a:endParaRPr lang="en-US">
              <a:latin typeface="Times New Roman" panose="02020603050405020304"/>
              <a:ea typeface="Times New Roman" panose="02020603050405020304"/>
              <a:cs typeface="Times New Roman" panose="02020603050405020304"/>
              <a:sym typeface="Times New Roman" panose="02020603050405020304"/>
            </a:endParaRPr>
          </a:p>
          <a:p>
            <a:pPr marL="457200" lvl="0" indent="-457200" algn="just" rtl="0">
              <a:lnSpc>
                <a:spcPct val="90000"/>
              </a:lnSpc>
              <a:spcBef>
                <a:spcPts val="1000"/>
              </a:spcBef>
              <a:spcAft>
                <a:spcPts val="0"/>
              </a:spcAft>
              <a:buClr>
                <a:schemeClr val="dk1"/>
              </a:buClr>
              <a:buSzPct val="100000"/>
              <a:buChar char="•"/>
            </a:pPr>
            <a:r>
              <a:rPr lang="en-US">
                <a:latin typeface="Times New Roman" panose="02020603050405020304"/>
                <a:ea typeface="Times New Roman" panose="02020603050405020304"/>
                <a:cs typeface="Times New Roman" panose="02020603050405020304"/>
                <a:sym typeface="Times New Roman" panose="02020603050405020304"/>
              </a:rPr>
              <a:t>A research problem identifies your destination: </a:t>
            </a:r>
            <a:endParaRPr lang="en-US">
              <a:latin typeface="Times New Roman" panose="02020603050405020304"/>
              <a:ea typeface="Times New Roman" panose="02020603050405020304"/>
              <a:cs typeface="Times New Roman" panose="02020603050405020304"/>
              <a:sym typeface="Times New Roman" panose="02020603050405020304"/>
            </a:endParaRPr>
          </a:p>
          <a:p>
            <a:pPr marL="457200" lvl="0" indent="-457200" algn="just" rtl="0">
              <a:lnSpc>
                <a:spcPct val="90000"/>
              </a:lnSpc>
              <a:spcBef>
                <a:spcPts val="1000"/>
              </a:spcBef>
              <a:spcAft>
                <a:spcPts val="0"/>
              </a:spcAft>
              <a:buClr>
                <a:schemeClr val="dk1"/>
              </a:buClr>
              <a:buSzPct val="100000"/>
              <a:buChar char="•"/>
            </a:pPr>
            <a:r>
              <a:rPr lang="en-US">
                <a:latin typeface="Times New Roman" panose="02020603050405020304"/>
                <a:ea typeface="Times New Roman" panose="02020603050405020304"/>
                <a:cs typeface="Times New Roman" panose="02020603050405020304"/>
                <a:sym typeface="Times New Roman" panose="02020603050405020304"/>
              </a:rPr>
              <a:t>It should tell you, your research supervisor, and your readers what you intend to research.</a:t>
            </a:r>
            <a:endParaRPr lang="en-US">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lnSpc>
                <a:spcPct val="90000"/>
              </a:lnSpc>
              <a:spcBef>
                <a:spcPts val="1000"/>
              </a:spcBef>
              <a:spcAft>
                <a:spcPts val="0"/>
              </a:spcAft>
              <a:buClr>
                <a:schemeClr val="dk1"/>
              </a:buClr>
              <a:buSzPct val="100000"/>
              <a:buNone/>
            </a:pPr>
            <a:r>
              <a:rPr lang="en-US" b="1">
                <a:latin typeface="Times New Roman" panose="02020603050405020304"/>
                <a:ea typeface="Times New Roman" panose="02020603050405020304"/>
                <a:cs typeface="Times New Roman" panose="02020603050405020304"/>
                <a:sym typeface="Times New Roman" panose="02020603050405020304"/>
              </a:rPr>
              <a:t>Step II Conceptualizing a research design</a:t>
            </a:r>
            <a:endParaRPr b="0">
              <a:latin typeface="Times New Roman" panose="02020603050405020304"/>
              <a:ea typeface="Times New Roman" panose="02020603050405020304"/>
              <a:cs typeface="Times New Roman" panose="02020603050405020304"/>
              <a:sym typeface="Times New Roman" panose="02020603050405020304"/>
            </a:endParaRPr>
          </a:p>
          <a:p>
            <a:pPr marL="516255" lvl="0" indent="-516255" algn="just" rtl="0">
              <a:lnSpc>
                <a:spcPct val="90000"/>
              </a:lnSpc>
              <a:spcBef>
                <a:spcPts val="1000"/>
              </a:spcBef>
              <a:spcAft>
                <a:spcPts val="0"/>
              </a:spcAft>
              <a:buClr>
                <a:schemeClr val="dk1"/>
              </a:buClr>
              <a:buSzPct val="100000"/>
              <a:buChar char="•"/>
            </a:pPr>
            <a:r>
              <a:rPr lang="en-US">
                <a:latin typeface="Times New Roman" panose="02020603050405020304"/>
                <a:ea typeface="Times New Roman" panose="02020603050405020304"/>
                <a:cs typeface="Times New Roman" panose="02020603050405020304"/>
                <a:sym typeface="Times New Roman" panose="02020603050405020304"/>
              </a:rPr>
              <a:t>An important feature of the research process which use the appropriate methods.</a:t>
            </a:r>
            <a:endParaRPr lang="en-US">
              <a:latin typeface="Times New Roman" panose="02020603050405020304"/>
              <a:ea typeface="Times New Roman" panose="02020603050405020304"/>
              <a:cs typeface="Times New Roman" panose="02020603050405020304"/>
              <a:sym typeface="Times New Roman" panose="02020603050405020304"/>
            </a:endParaRPr>
          </a:p>
          <a:p>
            <a:pPr marL="516255" lvl="0" indent="-516255" algn="just" rtl="0">
              <a:lnSpc>
                <a:spcPct val="90000"/>
              </a:lnSpc>
              <a:spcBef>
                <a:spcPts val="1000"/>
              </a:spcBef>
              <a:spcAft>
                <a:spcPts val="0"/>
              </a:spcAft>
              <a:buClr>
                <a:schemeClr val="dk1"/>
              </a:buClr>
              <a:buSzPct val="100000"/>
              <a:buChar char="•"/>
            </a:pPr>
            <a:r>
              <a:rPr lang="en-US">
                <a:latin typeface="Times New Roman" panose="02020603050405020304"/>
                <a:ea typeface="Times New Roman" panose="02020603050405020304"/>
                <a:cs typeface="Times New Roman" panose="02020603050405020304"/>
                <a:sym typeface="Times New Roman" panose="02020603050405020304"/>
              </a:rPr>
              <a:t>It involves identifying gaps in knowledge, verification of what is already known, and identification of past errors and limitations. </a:t>
            </a:r>
            <a:endParaRPr lang="en-US">
              <a:latin typeface="Times New Roman" panose="02020603050405020304"/>
              <a:ea typeface="Times New Roman" panose="02020603050405020304"/>
              <a:cs typeface="Times New Roman" panose="02020603050405020304"/>
              <a:sym typeface="Times New Roman" panose="02020603050405020304"/>
            </a:endParaRPr>
          </a:p>
          <a:p>
            <a:pPr marL="516255" lvl="0" indent="-516255" algn="just" rtl="0">
              <a:lnSpc>
                <a:spcPct val="90000"/>
              </a:lnSpc>
              <a:spcBef>
                <a:spcPts val="1000"/>
              </a:spcBef>
              <a:spcAft>
                <a:spcPts val="0"/>
              </a:spcAft>
              <a:buClr>
                <a:schemeClr val="dk1"/>
              </a:buClr>
              <a:buSzPct val="100000"/>
              <a:buChar char="•"/>
            </a:pPr>
            <a:r>
              <a:rPr lang="en-US">
                <a:latin typeface="Times New Roman" panose="02020603050405020304"/>
                <a:ea typeface="Times New Roman" panose="02020603050405020304"/>
                <a:cs typeface="Times New Roman" panose="02020603050405020304"/>
                <a:sym typeface="Times New Roman" panose="02020603050405020304"/>
              </a:rPr>
              <a:t>The strength of what you find largely rests on how it was found.</a:t>
            </a:r>
            <a:endParaRPr lang="en-US">
              <a:latin typeface="Times New Roman" panose="02020603050405020304"/>
              <a:ea typeface="Times New Roman" panose="02020603050405020304"/>
              <a:cs typeface="Times New Roman" panose="02020603050405020304"/>
              <a:sym typeface="Times New Roman" panose="02020603050405020304"/>
            </a:endParaRPr>
          </a:p>
          <a:p>
            <a:pPr marL="516255" lvl="0" indent="-516255" algn="just" rtl="0">
              <a:lnSpc>
                <a:spcPct val="90000"/>
              </a:lnSpc>
              <a:spcBef>
                <a:spcPts val="1000"/>
              </a:spcBef>
              <a:spcAft>
                <a:spcPts val="0"/>
              </a:spcAft>
              <a:buClr>
                <a:schemeClr val="dk1"/>
              </a:buClr>
              <a:buSzPct val="100000"/>
              <a:buChar char="•"/>
            </a:pPr>
            <a:r>
              <a:rPr lang="en-US">
                <a:latin typeface="Times New Roman" panose="02020603050405020304"/>
                <a:ea typeface="Times New Roman" panose="02020603050405020304"/>
                <a:cs typeface="Times New Roman" panose="02020603050405020304"/>
                <a:sym typeface="Times New Roman" panose="02020603050405020304"/>
              </a:rPr>
              <a:t>Selection of an appropriate research design: enable to arrive at valid findings, comparisons, and conclusions. </a:t>
            </a:r>
            <a:endParaRPr lang="en-US">
              <a:latin typeface="Times New Roman" panose="02020603050405020304"/>
              <a:ea typeface="Times New Roman" panose="02020603050405020304"/>
              <a:cs typeface="Times New Roman" panose="02020603050405020304"/>
              <a:sym typeface="Times New Roman" panose="02020603050405020304"/>
            </a:endParaRPr>
          </a:p>
          <a:p>
            <a:pPr marL="516255" lvl="0" indent="-516255" algn="just" rtl="0">
              <a:lnSpc>
                <a:spcPct val="90000"/>
              </a:lnSpc>
              <a:spcBef>
                <a:spcPts val="1000"/>
              </a:spcBef>
              <a:spcAft>
                <a:spcPts val="0"/>
              </a:spcAft>
              <a:buClr>
                <a:schemeClr val="dk1"/>
              </a:buClr>
              <a:buSzPct val="100000"/>
              <a:buChar char="•"/>
            </a:pPr>
            <a:r>
              <a:rPr lang="en-US">
                <a:latin typeface="Times New Roman" panose="02020603050405020304"/>
                <a:ea typeface="Times New Roman" panose="02020603050405020304"/>
                <a:cs typeface="Times New Roman" panose="02020603050405020304"/>
                <a:sym typeface="Times New Roman" panose="02020603050405020304"/>
              </a:rPr>
              <a:t>Faulty design: mislead findings and therefore lead to wasting of human and financial resources.</a:t>
            </a: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75" name="Shape 175"/>
        <p:cNvGrpSpPr/>
        <p:nvPr/>
      </p:nvGrpSpPr>
      <p:grpSpPr>
        <a:xfrm>
          <a:off x="0" y="0"/>
          <a:ext cx="0" cy="0"/>
          <a:chOff x="0" y="0"/>
          <a:chExt cx="0" cy="0"/>
        </a:xfrm>
      </p:grpSpPr>
      <p:sp>
        <p:nvSpPr>
          <p:cNvPr id="176" name="Google Shape;176;p18"/>
          <p:cNvSpPr txBox="1"/>
          <p:nvPr>
            <p:ph type="body" idx="1"/>
          </p:nvPr>
        </p:nvSpPr>
        <p:spPr>
          <a:xfrm>
            <a:off x="838200" y="412955"/>
            <a:ext cx="10515600" cy="6297561"/>
          </a:xfrm>
          <a:prstGeom prst="rect">
            <a:avLst/>
          </a:prstGeom>
          <a:noFill/>
          <a:ln>
            <a:noFill/>
          </a:ln>
        </p:spPr>
        <p:txBody>
          <a:bodyPr spcFirstLastPara="1" wrap="square" lIns="91425" tIns="45700" rIns="91425" bIns="45700" anchor="t" anchorCtr="0">
            <a:normAutofit lnSpcReduction="10000"/>
          </a:bodyPr>
          <a:lstStyle/>
          <a:p>
            <a:pPr marL="0" lvl="0" indent="0" algn="just" rtl="0">
              <a:lnSpc>
                <a:spcPct val="90000"/>
              </a:lnSpc>
              <a:spcBef>
                <a:spcPts val="0"/>
              </a:spcBef>
              <a:spcAft>
                <a:spcPts val="0"/>
              </a:spcAft>
              <a:buClr>
                <a:schemeClr val="dk1"/>
              </a:buClr>
              <a:buSzPts val="2800"/>
              <a:buNone/>
            </a:pPr>
            <a:r>
              <a:rPr lang="en-US" b="1">
                <a:latin typeface="Times New Roman" panose="02020603050405020304"/>
                <a:ea typeface="Times New Roman" panose="02020603050405020304"/>
                <a:cs typeface="Times New Roman" panose="02020603050405020304"/>
                <a:sym typeface="Times New Roman" panose="02020603050405020304"/>
              </a:rPr>
              <a:t>Step III: Constructing an instrument for data collection</a:t>
            </a:r>
            <a:endParaRPr b="0">
              <a:latin typeface="Times New Roman" panose="02020603050405020304"/>
              <a:ea typeface="Times New Roman" panose="02020603050405020304"/>
              <a:cs typeface="Times New Roman" panose="02020603050405020304"/>
              <a:sym typeface="Times New Roman" panose="02020603050405020304"/>
            </a:endParaRPr>
          </a:p>
          <a:p>
            <a:pPr marL="228600" lvl="0" indent="-228600" algn="just" rtl="0">
              <a:lnSpc>
                <a:spcPct val="90000"/>
              </a:lnSpc>
              <a:spcBef>
                <a:spcPts val="1000"/>
              </a:spcBef>
              <a:spcAft>
                <a:spcPts val="0"/>
              </a:spcAft>
              <a:buClr>
                <a:schemeClr val="dk1"/>
              </a:buClr>
              <a:buSzPts val="2800"/>
              <a:buChar char="•"/>
            </a:pPr>
            <a:r>
              <a:rPr lang="en-US">
                <a:latin typeface="Times New Roman" panose="02020603050405020304"/>
                <a:ea typeface="Times New Roman" panose="02020603050405020304"/>
                <a:cs typeface="Times New Roman" panose="02020603050405020304"/>
                <a:sym typeface="Times New Roman" panose="02020603050405020304"/>
              </a:rPr>
              <a:t>Anything that used for collecting information for your study is called a ‘research tool’ or a ‘research instrument’, For example, observation forms, interviews, questionnaires. </a:t>
            </a:r>
            <a:endParaRPr lang="en-US">
              <a:latin typeface="Times New Roman" panose="02020603050405020304"/>
              <a:ea typeface="Times New Roman" panose="02020603050405020304"/>
              <a:cs typeface="Times New Roman" panose="02020603050405020304"/>
              <a:sym typeface="Times New Roman" panose="02020603050405020304"/>
            </a:endParaRPr>
          </a:p>
          <a:p>
            <a:pPr marL="228600" lvl="0" indent="-228600" algn="just" rtl="0">
              <a:lnSpc>
                <a:spcPct val="90000"/>
              </a:lnSpc>
              <a:spcBef>
                <a:spcPts val="1000"/>
              </a:spcBef>
              <a:spcAft>
                <a:spcPts val="0"/>
              </a:spcAft>
              <a:buClr>
                <a:schemeClr val="dk1"/>
              </a:buClr>
              <a:buSzPts val="2800"/>
              <a:buChar char="•"/>
            </a:pPr>
            <a:r>
              <a:rPr lang="en-US">
                <a:latin typeface="Times New Roman" panose="02020603050405020304"/>
                <a:ea typeface="Times New Roman" panose="02020603050405020304"/>
                <a:cs typeface="Times New Roman" panose="02020603050405020304"/>
                <a:sym typeface="Times New Roman" panose="02020603050405020304"/>
              </a:rPr>
              <a:t>The construction of a research instrument is the first ‘practical’ step in carrying out a study. </a:t>
            </a:r>
            <a:endParaRPr lang="en-US">
              <a:latin typeface="Times New Roman" panose="02020603050405020304"/>
              <a:ea typeface="Times New Roman" panose="02020603050405020304"/>
              <a:cs typeface="Times New Roman" panose="02020603050405020304"/>
              <a:sym typeface="Times New Roman" panose="02020603050405020304"/>
            </a:endParaRPr>
          </a:p>
          <a:p>
            <a:pPr marL="228600" lvl="0" indent="-228600" algn="just" rtl="0">
              <a:lnSpc>
                <a:spcPct val="90000"/>
              </a:lnSpc>
              <a:spcBef>
                <a:spcPts val="1000"/>
              </a:spcBef>
              <a:spcAft>
                <a:spcPts val="0"/>
              </a:spcAft>
              <a:buClr>
                <a:schemeClr val="dk1"/>
              </a:buClr>
              <a:buSzPts val="2800"/>
              <a:buChar char="•"/>
            </a:pPr>
            <a:r>
              <a:rPr lang="en-US">
                <a:latin typeface="Times New Roman" panose="02020603050405020304"/>
                <a:ea typeface="Times New Roman" panose="02020603050405020304"/>
                <a:cs typeface="Times New Roman" panose="02020603050405020304"/>
                <a:sym typeface="Times New Roman" panose="02020603050405020304"/>
              </a:rPr>
              <a:t>Need to decide how to collect data for the proposed study and then construct a research instrument for data collection</a:t>
            </a:r>
            <a:endParaRPr lang="en-US">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lnSpc>
                <a:spcPct val="90000"/>
              </a:lnSpc>
              <a:spcBef>
                <a:spcPts val="1000"/>
              </a:spcBef>
              <a:spcAft>
                <a:spcPts val="0"/>
              </a:spcAft>
              <a:buClr>
                <a:schemeClr val="dk1"/>
              </a:buClr>
              <a:buSzPts val="2800"/>
              <a:buNone/>
            </a:pPr>
            <a:br>
              <a:rPr lang="en-US" b="0">
                <a:latin typeface="Times New Roman" panose="02020603050405020304"/>
                <a:ea typeface="Times New Roman" panose="02020603050405020304"/>
                <a:cs typeface="Times New Roman" panose="02020603050405020304"/>
                <a:sym typeface="Times New Roman" panose="02020603050405020304"/>
              </a:rPr>
            </a:br>
            <a:r>
              <a:rPr lang="en-US" b="1">
                <a:latin typeface="Times New Roman" panose="02020603050405020304"/>
                <a:ea typeface="Times New Roman" panose="02020603050405020304"/>
                <a:cs typeface="Times New Roman" panose="02020603050405020304"/>
                <a:sym typeface="Times New Roman" panose="02020603050405020304"/>
              </a:rPr>
              <a:t>Step IV: Selecting a sample</a:t>
            </a:r>
            <a:endParaRPr b="0">
              <a:latin typeface="Times New Roman" panose="02020603050405020304"/>
              <a:ea typeface="Times New Roman" panose="02020603050405020304"/>
              <a:cs typeface="Times New Roman" panose="02020603050405020304"/>
              <a:sym typeface="Times New Roman" panose="02020603050405020304"/>
            </a:endParaRPr>
          </a:p>
          <a:p>
            <a:pPr marL="228600" lvl="0" indent="-228600" algn="just" rtl="0">
              <a:lnSpc>
                <a:spcPct val="90000"/>
              </a:lnSpc>
              <a:spcBef>
                <a:spcPts val="1000"/>
              </a:spcBef>
              <a:spcAft>
                <a:spcPts val="0"/>
              </a:spcAft>
              <a:buClr>
                <a:schemeClr val="dk1"/>
              </a:buClr>
              <a:buSzPts val="2800"/>
              <a:buChar char="•"/>
            </a:pPr>
            <a:r>
              <a:rPr lang="en-US">
                <a:latin typeface="Times New Roman" panose="02020603050405020304"/>
                <a:ea typeface="Times New Roman" panose="02020603050405020304"/>
                <a:cs typeface="Times New Roman" panose="02020603050405020304"/>
                <a:sym typeface="Times New Roman" panose="02020603050405020304"/>
              </a:rPr>
              <a:t>The accuracy of your findings largely depends upon the way you select your sample.</a:t>
            </a:r>
            <a:endParaRPr lang="en-US">
              <a:latin typeface="Times New Roman" panose="02020603050405020304"/>
              <a:ea typeface="Times New Roman" panose="02020603050405020304"/>
              <a:cs typeface="Times New Roman" panose="02020603050405020304"/>
              <a:sym typeface="Times New Roman" panose="02020603050405020304"/>
            </a:endParaRPr>
          </a:p>
          <a:p>
            <a:pPr marL="228600" lvl="0" indent="-228600" algn="just" rtl="0">
              <a:lnSpc>
                <a:spcPct val="90000"/>
              </a:lnSpc>
              <a:spcBef>
                <a:spcPts val="1000"/>
              </a:spcBef>
              <a:spcAft>
                <a:spcPts val="0"/>
              </a:spcAft>
              <a:buClr>
                <a:schemeClr val="dk1"/>
              </a:buClr>
              <a:buSzPts val="2800"/>
              <a:buChar char="•"/>
            </a:pPr>
            <a:r>
              <a:rPr lang="en-US">
                <a:latin typeface="Times New Roman" panose="02020603050405020304"/>
                <a:ea typeface="Times New Roman" panose="02020603050405020304"/>
                <a:cs typeface="Times New Roman" panose="02020603050405020304"/>
                <a:sym typeface="Times New Roman" panose="02020603050405020304"/>
              </a:rPr>
              <a:t>The basic objective of any sampling design is to minimize, within the limitation of cost, the gap between the values obtained from your sample and those prevalent in the study population.</a:t>
            </a:r>
            <a:endParaRPr lang="en-US">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80" name="Shape 180"/>
        <p:cNvGrpSpPr/>
        <p:nvPr/>
      </p:nvGrpSpPr>
      <p:grpSpPr>
        <a:xfrm>
          <a:off x="0" y="0"/>
          <a:ext cx="0" cy="0"/>
          <a:chOff x="0" y="0"/>
          <a:chExt cx="0" cy="0"/>
        </a:xfrm>
      </p:grpSpPr>
      <p:sp>
        <p:nvSpPr>
          <p:cNvPr id="181" name="Google Shape;181;p19"/>
          <p:cNvSpPr txBox="1"/>
          <p:nvPr>
            <p:ph type="body" idx="1"/>
          </p:nvPr>
        </p:nvSpPr>
        <p:spPr>
          <a:xfrm>
            <a:off x="838200" y="412955"/>
            <a:ext cx="10515600" cy="6297561"/>
          </a:xfrm>
          <a:prstGeom prst="rect">
            <a:avLst/>
          </a:prstGeom>
          <a:noFill/>
          <a:ln>
            <a:noFill/>
          </a:ln>
        </p:spPr>
        <p:txBody>
          <a:bodyPr spcFirstLastPara="1" wrap="square" lIns="91425" tIns="45700" rIns="91425" bIns="45700" anchor="t" anchorCtr="0">
            <a:normAutofit fontScale="85000" lnSpcReduction="20000"/>
          </a:bodyPr>
          <a:lstStyle/>
          <a:p>
            <a:pPr marL="0" lvl="0" indent="0" algn="l" rtl="0">
              <a:lnSpc>
                <a:spcPct val="90000"/>
              </a:lnSpc>
              <a:spcBef>
                <a:spcPts val="0"/>
              </a:spcBef>
              <a:spcAft>
                <a:spcPts val="0"/>
              </a:spcAft>
              <a:buClr>
                <a:schemeClr val="dk1"/>
              </a:buClr>
              <a:buSzPct val="100000"/>
              <a:buNone/>
            </a:pPr>
            <a:r>
              <a:rPr lang="en-US" b="1">
                <a:latin typeface="Times New Roman" panose="02020603050405020304"/>
                <a:ea typeface="Times New Roman" panose="02020603050405020304"/>
                <a:cs typeface="Times New Roman" panose="02020603050405020304"/>
                <a:sym typeface="Times New Roman" panose="02020603050405020304"/>
              </a:rPr>
              <a:t>Step V: Writing a research proposal</a:t>
            </a:r>
            <a:endParaRPr b="0">
              <a:latin typeface="Times New Roman" panose="02020603050405020304"/>
              <a:ea typeface="Times New Roman" panose="02020603050405020304"/>
              <a:cs typeface="Times New Roman" panose="02020603050405020304"/>
              <a:sym typeface="Times New Roman" panose="02020603050405020304"/>
            </a:endParaRPr>
          </a:p>
          <a:p>
            <a:pPr marL="228600" lvl="0" indent="-228600" algn="l" rtl="0">
              <a:lnSpc>
                <a:spcPct val="90000"/>
              </a:lnSpc>
              <a:spcBef>
                <a:spcPts val="1000"/>
              </a:spcBef>
              <a:spcAft>
                <a:spcPts val="0"/>
              </a:spcAft>
              <a:buClr>
                <a:schemeClr val="dk1"/>
              </a:buClr>
              <a:buSzPct val="100000"/>
              <a:buFont typeface="Times New Roman" panose="02020603050405020304"/>
              <a:buChar char="•"/>
            </a:pPr>
            <a:r>
              <a:rPr lang="en-US">
                <a:latin typeface="Times New Roman" panose="02020603050405020304"/>
                <a:ea typeface="Times New Roman" panose="02020603050405020304"/>
                <a:cs typeface="Times New Roman" panose="02020603050405020304"/>
                <a:sym typeface="Times New Roman" panose="02020603050405020304"/>
              </a:rPr>
              <a:t>The overall plan, tells a reader about your research problem and how you are planning to investigate. </a:t>
            </a:r>
            <a:endParaRPr>
              <a:latin typeface="Times New Roman" panose="02020603050405020304"/>
              <a:ea typeface="Times New Roman" panose="02020603050405020304"/>
              <a:cs typeface="Times New Roman" panose="02020603050405020304"/>
              <a:sym typeface="Times New Roman" panose="02020603050405020304"/>
            </a:endParaRPr>
          </a:p>
          <a:p>
            <a:pPr marL="228600" lvl="0" indent="-228600" algn="l" rtl="0">
              <a:lnSpc>
                <a:spcPct val="90000"/>
              </a:lnSpc>
              <a:spcBef>
                <a:spcPts val="1000"/>
              </a:spcBef>
              <a:spcAft>
                <a:spcPts val="0"/>
              </a:spcAft>
              <a:buClr>
                <a:schemeClr val="dk1"/>
              </a:buClr>
              <a:buSzPct val="100000"/>
              <a:buFont typeface="Times New Roman" panose="02020603050405020304"/>
              <a:buChar char="•"/>
            </a:pPr>
            <a:r>
              <a:rPr lang="en-US">
                <a:latin typeface="Times New Roman" panose="02020603050405020304"/>
                <a:ea typeface="Times New Roman" panose="02020603050405020304"/>
                <a:cs typeface="Times New Roman" panose="02020603050405020304"/>
                <a:sym typeface="Times New Roman" panose="02020603050405020304"/>
              </a:rPr>
              <a:t>Its main function is to detail the operational plan for obtaining answers to your research questions.</a:t>
            </a:r>
            <a:endParaRPr>
              <a:latin typeface="Times New Roman" panose="02020603050405020304"/>
              <a:ea typeface="Times New Roman" panose="02020603050405020304"/>
              <a:cs typeface="Times New Roman" panose="02020603050405020304"/>
              <a:sym typeface="Times New Roman" panose="02020603050405020304"/>
            </a:endParaRPr>
          </a:p>
          <a:p>
            <a:pPr marL="228600" lvl="0" indent="-228600" algn="l" rtl="0">
              <a:lnSpc>
                <a:spcPct val="90000"/>
              </a:lnSpc>
              <a:spcBef>
                <a:spcPts val="1000"/>
              </a:spcBef>
              <a:spcAft>
                <a:spcPts val="0"/>
              </a:spcAft>
              <a:buClr>
                <a:schemeClr val="dk1"/>
              </a:buClr>
              <a:buSzPct val="100000"/>
              <a:buFont typeface="Times New Roman" panose="02020603050405020304"/>
              <a:buChar char="•"/>
            </a:pPr>
            <a:r>
              <a:rPr lang="en-US">
                <a:latin typeface="Times New Roman" panose="02020603050405020304"/>
                <a:ea typeface="Times New Roman" panose="02020603050405020304"/>
                <a:cs typeface="Times New Roman" panose="02020603050405020304"/>
                <a:sym typeface="Times New Roman" panose="02020603050405020304"/>
              </a:rPr>
              <a:t>A research proposal must convey </a:t>
            </a:r>
            <a:endParaRPr>
              <a:latin typeface="Times New Roman" panose="02020603050405020304"/>
              <a:ea typeface="Times New Roman" panose="02020603050405020304"/>
              <a:cs typeface="Times New Roman" panose="02020603050405020304"/>
              <a:sym typeface="Times New Roman" panose="02020603050405020304"/>
            </a:endParaRPr>
          </a:p>
          <a:p>
            <a:pPr marL="742950" lvl="0" indent="-265430" algn="l" rtl="0">
              <a:lnSpc>
                <a:spcPct val="90000"/>
              </a:lnSpc>
              <a:spcBef>
                <a:spcPts val="1000"/>
              </a:spcBef>
              <a:spcAft>
                <a:spcPts val="0"/>
              </a:spcAft>
              <a:buClr>
                <a:schemeClr val="dk1"/>
              </a:buClr>
              <a:buSzPct val="100000"/>
              <a:buFont typeface="Times New Roman" panose="02020603050405020304"/>
              <a:buChar char="•"/>
            </a:pPr>
            <a:r>
              <a:rPr lang="en-US" sz="2800">
                <a:latin typeface="Times New Roman" panose="02020603050405020304"/>
                <a:ea typeface="Times New Roman" panose="02020603050405020304"/>
                <a:cs typeface="Times New Roman" panose="02020603050405020304"/>
                <a:sym typeface="Times New Roman" panose="02020603050405020304"/>
              </a:rPr>
              <a:t>what you are proposing to do;</a:t>
            </a:r>
            <a:endParaRPr>
              <a:latin typeface="Times New Roman" panose="02020603050405020304"/>
              <a:ea typeface="Times New Roman" panose="02020603050405020304"/>
              <a:cs typeface="Times New Roman" panose="02020603050405020304"/>
              <a:sym typeface="Times New Roman" panose="02020603050405020304"/>
            </a:endParaRPr>
          </a:p>
          <a:p>
            <a:pPr marL="685800" lvl="1" indent="-228600" algn="l" rtl="0">
              <a:lnSpc>
                <a:spcPct val="90000"/>
              </a:lnSpc>
              <a:spcBef>
                <a:spcPts val="500"/>
              </a:spcBef>
              <a:spcAft>
                <a:spcPts val="0"/>
              </a:spcAft>
              <a:buClr>
                <a:schemeClr val="dk1"/>
              </a:buClr>
              <a:buSzPct val="100000"/>
              <a:buFont typeface="Times New Roman" panose="02020603050405020304"/>
              <a:buChar char="•"/>
            </a:pPr>
            <a:r>
              <a:rPr lang="en-US" sz="2800">
                <a:latin typeface="Times New Roman" panose="02020603050405020304"/>
                <a:ea typeface="Times New Roman" panose="02020603050405020304"/>
                <a:cs typeface="Times New Roman" panose="02020603050405020304"/>
                <a:sym typeface="Times New Roman" panose="02020603050405020304"/>
              </a:rPr>
              <a:t>how you plan to proceed;</a:t>
            </a:r>
            <a:endParaRPr>
              <a:latin typeface="Times New Roman" panose="02020603050405020304"/>
              <a:ea typeface="Times New Roman" panose="02020603050405020304"/>
              <a:cs typeface="Times New Roman" panose="02020603050405020304"/>
              <a:sym typeface="Times New Roman" panose="02020603050405020304"/>
            </a:endParaRPr>
          </a:p>
          <a:p>
            <a:pPr marL="685800" lvl="1" indent="-228600" algn="l" rtl="0">
              <a:lnSpc>
                <a:spcPct val="90000"/>
              </a:lnSpc>
              <a:spcBef>
                <a:spcPts val="500"/>
              </a:spcBef>
              <a:spcAft>
                <a:spcPts val="0"/>
              </a:spcAft>
              <a:buClr>
                <a:schemeClr val="dk1"/>
              </a:buClr>
              <a:buSzPct val="100000"/>
              <a:buFont typeface="Times New Roman" panose="02020603050405020304"/>
              <a:buChar char="•"/>
            </a:pPr>
            <a:r>
              <a:rPr lang="en-US" sz="2800">
                <a:latin typeface="Times New Roman" panose="02020603050405020304"/>
                <a:ea typeface="Times New Roman" panose="02020603050405020304"/>
                <a:cs typeface="Times New Roman" panose="02020603050405020304"/>
                <a:sym typeface="Times New Roman" panose="02020603050405020304"/>
              </a:rPr>
              <a:t>why you select the proposed strategy.</a:t>
            </a:r>
            <a:endParaRPr>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1000"/>
              </a:spcBef>
              <a:spcAft>
                <a:spcPts val="0"/>
              </a:spcAft>
              <a:buClr>
                <a:schemeClr val="dk1"/>
              </a:buClr>
              <a:buSzPct val="100000"/>
              <a:buNone/>
            </a:pPr>
            <a:r>
              <a:rPr lang="en-US" b="1">
                <a:latin typeface="Times New Roman" panose="02020603050405020304"/>
                <a:ea typeface="Times New Roman" panose="02020603050405020304"/>
                <a:cs typeface="Times New Roman" panose="02020603050405020304"/>
                <a:sym typeface="Times New Roman" panose="02020603050405020304"/>
              </a:rPr>
              <a:t>Step VI Collecting data</a:t>
            </a:r>
            <a:endParaRPr>
              <a:latin typeface="Times New Roman" panose="02020603050405020304"/>
              <a:ea typeface="Times New Roman" panose="02020603050405020304"/>
              <a:cs typeface="Times New Roman" panose="02020603050405020304"/>
              <a:sym typeface="Times New Roman" panose="02020603050405020304"/>
            </a:endParaRPr>
          </a:p>
          <a:p>
            <a:pPr marL="228600" lvl="0" indent="-228600" algn="just" rtl="0">
              <a:lnSpc>
                <a:spcPct val="90000"/>
              </a:lnSpc>
              <a:spcBef>
                <a:spcPts val="1000"/>
              </a:spcBef>
              <a:spcAft>
                <a:spcPts val="0"/>
              </a:spcAft>
              <a:buClr>
                <a:schemeClr val="dk1"/>
              </a:buClr>
              <a:buSzPct val="100000"/>
              <a:buChar char="•"/>
            </a:pPr>
            <a:r>
              <a:rPr lang="en-US">
                <a:latin typeface="Times New Roman" panose="02020603050405020304"/>
                <a:ea typeface="Times New Roman" panose="02020603050405020304"/>
                <a:cs typeface="Times New Roman" panose="02020603050405020304"/>
                <a:sym typeface="Times New Roman" panose="02020603050405020304"/>
              </a:rPr>
              <a:t>After formulating a research problem, developing a study design, constructing a research instrument, and selecting a sample, you then collect the data from which you will draw inferences and conclusions for your study.</a:t>
            </a:r>
            <a:endParaRPr lang="en-US">
              <a:latin typeface="Times New Roman" panose="02020603050405020304"/>
              <a:ea typeface="Times New Roman" panose="02020603050405020304"/>
              <a:cs typeface="Times New Roman" panose="02020603050405020304"/>
              <a:sym typeface="Times New Roman" panose="02020603050405020304"/>
            </a:endParaRPr>
          </a:p>
          <a:p>
            <a:pPr marL="228600" lvl="0" indent="-228600" algn="just" rtl="0">
              <a:lnSpc>
                <a:spcPct val="90000"/>
              </a:lnSpc>
              <a:spcBef>
                <a:spcPts val="1000"/>
              </a:spcBef>
              <a:spcAft>
                <a:spcPts val="0"/>
              </a:spcAft>
              <a:buClr>
                <a:schemeClr val="dk1"/>
              </a:buClr>
              <a:buSzPct val="100000"/>
              <a:buChar char="•"/>
            </a:pPr>
            <a:r>
              <a:rPr lang="en-US">
                <a:latin typeface="Times New Roman" panose="02020603050405020304"/>
                <a:ea typeface="Times New Roman" panose="02020603050405020304"/>
                <a:cs typeface="Times New Roman" panose="02020603050405020304"/>
                <a:sym typeface="Times New Roman" panose="02020603050405020304"/>
              </a:rPr>
              <a:t>Many methods could be used to gather the required information. As a part of the research design, you decided upon the procedure you wanted to adopt to collect your data. </a:t>
            </a:r>
            <a:endParaRPr lang="en-US">
              <a:latin typeface="Times New Roman" panose="02020603050405020304"/>
              <a:ea typeface="Times New Roman" panose="02020603050405020304"/>
              <a:cs typeface="Times New Roman" panose="02020603050405020304"/>
              <a:sym typeface="Times New Roman" panose="02020603050405020304"/>
            </a:endParaRPr>
          </a:p>
          <a:p>
            <a:pPr marL="228600" lvl="0" indent="-228600" algn="just" rtl="0">
              <a:lnSpc>
                <a:spcPct val="90000"/>
              </a:lnSpc>
              <a:spcBef>
                <a:spcPts val="1000"/>
              </a:spcBef>
              <a:spcAft>
                <a:spcPts val="0"/>
              </a:spcAft>
              <a:buClr>
                <a:schemeClr val="dk1"/>
              </a:buClr>
              <a:buSzPct val="100000"/>
              <a:buChar char="•"/>
            </a:pPr>
            <a:r>
              <a:rPr lang="en-US">
                <a:latin typeface="Times New Roman" panose="02020603050405020304"/>
                <a:ea typeface="Times New Roman" panose="02020603050405020304"/>
                <a:cs typeface="Times New Roman" panose="02020603050405020304"/>
                <a:sym typeface="Times New Roman" panose="02020603050405020304"/>
              </a:rPr>
              <a:t>For example, depending upon your plans, you might commence interviews, mail out a questionnaire, conduct group discussions or make observations</a:t>
            </a:r>
            <a:endParaRPr lang="en-US">
              <a:latin typeface="Times New Roman" panose="02020603050405020304"/>
              <a:ea typeface="Times New Roman" panose="02020603050405020304"/>
              <a:cs typeface="Times New Roman" panose="02020603050405020304"/>
              <a:sym typeface="Times New Roman" panose="02020603050405020304"/>
            </a:endParaRPr>
          </a:p>
          <a:p>
            <a:pPr marL="457200" lvl="1" indent="0" algn="just" rtl="0">
              <a:lnSpc>
                <a:spcPct val="90000"/>
              </a:lnSpc>
              <a:spcBef>
                <a:spcPts val="500"/>
              </a:spcBef>
              <a:spcAft>
                <a:spcPts val="0"/>
              </a:spcAft>
              <a:buClr>
                <a:schemeClr val="dk1"/>
              </a:buClr>
              <a:buSzPct val="100000"/>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85" name="Shape 185"/>
        <p:cNvGrpSpPr/>
        <p:nvPr/>
      </p:nvGrpSpPr>
      <p:grpSpPr>
        <a:xfrm>
          <a:off x="0" y="0"/>
          <a:ext cx="0" cy="0"/>
          <a:chOff x="0" y="0"/>
          <a:chExt cx="0" cy="0"/>
        </a:xfrm>
      </p:grpSpPr>
      <p:sp>
        <p:nvSpPr>
          <p:cNvPr id="186" name="Google Shape;186;p20"/>
          <p:cNvSpPr txBox="1"/>
          <p:nvPr>
            <p:ph type="body" idx="1"/>
          </p:nvPr>
        </p:nvSpPr>
        <p:spPr>
          <a:xfrm>
            <a:off x="838200" y="412955"/>
            <a:ext cx="10515600" cy="6297561"/>
          </a:xfrm>
          <a:prstGeom prst="rect">
            <a:avLst/>
          </a:prstGeom>
          <a:noFill/>
          <a:ln>
            <a:noFill/>
          </a:ln>
        </p:spPr>
        <p:txBody>
          <a:bodyPr spcFirstLastPara="1" wrap="square" lIns="91425" tIns="45700" rIns="91425" bIns="45700" anchor="t" anchorCtr="0">
            <a:normAutofit lnSpcReduction="10000"/>
          </a:bodyPr>
          <a:lstStyle/>
          <a:p>
            <a:pPr marL="0" lvl="0" indent="0" algn="l" rtl="0">
              <a:lnSpc>
                <a:spcPct val="90000"/>
              </a:lnSpc>
              <a:spcBef>
                <a:spcPts val="0"/>
              </a:spcBef>
              <a:spcAft>
                <a:spcPts val="0"/>
              </a:spcAft>
              <a:buClr>
                <a:schemeClr val="dk1"/>
              </a:buClr>
              <a:buSzPts val="2800"/>
              <a:buNone/>
            </a:pPr>
            <a:r>
              <a:rPr lang="en-US" b="1">
                <a:latin typeface="Times New Roman" panose="02020603050405020304"/>
                <a:ea typeface="Times New Roman" panose="02020603050405020304"/>
                <a:cs typeface="Times New Roman" panose="02020603050405020304"/>
                <a:sym typeface="Times New Roman" panose="02020603050405020304"/>
              </a:rPr>
              <a:t>Step VII: Processing and Displaying data</a:t>
            </a:r>
            <a:endParaRPr b="0">
              <a:latin typeface="Times New Roman" panose="02020603050405020304"/>
              <a:ea typeface="Times New Roman" panose="02020603050405020304"/>
              <a:cs typeface="Times New Roman" panose="02020603050405020304"/>
              <a:sym typeface="Times New Roman" panose="02020603050405020304"/>
            </a:endParaRPr>
          </a:p>
          <a:p>
            <a:pPr marL="228600" lvl="0" indent="-228600" algn="just" rtl="0">
              <a:lnSpc>
                <a:spcPct val="90000"/>
              </a:lnSpc>
              <a:spcBef>
                <a:spcPts val="1000"/>
              </a:spcBef>
              <a:spcAft>
                <a:spcPts val="0"/>
              </a:spcAft>
              <a:buClr>
                <a:schemeClr val="dk1"/>
              </a:buClr>
              <a:buSzPts val="2800"/>
              <a:buChar char="•"/>
            </a:pPr>
            <a:r>
              <a:rPr lang="en-US">
                <a:latin typeface="Times New Roman" panose="02020603050405020304"/>
                <a:ea typeface="Times New Roman" panose="02020603050405020304"/>
                <a:cs typeface="Times New Roman" panose="02020603050405020304"/>
                <a:sym typeface="Times New Roman" panose="02020603050405020304"/>
              </a:rPr>
              <a:t>The way of analyzing the collected information largely depends upon two things: the type of information (descriptive, quantitative or qualitative); and the way you want to communicate your findings to your readers.</a:t>
            </a:r>
            <a:endParaRPr lang="en-US">
              <a:latin typeface="Times New Roman" panose="02020603050405020304"/>
              <a:ea typeface="Times New Roman" panose="02020603050405020304"/>
              <a:cs typeface="Times New Roman" panose="02020603050405020304"/>
              <a:sym typeface="Times New Roman" panose="02020603050405020304"/>
            </a:endParaRPr>
          </a:p>
          <a:p>
            <a:pPr marL="228600" lvl="0" indent="-228600" algn="just" rtl="0">
              <a:lnSpc>
                <a:spcPct val="90000"/>
              </a:lnSpc>
              <a:spcBef>
                <a:spcPts val="1000"/>
              </a:spcBef>
              <a:spcAft>
                <a:spcPts val="0"/>
              </a:spcAft>
              <a:buClr>
                <a:schemeClr val="dk1"/>
              </a:buClr>
              <a:buSzPts val="2800"/>
              <a:buChar char="•"/>
            </a:pPr>
            <a:r>
              <a:rPr lang="en-US">
                <a:latin typeface="Times New Roman" panose="02020603050405020304"/>
                <a:ea typeface="Times New Roman" panose="02020603050405020304"/>
                <a:cs typeface="Times New Roman" panose="02020603050405020304"/>
                <a:sym typeface="Times New Roman" panose="02020603050405020304"/>
              </a:rPr>
              <a:t>For qualitative-quantitative information, analyzing can be done either manually or by computer.</a:t>
            </a:r>
            <a:endParaRPr lang="en-US">
              <a:latin typeface="Times New Roman" panose="02020603050405020304"/>
              <a:ea typeface="Times New Roman" panose="02020603050405020304"/>
              <a:cs typeface="Times New Roman" panose="02020603050405020304"/>
              <a:sym typeface="Times New Roman" panose="02020603050405020304"/>
            </a:endParaRPr>
          </a:p>
          <a:p>
            <a:pPr marL="228600" lvl="0" indent="-228600" algn="just" rtl="0">
              <a:lnSpc>
                <a:spcPct val="90000"/>
              </a:lnSpc>
              <a:spcBef>
                <a:spcPts val="1000"/>
              </a:spcBef>
              <a:spcAft>
                <a:spcPts val="0"/>
              </a:spcAft>
              <a:buClr>
                <a:schemeClr val="dk1"/>
              </a:buClr>
              <a:buSzPts val="2800"/>
              <a:buChar char="•"/>
            </a:pPr>
            <a:r>
              <a:rPr lang="en-US">
                <a:latin typeface="Times New Roman" panose="02020603050405020304"/>
                <a:ea typeface="Times New Roman" panose="02020603050405020304"/>
                <a:cs typeface="Times New Roman" panose="02020603050405020304"/>
                <a:sym typeface="Times New Roman" panose="02020603050405020304"/>
              </a:rPr>
              <a:t>If it is a purely descriptive study, reports are written based on the field notes, analyze these contents of notes either manually or use a computer program ( such as NUD*IST N6, NVivio, or Ethnograph)</a:t>
            </a:r>
            <a:endParaRPr lang="en-US">
              <a:latin typeface="Times New Roman" panose="02020603050405020304"/>
              <a:ea typeface="Times New Roman" panose="02020603050405020304"/>
              <a:cs typeface="Times New Roman" panose="02020603050405020304"/>
              <a:sym typeface="Times New Roman" panose="02020603050405020304"/>
            </a:endParaRPr>
          </a:p>
          <a:p>
            <a:pPr marL="228600" lvl="0" indent="-228600" algn="just" rtl="0">
              <a:lnSpc>
                <a:spcPct val="90000"/>
              </a:lnSpc>
              <a:spcBef>
                <a:spcPts val="1000"/>
              </a:spcBef>
              <a:spcAft>
                <a:spcPts val="0"/>
              </a:spcAft>
              <a:buClr>
                <a:schemeClr val="dk1"/>
              </a:buClr>
              <a:buSzPts val="2800"/>
              <a:buChar char="•"/>
            </a:pPr>
            <a:r>
              <a:rPr lang="en-US">
                <a:latin typeface="Times New Roman" panose="02020603050405020304"/>
                <a:ea typeface="Times New Roman" panose="02020603050405020304"/>
                <a:cs typeface="Times New Roman" panose="02020603050405020304"/>
                <a:sym typeface="Times New Roman" panose="02020603050405020304"/>
              </a:rPr>
              <a:t>If it is quantitative analysis, it is necessary to decide upon the type of analysis required and how it should be presented.</a:t>
            </a:r>
            <a:endParaRPr lang="en-US">
              <a:latin typeface="Times New Roman" panose="02020603050405020304"/>
              <a:ea typeface="Times New Roman" panose="02020603050405020304"/>
              <a:cs typeface="Times New Roman" panose="02020603050405020304"/>
              <a:sym typeface="Times New Roman" panose="02020603050405020304"/>
            </a:endParaRPr>
          </a:p>
          <a:p>
            <a:pPr marL="228600" lvl="0" indent="-228600" algn="just" rtl="0">
              <a:lnSpc>
                <a:spcPct val="90000"/>
              </a:lnSpc>
              <a:spcBef>
                <a:spcPts val="1000"/>
              </a:spcBef>
              <a:spcAft>
                <a:spcPts val="0"/>
              </a:spcAft>
              <a:buClr>
                <a:schemeClr val="dk1"/>
              </a:buClr>
              <a:buSzPts val="2800"/>
              <a:buChar char="•"/>
            </a:pPr>
            <a:r>
              <a:rPr lang="en-US">
                <a:latin typeface="Times New Roman" panose="02020603050405020304"/>
                <a:ea typeface="Times New Roman" panose="02020603050405020304"/>
                <a:cs typeface="Times New Roman" panose="02020603050405020304"/>
                <a:sym typeface="Times New Roman" panose="02020603050405020304"/>
              </a:rPr>
              <a:t>Different types of analysis:  frequency distribution, cross-tabulations, or other statistical procedures, such as regression analysis, factor analysis, and analysis of variance)</a:t>
            </a:r>
            <a:endParaRPr>
              <a:latin typeface="Times New Roman" panose="02020603050405020304"/>
              <a:ea typeface="Times New Roman" panose="02020603050405020304"/>
              <a:cs typeface="Times New Roman" panose="02020603050405020304"/>
              <a:sym typeface="Times New Roman" panose="02020603050405020304"/>
            </a:endParaRPr>
          </a:p>
          <a:p>
            <a:pPr marL="457200" lvl="1" indent="0" algn="just" rtl="0">
              <a:lnSpc>
                <a:spcPct val="90000"/>
              </a:lnSpc>
              <a:spcBef>
                <a:spcPts val="500"/>
              </a:spcBef>
              <a:spcAft>
                <a:spcPts val="0"/>
              </a:spcAft>
              <a:buClr>
                <a:schemeClr val="dk1"/>
              </a:buClr>
              <a:buSzPts val="2400"/>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90" name="Shape 190"/>
        <p:cNvGrpSpPr/>
        <p:nvPr/>
      </p:nvGrpSpPr>
      <p:grpSpPr>
        <a:xfrm>
          <a:off x="0" y="0"/>
          <a:ext cx="0" cy="0"/>
          <a:chOff x="0" y="0"/>
          <a:chExt cx="0" cy="0"/>
        </a:xfrm>
      </p:grpSpPr>
      <p:sp>
        <p:nvSpPr>
          <p:cNvPr id="191" name="Google Shape;191;p21"/>
          <p:cNvSpPr txBox="1"/>
          <p:nvPr>
            <p:ph type="body" idx="1"/>
          </p:nvPr>
        </p:nvSpPr>
        <p:spPr>
          <a:xfrm>
            <a:off x="838200" y="412955"/>
            <a:ext cx="10515600" cy="6297561"/>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800"/>
              <a:buNone/>
            </a:pPr>
            <a:r>
              <a:rPr lang="en-US" b="1">
                <a:latin typeface="Times New Roman" panose="02020603050405020304"/>
                <a:ea typeface="Times New Roman" panose="02020603050405020304"/>
                <a:cs typeface="Times New Roman" panose="02020603050405020304"/>
                <a:sym typeface="Times New Roman" panose="02020603050405020304"/>
              </a:rPr>
              <a:t>Step VIII: Writing a research report</a:t>
            </a:r>
            <a:endParaRPr b="0">
              <a:latin typeface="Times New Roman" panose="02020603050405020304"/>
              <a:ea typeface="Times New Roman" panose="02020603050405020304"/>
              <a:cs typeface="Times New Roman" panose="02020603050405020304"/>
              <a:sym typeface="Times New Roman" panose="02020603050405020304"/>
            </a:endParaRPr>
          </a:p>
          <a:p>
            <a:pPr marL="228600" lvl="0" indent="-228600" algn="just" rtl="0">
              <a:lnSpc>
                <a:spcPct val="90000"/>
              </a:lnSpc>
              <a:spcBef>
                <a:spcPts val="1000"/>
              </a:spcBef>
              <a:spcAft>
                <a:spcPts val="0"/>
              </a:spcAft>
              <a:buClr>
                <a:schemeClr val="dk1"/>
              </a:buClr>
              <a:buSzPts val="2800"/>
              <a:buChar char="•"/>
            </a:pPr>
            <a:r>
              <a:rPr lang="en-US">
                <a:latin typeface="Times New Roman" panose="02020603050405020304"/>
                <a:ea typeface="Times New Roman" panose="02020603050405020304"/>
                <a:cs typeface="Times New Roman" panose="02020603050405020304"/>
                <a:sym typeface="Times New Roman" panose="02020603050405020304"/>
              </a:rPr>
              <a:t>Writing the report is the last and the most difficult step of the research process. </a:t>
            </a:r>
            <a:endParaRPr lang="en-US">
              <a:latin typeface="Times New Roman" panose="02020603050405020304"/>
              <a:ea typeface="Times New Roman" panose="02020603050405020304"/>
              <a:cs typeface="Times New Roman" panose="02020603050405020304"/>
              <a:sym typeface="Times New Roman" panose="02020603050405020304"/>
            </a:endParaRPr>
          </a:p>
          <a:p>
            <a:pPr marL="228600" lvl="0" indent="-228600" algn="just" rtl="0">
              <a:lnSpc>
                <a:spcPct val="90000"/>
              </a:lnSpc>
              <a:spcBef>
                <a:spcPts val="1000"/>
              </a:spcBef>
              <a:spcAft>
                <a:spcPts val="0"/>
              </a:spcAft>
              <a:buClr>
                <a:schemeClr val="dk1"/>
              </a:buClr>
              <a:buSzPts val="2800"/>
              <a:buChar char="•"/>
            </a:pPr>
            <a:r>
              <a:rPr lang="en-US">
                <a:latin typeface="Times New Roman" panose="02020603050405020304"/>
                <a:ea typeface="Times New Roman" panose="02020603050405020304"/>
                <a:cs typeface="Times New Roman" panose="02020603050405020304"/>
                <a:sym typeface="Times New Roman" panose="02020603050405020304"/>
              </a:rPr>
              <a:t>This report informs the world of what you have done, what you have discovered, and what conclusions you have drawn from your findings.</a:t>
            </a:r>
            <a:endParaRPr lang="en-US">
              <a:latin typeface="Times New Roman" panose="02020603050405020304"/>
              <a:ea typeface="Times New Roman" panose="02020603050405020304"/>
              <a:cs typeface="Times New Roman" panose="02020603050405020304"/>
              <a:sym typeface="Times New Roman" panose="02020603050405020304"/>
            </a:endParaRPr>
          </a:p>
          <a:p>
            <a:pPr marL="228600" lvl="0" indent="-228600" algn="just" rtl="0">
              <a:lnSpc>
                <a:spcPct val="90000"/>
              </a:lnSpc>
              <a:spcBef>
                <a:spcPts val="1000"/>
              </a:spcBef>
              <a:spcAft>
                <a:spcPts val="0"/>
              </a:spcAft>
              <a:buClr>
                <a:schemeClr val="dk1"/>
              </a:buClr>
              <a:buSzPts val="2800"/>
              <a:buChar char="•"/>
            </a:pPr>
            <a:r>
              <a:rPr lang="en-US">
                <a:latin typeface="Times New Roman" panose="02020603050405020304"/>
                <a:ea typeface="Times New Roman" panose="02020603050405020304"/>
                <a:cs typeface="Times New Roman" panose="02020603050405020304"/>
                <a:sym typeface="Times New Roman" panose="02020603050405020304"/>
              </a:rPr>
              <a:t>If you are clear about the whole process, you can write a very clear report. </a:t>
            </a:r>
            <a:endParaRPr lang="en-US">
              <a:latin typeface="Times New Roman" panose="02020603050405020304"/>
              <a:ea typeface="Times New Roman" panose="02020603050405020304"/>
              <a:cs typeface="Times New Roman" panose="02020603050405020304"/>
              <a:sym typeface="Times New Roman" panose="02020603050405020304"/>
            </a:endParaRPr>
          </a:p>
          <a:p>
            <a:pPr marL="228600" lvl="0" indent="-228600" algn="just" rtl="0">
              <a:lnSpc>
                <a:spcPct val="90000"/>
              </a:lnSpc>
              <a:spcBef>
                <a:spcPts val="1000"/>
              </a:spcBef>
              <a:spcAft>
                <a:spcPts val="0"/>
              </a:spcAft>
              <a:buClr>
                <a:schemeClr val="dk1"/>
              </a:buClr>
              <a:buSzPts val="2800"/>
              <a:buChar char="•"/>
            </a:pPr>
            <a:r>
              <a:rPr lang="en-US">
                <a:latin typeface="Times New Roman" panose="02020603050405020304"/>
                <a:ea typeface="Times New Roman" panose="02020603050405020304"/>
                <a:cs typeface="Times New Roman" panose="02020603050405020304"/>
                <a:sym typeface="Times New Roman" panose="02020603050405020304"/>
              </a:rPr>
              <a:t>Your report should be written in an academic style and be divided into different chapters and/or sections based upon the main themes of your study.</a:t>
            </a:r>
            <a:endParaRPr lang="en-US">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90000"/>
              </a:lnSpc>
              <a:spcBef>
                <a:spcPts val="1000"/>
              </a:spcBef>
              <a:spcAft>
                <a:spcPts val="0"/>
              </a:spcAft>
              <a:buClr>
                <a:schemeClr val="dk1"/>
              </a:buClr>
              <a:buSzPts val="2800"/>
              <a:buNone/>
            </a:pPr>
            <a:br>
              <a:rPr lang="en-US" b="0"/>
            </a:b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9338</Words>
  <Application>WPS Presentation</Application>
  <PresentationFormat/>
  <Paragraphs>163</Paragraphs>
  <Slides>20</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20</vt:i4>
      </vt:variant>
    </vt:vector>
  </HeadingPairs>
  <TitlesOfParts>
    <vt:vector size="31" baseType="lpstr">
      <vt:lpstr>Arial</vt:lpstr>
      <vt:lpstr>SimSun</vt:lpstr>
      <vt:lpstr>Wingdings</vt:lpstr>
      <vt:lpstr>Arial</vt:lpstr>
      <vt:lpstr>Calibri</vt:lpstr>
      <vt:lpstr>Times New Roman</vt:lpstr>
      <vt:lpstr>Noto Sans Symbols</vt:lpstr>
      <vt:lpstr>Segoe Print</vt:lpstr>
      <vt:lpstr>Microsoft YaHei</vt:lpstr>
      <vt:lpstr>Arial Unicode MS</vt:lpstr>
      <vt:lpstr>Office Theme</vt:lpstr>
      <vt:lpstr>RM5151   RESEARCH METHODOLOGY AND IPR</vt:lpstr>
      <vt:lpstr>INTRODUCTION</vt:lpstr>
      <vt:lpstr>Meaning of Research</vt:lpstr>
      <vt:lpstr>Objective </vt:lpstr>
      <vt:lpstr>Motivation in Research</vt:lpstr>
      <vt:lpstr>Motivation in Research</vt:lpstr>
      <vt:lpstr>Types of Research</vt:lpstr>
      <vt:lpstr>Types of Research</vt:lpstr>
      <vt:lpstr>Descriptive vs. Analytical</vt:lpstr>
      <vt:lpstr>Applied vs. Fundamental</vt:lpstr>
      <vt:lpstr>Quantitative vs. Qualitative</vt:lpstr>
      <vt:lpstr>Conceptual vs. Empirical</vt:lpstr>
      <vt:lpstr>Some other types of research</vt:lpstr>
      <vt:lpstr>Research Process: A Quick Glance</vt:lpstr>
      <vt:lpstr>Research Process: A Quick Glance</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RM3151   RESEARCH METHODOLOGY AND IPR</dc:title>
  <dc:creator>ArumugaArun R</dc:creator>
  <cp:lastModifiedBy>cs</cp:lastModifiedBy>
  <cp:revision>1</cp:revision>
  <dcterms:created xsi:type="dcterms:W3CDTF">2023-08-23T04:49:51Z</dcterms:created>
  <dcterms:modified xsi:type="dcterms:W3CDTF">2023-08-23T04:49:51Z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1A1EAD758EF84D92B00A7C4FD10DF219</vt:lpwstr>
  </property>
  <property fmtid="{D5CDD505-2E9C-101B-9397-08002B2CF9AE}" pid="3" name="KSOProductBuildVer">
    <vt:lpwstr>1033-11.2.0.11417</vt:lpwstr>
  </property>
</Properties>
</file>