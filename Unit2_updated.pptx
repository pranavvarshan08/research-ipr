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7" r:id="rId2"/>
    <p:sldId id="258" r:id="rId3"/>
    <p:sldId id="259" r:id="rId4"/>
    <p:sldId id="260" r:id="rId5"/>
    <p:sldId id="262" r:id="rId6"/>
    <p:sldId id="261" r:id="rId7"/>
    <p:sldId id="266" r:id="rId8"/>
    <p:sldId id="267" r:id="rId9"/>
    <p:sldId id="264" r:id="rId10"/>
    <p:sldId id="265" r:id="rId11"/>
    <p:sldId id="268" r:id="rId12"/>
    <p:sldId id="269" r:id="rId13"/>
    <p:sldId id="313" r:id="rId14"/>
    <p:sldId id="312" r:id="rId15"/>
    <p:sldId id="273" r:id="rId16"/>
    <p:sldId id="275" r:id="rId17"/>
    <p:sldId id="274" r:id="rId18"/>
    <p:sldId id="276" r:id="rId19"/>
    <p:sldId id="277" r:id="rId20"/>
    <p:sldId id="278" r:id="rId21"/>
    <p:sldId id="279" r:id="rId22"/>
    <p:sldId id="284" r:id="rId23"/>
    <p:sldId id="285" r:id="rId24"/>
    <p:sldId id="286" r:id="rId25"/>
    <p:sldId id="287" r:id="rId26"/>
    <p:sldId id="290" r:id="rId27"/>
    <p:sldId id="291" r:id="rId28"/>
    <p:sldId id="292" r:id="rId29"/>
    <p:sldId id="293" r:id="rId30"/>
    <p:sldId id="294" r:id="rId31"/>
    <p:sldId id="295" r:id="rId32"/>
    <p:sldId id="296" r:id="rId33"/>
    <p:sldId id="297" r:id="rId34"/>
    <p:sldId id="301" r:id="rId35"/>
    <p:sldId id="299" r:id="rId36"/>
    <p:sldId id="300" r:id="rId37"/>
    <p:sldId id="302" r:id="rId38"/>
    <p:sldId id="304" r:id="rId39"/>
    <p:sldId id="305" r:id="rId40"/>
    <p:sldId id="306" r:id="rId41"/>
    <p:sldId id="307" r:id="rId42"/>
    <p:sldId id="308" r:id="rId43"/>
    <p:sldId id="309" r:id="rId44"/>
    <p:sldId id="31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1" autoAdjust="0"/>
    <p:restoredTop sz="94660"/>
  </p:normalViewPr>
  <p:slideViewPr>
    <p:cSldViewPr snapToGrid="0">
      <p:cViewPr varScale="1">
        <p:scale>
          <a:sx n="69" d="100"/>
          <a:sy n="69" d="100"/>
        </p:scale>
        <p:origin x="-642" y="-10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pPr/>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10/14/2025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1.vml"/><Relationship Id="rId4" Type="http://schemas.openxmlformats.org/officeDocument/2006/relationships/oleObject" Target="../embeddings/oleObject1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Unit2:</a:t>
            </a:r>
            <a:r>
              <a:rPr lang="en-US">
                <a:sym typeface="+mn-ea"/>
              </a:rPr>
              <a:t>Statistical design of experiments</a:t>
            </a:r>
            <a:endParaRPr lang="en-US"/>
          </a:p>
        </p:txBody>
      </p:sp>
      <p:sp>
        <p:nvSpPr>
          <p:cNvPr id="3" name="Content Placeholder 2"/>
          <p:cNvSpPr>
            <a:spLocks noGrp="1"/>
          </p:cNvSpPr>
          <p:nvPr>
            <p:ph idx="1"/>
          </p:nvPr>
        </p:nvSpPr>
        <p:spPr/>
        <p:txBody>
          <a:bodyPr>
            <a:normAutofit/>
          </a:bodyPr>
          <a:lstStyle/>
          <a:p>
            <a:pPr algn="just"/>
            <a:r>
              <a:rPr lang="en-US"/>
              <a:t>Statistical design of experiments refers to the process of planning the experiment so that appropriate data will be collected and analyzed by statistical methods, resulting in valid and objective conclusions. </a:t>
            </a:r>
          </a:p>
          <a:p>
            <a:pPr algn="just"/>
            <a:r>
              <a:rPr lang="en-US"/>
              <a:t>The statistical approach to experimental design is necessary if we wish to draw meaningful conclusions from the data. </a:t>
            </a:r>
          </a:p>
          <a:p>
            <a:pPr algn="just"/>
            <a:r>
              <a:rPr lang="en-US"/>
              <a:t>When the problem involves data that are subject to experimental errors, statistical methods are the only objective approach to analysis.</a:t>
            </a:r>
          </a:p>
          <a:p>
            <a:pPr algn="just"/>
            <a:r>
              <a:rPr lang="en-US"/>
              <a:t>There are two aspects to any experimental problem:</a:t>
            </a:r>
          </a:p>
          <a:p>
            <a:pPr lvl="1" algn="just"/>
            <a:r>
              <a:rPr lang="en-US"/>
              <a:t>the design of the experiment </a:t>
            </a:r>
          </a:p>
          <a:p>
            <a:pPr lvl="1" algn="just"/>
            <a:r>
              <a:rPr lang="en-US"/>
              <a:t>the statistical analysis of the data.</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630"/>
            <a:ext cx="10515600" cy="1325563"/>
          </a:xfrm>
        </p:spPr>
        <p:txBody>
          <a:bodyPr>
            <a:normAutofit/>
          </a:bodyPr>
          <a:lstStyle/>
          <a:p>
            <a:r>
              <a:rPr lang="en-US"/>
              <a:t>Guidelines for Designing an Experiment</a:t>
            </a:r>
          </a:p>
        </p:txBody>
      </p:sp>
      <p:sp>
        <p:nvSpPr>
          <p:cNvPr id="3" name="Content Placeholder 2"/>
          <p:cNvSpPr>
            <a:spLocks noGrp="1"/>
          </p:cNvSpPr>
          <p:nvPr>
            <p:ph idx="1"/>
          </p:nvPr>
        </p:nvSpPr>
        <p:spPr>
          <a:xfrm>
            <a:off x="838200" y="1257935"/>
            <a:ext cx="10515600" cy="4919345"/>
          </a:xfrm>
        </p:spPr>
        <p:txBody>
          <a:bodyPr>
            <a:noAutofit/>
          </a:bodyPr>
          <a:lstStyle/>
          <a:p>
            <a:pPr marL="0" indent="0">
              <a:buNone/>
            </a:pPr>
            <a:r>
              <a:rPr lang="en-US" sz="2700"/>
              <a:t>Pre-experimental Planning</a:t>
            </a:r>
          </a:p>
          <a:p>
            <a:pPr marL="0" indent="0">
              <a:buNone/>
            </a:pPr>
            <a:r>
              <a:rPr lang="en-US" sz="2700"/>
              <a:t> 1. Recognition of and statement of the problem </a:t>
            </a:r>
          </a:p>
          <a:p>
            <a:pPr marL="0" indent="0">
              <a:buNone/>
            </a:pPr>
            <a:r>
              <a:rPr lang="en-US" sz="2700"/>
              <a:t> 2. Formulation of hypothesis</a:t>
            </a:r>
          </a:p>
          <a:p>
            <a:pPr marL="0" indent="0">
              <a:buNone/>
            </a:pPr>
            <a:r>
              <a:rPr lang="en-US" sz="2700"/>
              <a:t> 3. Selection of the response variable </a:t>
            </a:r>
          </a:p>
          <a:p>
            <a:pPr marL="0" indent="0">
              <a:buNone/>
            </a:pPr>
            <a:r>
              <a:rPr lang="en-US" sz="2700"/>
              <a:t> 4. Choice of factors, levels, and ranges</a:t>
            </a:r>
          </a:p>
          <a:p>
            <a:pPr marL="0" indent="0">
              <a:buNone/>
            </a:pPr>
            <a:r>
              <a:rPr lang="en-US" sz="2700"/>
              <a:t> 5. Choice of experimental design</a:t>
            </a:r>
          </a:p>
          <a:p>
            <a:pPr marL="0" indent="0">
              <a:buNone/>
            </a:pPr>
            <a:r>
              <a:rPr lang="en-US" sz="2700"/>
              <a:t> 6. Performing the experiment</a:t>
            </a:r>
          </a:p>
          <a:p>
            <a:pPr marL="0" indent="0">
              <a:buNone/>
            </a:pPr>
            <a:r>
              <a:rPr lang="en-US" sz="2700"/>
              <a:t>7. Statistical analysis of the data</a:t>
            </a:r>
          </a:p>
          <a:p>
            <a:pPr marL="0" indent="0">
              <a:buNone/>
            </a:pPr>
            <a:r>
              <a:rPr lang="en-US" sz="2700"/>
              <a:t> 8. Conclusions and recommendations</a:t>
            </a:r>
          </a:p>
          <a:p>
            <a:pPr marL="0" indent="0">
              <a:buNone/>
            </a:pPr>
            <a:r>
              <a:rPr lang="en-US" sz="2700"/>
              <a:t> 9. Evaluation of the whole investigation</a:t>
            </a:r>
          </a:p>
          <a:p>
            <a:pPr marL="0" indent="0">
              <a:buNone/>
            </a:pPr>
            <a:r>
              <a:rPr lang="en-US" sz="2700"/>
              <a:t>In practice, steps 3 and 4 are often done simultaneously or in reverse order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Design of experiment: </a:t>
            </a:r>
            <a:endParaRPr lang="en-US"/>
          </a:p>
        </p:txBody>
      </p:sp>
      <p:sp>
        <p:nvSpPr>
          <p:cNvPr id="3" name="Content Placeholder 2"/>
          <p:cNvSpPr>
            <a:spLocks noGrp="1"/>
          </p:cNvSpPr>
          <p:nvPr>
            <p:ph idx="1"/>
          </p:nvPr>
        </p:nvSpPr>
        <p:spPr>
          <a:xfrm>
            <a:off x="838200" y="1525270"/>
            <a:ext cx="10934065" cy="4652010"/>
          </a:xfrm>
        </p:spPr>
        <p:txBody>
          <a:bodyPr>
            <a:noAutofit/>
          </a:bodyPr>
          <a:lstStyle/>
          <a:p>
            <a:pPr algn="just"/>
            <a:r>
              <a:rPr lang="en-US" sz="2300" dirty="0"/>
              <a:t>One of the main objectives of designing an experiment is how to verify the hypothesis in an efficient and economical way. </a:t>
            </a:r>
          </a:p>
          <a:p>
            <a:pPr algn="just"/>
            <a:r>
              <a:rPr lang="en-US" sz="2300" dirty="0"/>
              <a:t>In the contest of the null hypothesis of equality of several means of normal populations having the same variances, the analysis of variance technique can be used. </a:t>
            </a:r>
          </a:p>
          <a:p>
            <a:pPr algn="just"/>
            <a:r>
              <a:rPr lang="en-US" sz="2300" dirty="0"/>
              <a:t>Note that such techniques are based on certain statistical assumptions. If these assumptions are violated, the outcome of the test of a hypothesis then may also be faulty and the analysis of data may be meaningless. So the main question is how to obtain the data such that the assumptions are met and the data is readily available for the application of tools like analysis of variance. </a:t>
            </a:r>
          </a:p>
          <a:p>
            <a:pPr algn="just"/>
            <a:r>
              <a:rPr lang="en-US" sz="2300" dirty="0"/>
              <a:t>The designing of such a mechanism to obtain such data is achieved by the design of the experiment. After obtaining the sufficient experimental unit, the treatments are allocated to the experimental units in a random fashion. Design of experiment provides a method by which the treatments are placed at random on the experimental units in such a way that the responses are estimated with the utmost precision possible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Principles of experimental design: </a:t>
            </a:r>
            <a:endParaRPr lang="en-US"/>
          </a:p>
        </p:txBody>
      </p:sp>
      <p:sp>
        <p:nvSpPr>
          <p:cNvPr id="3" name="Content Placeholder 2"/>
          <p:cNvSpPr>
            <a:spLocks noGrp="1"/>
          </p:cNvSpPr>
          <p:nvPr>
            <p:ph idx="1"/>
          </p:nvPr>
        </p:nvSpPr>
        <p:spPr/>
        <p:txBody>
          <a:bodyPr/>
          <a:lstStyle/>
          <a:p>
            <a:pPr marL="0" indent="0">
              <a:buNone/>
            </a:pPr>
            <a:r>
              <a:rPr lang="en-US"/>
              <a:t>There are three basic principles of design which were developed by Sir Ronald A. Fisher. </a:t>
            </a:r>
          </a:p>
          <a:p>
            <a:pPr marL="0" indent="0">
              <a:buNone/>
            </a:pPr>
            <a:r>
              <a:rPr lang="en-US"/>
              <a:t>(i) Randomization </a:t>
            </a:r>
          </a:p>
          <a:p>
            <a:pPr marL="0" indent="0">
              <a:buNone/>
            </a:pPr>
            <a:r>
              <a:rPr lang="en-US"/>
              <a:t>(ii) Replication </a:t>
            </a:r>
          </a:p>
          <a:p>
            <a:pPr marL="0" indent="0">
              <a:buNone/>
            </a:pPr>
            <a:r>
              <a:rPr lang="en-US"/>
              <a:t>(iii) Local control</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Randomization</a:t>
            </a:r>
            <a:endParaRPr lang="en-US" dirty="0"/>
          </a:p>
        </p:txBody>
      </p:sp>
      <p:sp>
        <p:nvSpPr>
          <p:cNvPr id="3" name="Content Placeholder 2"/>
          <p:cNvSpPr>
            <a:spLocks noGrp="1"/>
          </p:cNvSpPr>
          <p:nvPr>
            <p:ph idx="1"/>
          </p:nvPr>
        </p:nvSpPr>
        <p:spPr/>
        <p:txBody>
          <a:bodyPr>
            <a:normAutofit fontScale="90000"/>
          </a:bodyPr>
          <a:lstStyle/>
          <a:p>
            <a:pPr marL="0" indent="0" algn="just">
              <a:buNone/>
            </a:pPr>
            <a:r>
              <a:rPr lang="en-US" dirty="0"/>
              <a:t>The random assignment of experimental units to treatments results in the following outcomes. </a:t>
            </a:r>
          </a:p>
          <a:p>
            <a:pPr marL="0" indent="0" algn="just">
              <a:buNone/>
            </a:pPr>
            <a:r>
              <a:rPr lang="en-US" dirty="0"/>
              <a:t>a) It eliminates systematic bias. </a:t>
            </a:r>
          </a:p>
          <a:p>
            <a:pPr marL="0" indent="0" algn="just">
              <a:buNone/>
            </a:pPr>
            <a:r>
              <a:rPr lang="en-US" dirty="0"/>
              <a:t>b) It is needed to obtain a representative sample from the population. </a:t>
            </a:r>
          </a:p>
          <a:p>
            <a:pPr marL="0" indent="0" algn="just">
              <a:buNone/>
            </a:pPr>
            <a:r>
              <a:rPr lang="en-US" dirty="0"/>
              <a:t>c) It helps in distributing the unknown variation due to confounded variables throughout the experiment and breaks the confounding influence.</a:t>
            </a:r>
          </a:p>
          <a:p>
            <a:pPr marL="0" indent="0" algn="just">
              <a:buNone/>
            </a:pPr>
            <a:r>
              <a:rPr lang="en-US" dirty="0"/>
              <a:t>Randomization forms a basis of a valid experiment but replication is also needed for the validity of the experiment. </a:t>
            </a:r>
          </a:p>
          <a:p>
            <a:pPr marL="0" indent="0" algn="just">
              <a:buNone/>
            </a:pPr>
            <a:r>
              <a:rPr lang="en-US" dirty="0"/>
              <a:t>If the randomization process is such that every experimental unit has an equal chance of receiving each treatment, it is called </a:t>
            </a:r>
            <a:r>
              <a:rPr lang="en-US" b="1" dirty="0"/>
              <a:t>complete randomization</a:t>
            </a:r>
            <a:r>
              <a:rPr lang="en-US" dirty="0"/>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Randomization</a:t>
            </a:r>
            <a:endParaRPr lang="en-US"/>
          </a:p>
        </p:txBody>
      </p:sp>
      <p:sp>
        <p:nvSpPr>
          <p:cNvPr id="3" name="Content Placeholder 2"/>
          <p:cNvSpPr>
            <a:spLocks noGrp="1"/>
          </p:cNvSpPr>
          <p:nvPr>
            <p:ph idx="1"/>
          </p:nvPr>
        </p:nvSpPr>
        <p:spPr/>
        <p:txBody>
          <a:bodyPr>
            <a:normAutofit/>
          </a:bodyPr>
          <a:lstStyle/>
          <a:p>
            <a:pPr algn="just"/>
            <a:r>
              <a:rPr lang="en-US" dirty="0"/>
              <a:t> The principle of randomization involves the allocation of treatment to experimental units at random to avoid any bias in the experiment resulting from the influence of some extraneous unknown factor that may affect the experiment. </a:t>
            </a:r>
          </a:p>
          <a:p>
            <a:pPr algn="just"/>
            <a:r>
              <a:rPr lang="en-US" dirty="0"/>
              <a:t>In the development of analysis of variance, we assume that the errors are random and independent. In turn, the observations also become random. The principle of randomization ensures this.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Randomization</a:t>
            </a:r>
          </a:p>
        </p:txBody>
      </p:sp>
      <p:sp>
        <p:nvSpPr>
          <p:cNvPr id="3" name="Content Placeholder 2"/>
          <p:cNvSpPr>
            <a:spLocks noGrp="1"/>
          </p:cNvSpPr>
          <p:nvPr>
            <p:ph idx="1"/>
          </p:nvPr>
        </p:nvSpPr>
        <p:spPr>
          <a:xfrm>
            <a:off x="838200" y="1313815"/>
            <a:ext cx="10515600" cy="5307330"/>
          </a:xfrm>
        </p:spPr>
        <p:txBody>
          <a:bodyPr>
            <a:normAutofit fontScale="95000" lnSpcReduction="10000"/>
          </a:bodyPr>
          <a:lstStyle/>
          <a:p>
            <a:pPr algn="just"/>
            <a:r>
              <a:rPr lang="en-US" dirty="0"/>
              <a:t>One major problem that is encountered during experimentation is avoiding biased selection of experimental materials, which results in inaccurate or misleading experimental data. To avoid such bias, Fisher introduced the principle of randomization.</a:t>
            </a:r>
          </a:p>
          <a:p>
            <a:pPr algn="just"/>
            <a:r>
              <a:rPr lang="en-US" dirty="0"/>
              <a:t>This principle states that before an effect in an experiment can be ascribed to a given cause or treatment independently of other causes or treatments, the experiment must be repeated on a number of control units of the material and that all units of material used in the experiments must be randomly selected samples from the whole population they are intended to represent. Thus </a:t>
            </a:r>
            <a:r>
              <a:rPr lang="en-US" dirty="0" err="1"/>
              <a:t>randomisation</a:t>
            </a:r>
            <a:r>
              <a:rPr lang="en-US" dirty="0"/>
              <a:t> is use of chance to divide experimental units into groups.</a:t>
            </a:r>
          </a:p>
          <a:p>
            <a:pPr algn="just"/>
            <a:r>
              <a:rPr lang="en-US" dirty="0"/>
              <a:t>It is a process of assigning the treatments among the experimental units such that every treatment has equal chance of being assigned to any experimental unit</a:t>
            </a:r>
            <a:r>
              <a:rPr lang="en-US" dirty="0" smtClean="0"/>
              <a: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Randomization</a:t>
            </a:r>
            <a:endParaRPr lang="en-US"/>
          </a:p>
        </p:txBody>
      </p:sp>
      <p:sp>
        <p:nvSpPr>
          <p:cNvPr id="3" name="Content Placeholder 2"/>
          <p:cNvSpPr>
            <a:spLocks noGrp="1"/>
          </p:cNvSpPr>
          <p:nvPr>
            <p:ph idx="1"/>
          </p:nvPr>
        </p:nvSpPr>
        <p:spPr/>
        <p:txBody>
          <a:bodyPr/>
          <a:lstStyle/>
          <a:p>
            <a:pPr algn="just"/>
            <a:r>
              <a:rPr lang="en-US" dirty="0"/>
              <a:t>Thus randomization ensures – validity of results; helps in having objective comparison among treatments; it ensures independence of observations which is necessary for drawing valid inferences by applying appropriate statistical techniques</a:t>
            </a:r>
            <a:r>
              <a:rPr lang="en-US" dirty="0" smtClean="0"/>
              <a:t>.</a:t>
            </a:r>
          </a:p>
          <a:p>
            <a:pPr algn="just"/>
            <a:r>
              <a:rPr lang="en-US" dirty="0" smtClean="0"/>
              <a:t>Randomizations purpose is to remove bias and other sources of extraneous variation, which are uncontrollable. It is the basis of any valid statistical test.</a:t>
            </a:r>
          </a:p>
          <a:p>
            <a:pPr algn="just">
              <a:buNone/>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Replication</a:t>
            </a:r>
            <a:endParaRPr lang="en-US"/>
          </a:p>
        </p:txBody>
      </p:sp>
      <p:sp>
        <p:nvSpPr>
          <p:cNvPr id="3" name="Content Placeholder 2"/>
          <p:cNvSpPr>
            <a:spLocks noGrp="1"/>
          </p:cNvSpPr>
          <p:nvPr>
            <p:ph idx="1"/>
          </p:nvPr>
        </p:nvSpPr>
        <p:spPr/>
        <p:txBody>
          <a:bodyPr>
            <a:noAutofit/>
          </a:bodyPr>
          <a:lstStyle/>
          <a:p>
            <a:pPr algn="just"/>
            <a:r>
              <a:rPr lang="en-US" sz="2300" dirty="0"/>
              <a:t>In the replication principle, any treatment is repeated a number of times to obtain a valid and more reliable estimate than which is possible with one observation only. Replication provides an efficient way of increasing the precision of an experiment. </a:t>
            </a:r>
          </a:p>
          <a:p>
            <a:pPr algn="just"/>
            <a:r>
              <a:rPr lang="en-US" sz="2300" dirty="0"/>
              <a:t>The precision increases with the increase in the number of observations.</a:t>
            </a:r>
          </a:p>
          <a:p>
            <a:pPr algn="just"/>
            <a:r>
              <a:rPr lang="en-US" sz="2300" dirty="0"/>
              <a:t>Replication provides more observations when the same treatment is used, so it increases precision.</a:t>
            </a:r>
          </a:p>
          <a:p>
            <a:pPr algn="just"/>
            <a:r>
              <a:rPr lang="en-US" sz="2300" dirty="0"/>
              <a:t>Typically a large number of experimental units are more variable than a small number, so increasing the replications may increase the value of σ</a:t>
            </a:r>
            <a:r>
              <a:rPr lang="en-US" sz="2300" baseline="30000" dirty="0"/>
              <a:t>2</a:t>
            </a:r>
            <a:r>
              <a:rPr lang="en-US" sz="2300" dirty="0"/>
              <a:t> sometimes increase in σ </a:t>
            </a:r>
            <a:r>
              <a:rPr lang="en-US" sz="2300" baseline="30000" dirty="0"/>
              <a:t>2</a:t>
            </a:r>
            <a:r>
              <a:rPr lang="en-US" sz="2300" dirty="0"/>
              <a:t> may overweigh the increase in no. of replications.</a:t>
            </a:r>
          </a:p>
          <a:p>
            <a:pPr algn="just"/>
            <a:r>
              <a:rPr lang="en-US" sz="2300" dirty="0"/>
              <a:t>Increase in the number of replications also increases the cost of experimentation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Factors that determine the number of</a:t>
            </a:r>
            <a:br>
              <a:rPr lang="en-US"/>
            </a:br>
            <a:r>
              <a:rPr lang="en-US"/>
              <a:t>replications:</a:t>
            </a:r>
          </a:p>
        </p:txBody>
      </p:sp>
      <p:sp>
        <p:nvSpPr>
          <p:cNvPr id="3" name="Content Placeholder 2"/>
          <p:cNvSpPr>
            <a:spLocks noGrp="1"/>
          </p:cNvSpPr>
          <p:nvPr>
            <p:ph idx="1"/>
          </p:nvPr>
        </p:nvSpPr>
        <p:spPr/>
        <p:txBody>
          <a:bodyPr/>
          <a:lstStyle/>
          <a:p>
            <a:r>
              <a:rPr lang="en-US"/>
              <a:t>Uniformity of experimental units</a:t>
            </a:r>
          </a:p>
          <a:p>
            <a:r>
              <a:rPr lang="en-US"/>
              <a:t> Experimental designs</a:t>
            </a:r>
          </a:p>
          <a:p>
            <a:r>
              <a:rPr lang="en-US"/>
              <a:t> Degree of precision required</a:t>
            </a:r>
          </a:p>
          <a:p>
            <a:r>
              <a:rPr lang="en-US"/>
              <a:t> Number of treatments</a:t>
            </a:r>
          </a:p>
          <a:p>
            <a:r>
              <a:rPr lang="en-US"/>
              <a:t> Time allotment</a:t>
            </a:r>
          </a:p>
          <a:p>
            <a:r>
              <a:rPr lang="en-US"/>
              <a:t> Cost and availability of funds or resources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Local Control</a:t>
            </a:r>
          </a:p>
        </p:txBody>
      </p:sp>
      <p:sp>
        <p:nvSpPr>
          <p:cNvPr id="3" name="Content Placeholder 2"/>
          <p:cNvSpPr>
            <a:spLocks noGrp="1"/>
          </p:cNvSpPr>
          <p:nvPr>
            <p:ph idx="1"/>
          </p:nvPr>
        </p:nvSpPr>
        <p:spPr/>
        <p:txBody>
          <a:bodyPr/>
          <a:lstStyle/>
          <a:p>
            <a:pPr algn="just"/>
            <a:r>
              <a:rPr lang="en-US" dirty="0"/>
              <a:t>Blocking is a design technique used to improve the precision with which comparisons among the factors of interest are made. Often blocking is used to reduce or eliminate the variability transmitted from nuisance factors—that is, factors that may influence the experimental response but in which we are not directly interested</a:t>
            </a:r>
            <a:r>
              <a:rPr lang="en-US" dirty="0" smtClean="0"/>
              <a:t>.</a:t>
            </a:r>
          </a:p>
          <a:p>
            <a:pPr algn="just"/>
            <a:r>
              <a:rPr lang="en-US" b="1" dirty="0" smtClean="0"/>
              <a:t>Local control</a:t>
            </a:r>
            <a:r>
              <a:rPr lang="en-US" dirty="0" smtClean="0"/>
              <a:t> was achieved by grouping experimental units into homogeneous blocks to minimize the effects of uncontrolled variables, such as soil fertility or environmental differences. Together, these three principles enhanced the accuracy of the experiment and allowed for a more confident interpretation of the treatment effects.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Local control</a:t>
            </a:r>
            <a:endParaRPr lang="en-US"/>
          </a:p>
        </p:txBody>
      </p:sp>
      <p:sp>
        <p:nvSpPr>
          <p:cNvPr id="3" name="Content Placeholder 2"/>
          <p:cNvSpPr>
            <a:spLocks noGrp="1"/>
          </p:cNvSpPr>
          <p:nvPr>
            <p:ph idx="1"/>
          </p:nvPr>
        </p:nvSpPr>
        <p:spPr>
          <a:xfrm>
            <a:off x="718820" y="1691005"/>
            <a:ext cx="10515600" cy="4726940"/>
          </a:xfrm>
        </p:spPr>
        <p:txBody>
          <a:bodyPr>
            <a:noAutofit/>
          </a:bodyPr>
          <a:lstStyle/>
          <a:p>
            <a:pPr algn="just"/>
            <a:r>
              <a:rPr lang="en-US" sz="2300" dirty="0"/>
              <a:t>Local control, like replication is yet another device to reduce or control the variation due to extraneous factors and increase the precision of the experiment.</a:t>
            </a:r>
          </a:p>
          <a:p>
            <a:pPr algn="just"/>
            <a:r>
              <a:rPr lang="en-US" sz="2300" dirty="0"/>
              <a:t>If, for instance, an experimental field is heterogeneous with respect of soil fertility, then the field can be divided into smaller blocks such that plots within each block tend to be more homogeneous. </a:t>
            </a:r>
          </a:p>
          <a:p>
            <a:pPr algn="just"/>
            <a:r>
              <a:rPr lang="en-US" sz="2300" dirty="0"/>
              <a:t>This kind of homogeneity of plots (experiment units) ensures an unbiased comparison of treatment means, as otherwise it would be difficult </a:t>
            </a:r>
            <a:r>
              <a:rPr lang="en-US" sz="2300" dirty="0" smtClean="0"/>
              <a:t>to attribute </a:t>
            </a:r>
            <a:r>
              <a:rPr lang="en-US" sz="2300" dirty="0"/>
              <a:t>the mean difference between two treatments solely to differences between treatments when the plot differences also persist. This type of local control to achieve homogeneity of experimental units, will not only increase the accuracy of the experiment, but also help in arriving at valid conclusions.</a:t>
            </a:r>
          </a:p>
          <a:p>
            <a:pPr algn="just"/>
            <a:r>
              <a:rPr lang="en-US" sz="2300" dirty="0"/>
              <a:t>In short Local control is dividing the experimental material into blocks which are homogeneous within and heterogeneous in between. The variation among these blocks is eliminated from the error and thereby efficiency is increased.</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8039"/>
          </a:xfrm>
        </p:spPr>
        <p:txBody>
          <a:bodyPr>
            <a:normAutofit fontScale="90000"/>
          </a:bodyPr>
          <a:lstStyle/>
          <a:p>
            <a:r>
              <a:rPr lang="en-US" b="1" dirty="0" smtClean="0"/>
              <a:t>Example: Local Control in a Research Study</a:t>
            </a:r>
            <a:br>
              <a:rPr lang="en-US" b="1" dirty="0" smtClean="0"/>
            </a:br>
            <a:endParaRPr lang="en-US" dirty="0"/>
          </a:p>
        </p:txBody>
      </p:sp>
      <p:sp>
        <p:nvSpPr>
          <p:cNvPr id="3" name="Content Placeholder 2"/>
          <p:cNvSpPr>
            <a:spLocks noGrp="1"/>
          </p:cNvSpPr>
          <p:nvPr>
            <p:ph idx="1"/>
          </p:nvPr>
        </p:nvSpPr>
        <p:spPr>
          <a:xfrm>
            <a:off x="838200" y="1537855"/>
            <a:ext cx="10515600" cy="4639108"/>
          </a:xfrm>
        </p:spPr>
        <p:txBody>
          <a:bodyPr>
            <a:normAutofit fontScale="92500" lnSpcReduction="20000"/>
          </a:bodyPr>
          <a:lstStyle/>
          <a:p>
            <a:r>
              <a:rPr lang="en-US" b="1" dirty="0" smtClean="0"/>
              <a:t>Study:</a:t>
            </a:r>
            <a:r>
              <a:rPr lang="en-US" dirty="0" smtClean="0"/>
              <a:t/>
            </a:r>
            <a:br>
              <a:rPr lang="en-US" dirty="0" smtClean="0"/>
            </a:br>
            <a:r>
              <a:rPr lang="en-US" i="1" dirty="0" smtClean="0"/>
              <a:t>Investigating the effect of a new fertilizer on crop yield.</a:t>
            </a:r>
            <a:endParaRPr lang="en-US" dirty="0" smtClean="0"/>
          </a:p>
          <a:p>
            <a:r>
              <a:rPr lang="en-US" b="1" dirty="0" smtClean="0"/>
              <a:t>Problem:</a:t>
            </a:r>
            <a:r>
              <a:rPr lang="en-US" dirty="0" smtClean="0"/>
              <a:t/>
            </a:r>
            <a:br>
              <a:rPr lang="en-US" dirty="0" smtClean="0"/>
            </a:br>
            <a:r>
              <a:rPr lang="en-US" dirty="0" smtClean="0"/>
              <a:t>Soil fertility may vary across the field — this could affect yield even without the fertilizer.</a:t>
            </a:r>
          </a:p>
          <a:p>
            <a:r>
              <a:rPr lang="en-US" b="1" dirty="0" smtClean="0"/>
              <a:t>Local Control Method:</a:t>
            </a:r>
            <a:endParaRPr lang="en-US" dirty="0" smtClean="0"/>
          </a:p>
          <a:p>
            <a:pPr algn="just"/>
            <a:r>
              <a:rPr lang="en-US" dirty="0" smtClean="0"/>
              <a:t>The field is divided into </a:t>
            </a:r>
            <a:r>
              <a:rPr lang="en-US" b="1" dirty="0" smtClean="0"/>
              <a:t>blocks</a:t>
            </a:r>
            <a:r>
              <a:rPr lang="en-US" dirty="0" smtClean="0"/>
              <a:t> where soil fertility is similar.</a:t>
            </a:r>
          </a:p>
          <a:p>
            <a:pPr algn="just"/>
            <a:r>
              <a:rPr lang="en-US" dirty="0" smtClean="0"/>
              <a:t>Within each block, one plot gets the </a:t>
            </a:r>
            <a:r>
              <a:rPr lang="en-US" b="1" dirty="0" smtClean="0"/>
              <a:t>new fertilizer</a:t>
            </a:r>
            <a:r>
              <a:rPr lang="en-US" dirty="0" smtClean="0"/>
              <a:t> and another plot gets the </a:t>
            </a:r>
            <a:r>
              <a:rPr lang="en-US" b="1" dirty="0" smtClean="0"/>
              <a:t>standard fertilizer</a:t>
            </a:r>
            <a:r>
              <a:rPr lang="en-US" dirty="0" smtClean="0"/>
              <a:t>.</a:t>
            </a:r>
          </a:p>
          <a:p>
            <a:pPr algn="just"/>
            <a:r>
              <a:rPr lang="en-US" dirty="0" smtClean="0"/>
              <a:t>Comparisons are then made </a:t>
            </a:r>
            <a:r>
              <a:rPr lang="en-US" b="1" dirty="0" smtClean="0"/>
              <a:t>within each block</a:t>
            </a:r>
            <a:r>
              <a:rPr lang="en-US" dirty="0" smtClean="0"/>
              <a:t>, not across the entire field.</a:t>
            </a:r>
          </a:p>
          <a:p>
            <a:pPr algn="just"/>
            <a:r>
              <a:rPr lang="en-US" dirty="0" smtClean="0"/>
              <a:t>This way, the </a:t>
            </a:r>
            <a:r>
              <a:rPr lang="en-US" b="1" dirty="0" smtClean="0"/>
              <a:t>effect of soil fertility</a:t>
            </a:r>
            <a:r>
              <a:rPr lang="en-US" dirty="0" smtClean="0"/>
              <a:t> is controlled locally, and any yield differences are more likely due to the </a:t>
            </a:r>
            <a:r>
              <a:rPr lang="en-US" b="1" dirty="0" smtClean="0"/>
              <a:t>fertilizer</a:t>
            </a:r>
            <a:r>
              <a:rPr lang="en-US" dirty="0" smtClean="0"/>
              <a:t> itself.</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r>
              <a:rPr lang="en-US" b="1" dirty="0" smtClean="0"/>
              <a:t>Principles of Experimental Design in Agricultural Research</a:t>
            </a:r>
          </a:p>
          <a:p>
            <a:pPr lvl="1" algn="just"/>
            <a:r>
              <a:rPr lang="en-US" dirty="0" smtClean="0"/>
              <a:t>In this study, the principles of </a:t>
            </a:r>
            <a:r>
              <a:rPr lang="en-US" b="1" dirty="0" smtClean="0"/>
              <a:t>randomization</a:t>
            </a:r>
            <a:r>
              <a:rPr lang="en-US" dirty="0" smtClean="0"/>
              <a:t>, </a:t>
            </a:r>
            <a:r>
              <a:rPr lang="en-US" b="1" dirty="0" smtClean="0"/>
              <a:t>replication</a:t>
            </a:r>
            <a:r>
              <a:rPr lang="en-US" dirty="0" smtClean="0"/>
              <a:t>, and </a:t>
            </a:r>
            <a:r>
              <a:rPr lang="en-US" b="1" dirty="0" smtClean="0"/>
              <a:t>local control</a:t>
            </a:r>
            <a:r>
              <a:rPr lang="en-US" dirty="0" smtClean="0"/>
              <a:t> were used to make the experiment more reliable. </a:t>
            </a:r>
          </a:p>
          <a:p>
            <a:pPr lvl="1" algn="just"/>
            <a:r>
              <a:rPr lang="en-US" b="1" dirty="0" smtClean="0"/>
              <a:t>Randomization</a:t>
            </a:r>
            <a:r>
              <a:rPr lang="en-US" dirty="0" smtClean="0"/>
              <a:t> was done by assigning different fertilizer treatments to the plots by chance, so that the results would not be biased. </a:t>
            </a:r>
          </a:p>
          <a:p>
            <a:pPr lvl="1" algn="just"/>
            <a:r>
              <a:rPr lang="en-US" b="1" dirty="0" smtClean="0"/>
              <a:t>Replication</a:t>
            </a:r>
            <a:r>
              <a:rPr lang="en-US" dirty="0" smtClean="0"/>
              <a:t> was applied by repeating each fertilizer treatment on several plots to get more accurate and consistent results. </a:t>
            </a:r>
          </a:p>
          <a:p>
            <a:pPr lvl="1" algn="just"/>
            <a:r>
              <a:rPr lang="en-US" b="1" dirty="0" smtClean="0"/>
              <a:t>Local control</a:t>
            </a:r>
            <a:r>
              <a:rPr lang="en-US" dirty="0" smtClean="0"/>
              <a:t> was used by dividing the field into blocks with similar soil conditions, which helped reduce the effect of soil differences on the yield.</a:t>
            </a:r>
          </a:p>
          <a:p>
            <a:pPr lvl="1" algn="just"/>
            <a:r>
              <a:rPr lang="en-US" dirty="0" smtClean="0"/>
              <a:t>By using these three principles, the experiment produced more dependable results and helped clearly show the effect of the fertilizers on crop growth</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Types: Experimental design </a:t>
            </a:r>
            <a:endParaRPr lang="en-US" dirty="0"/>
          </a:p>
        </p:txBody>
      </p:sp>
      <p:sp>
        <p:nvSpPr>
          <p:cNvPr id="3" name="Content Placeholder 2"/>
          <p:cNvSpPr>
            <a:spLocks noGrp="1"/>
          </p:cNvSpPr>
          <p:nvPr>
            <p:ph idx="1"/>
          </p:nvPr>
        </p:nvSpPr>
        <p:spPr>
          <a:xfrm>
            <a:off x="838200" y="1399540"/>
            <a:ext cx="10515600" cy="5323205"/>
          </a:xfrm>
        </p:spPr>
        <p:txBody>
          <a:bodyPr>
            <a:normAutofit fontScale="97500"/>
          </a:bodyPr>
          <a:lstStyle/>
          <a:p>
            <a:pPr algn="just"/>
            <a:r>
              <a:rPr lang="en-US" dirty="0"/>
              <a:t>Data for statistical studies are obtained by conducting either experiments or surveys. Experimental design is the branch of statistics that deals with the design and analysis of experiments. The methods of experimental design are widely used in the fields of agriculture, medicine, biology, marketing research, and industrial production.</a:t>
            </a:r>
          </a:p>
          <a:p>
            <a:r>
              <a:rPr lang="en-US" dirty="0"/>
              <a:t>Three of the more widely used experimental designs are :</a:t>
            </a:r>
          </a:p>
          <a:p>
            <a:pPr lvl="1" algn="just"/>
            <a:r>
              <a:rPr lang="en-US" dirty="0"/>
              <a:t>Completely randomized design: the treatments are randomly assigned to the experimental units.  </a:t>
            </a:r>
          </a:p>
          <a:p>
            <a:pPr lvl="1" algn="just"/>
            <a:r>
              <a:rPr lang="en-US" dirty="0"/>
              <a:t>Randomized block design: blocking is used in order to enable comparisons among the treatments to be made within blocks of homogeneous experimental units</a:t>
            </a:r>
          </a:p>
          <a:p>
            <a:pPr lvl="1" algn="just"/>
            <a:r>
              <a:rPr lang="en-US" dirty="0"/>
              <a:t>Factorial design</a:t>
            </a:r>
            <a:r>
              <a:rPr lang="en-US" dirty="0" smtClean="0"/>
              <a:t>: Factorial </a:t>
            </a:r>
            <a:r>
              <a:rPr lang="en-US" dirty="0"/>
              <a:t>experiments are designed to draw conclusions about more than one factor, or variable. The term factorial is used to indicate that all possible combinations of the factors are considered.</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835" y="647700"/>
            <a:ext cx="10515600" cy="1325563"/>
          </a:xfrm>
        </p:spPr>
        <p:txBody>
          <a:bodyPr/>
          <a:lstStyle/>
          <a:p>
            <a:r>
              <a:rPr lang="en-US" dirty="0">
                <a:sym typeface="+mn-ea"/>
              </a:rPr>
              <a:t>   </a:t>
            </a:r>
            <a:r>
              <a:rPr lang="en-US" dirty="0" smtClean="0">
                <a:sym typeface="+mn-ea"/>
              </a:rPr>
              <a:t>Data </a:t>
            </a:r>
            <a:r>
              <a:rPr lang="en-US" dirty="0">
                <a:sym typeface="+mn-ea"/>
              </a:rPr>
              <a:t>types and classification</a:t>
            </a:r>
            <a:endParaRPr lang="en-US" dirty="0"/>
          </a:p>
        </p:txBody>
      </p:sp>
      <p:sp>
        <p:nvSpPr>
          <p:cNvPr id="3" name="Content Placeholder 2"/>
          <p:cNvSpPr>
            <a:spLocks noGrp="1"/>
          </p:cNvSpPr>
          <p:nvPr>
            <p:ph idx="1"/>
          </p:nvPr>
        </p:nvSpPr>
        <p:spPr>
          <a:xfrm>
            <a:off x="1056640" y="1973580"/>
            <a:ext cx="10515600" cy="1798320"/>
          </a:xfrm>
        </p:spPr>
        <p:txBody>
          <a:bodyPr/>
          <a:lstStyle/>
          <a:p>
            <a:pPr marL="0" indent="0" algn="just"/>
            <a:r>
              <a:rPr lang="en-US" dirty="0" smtClean="0">
                <a:sym typeface="+mn-ea"/>
              </a:rPr>
              <a:t> One </a:t>
            </a:r>
            <a:r>
              <a:rPr lang="en-US" dirty="0">
                <a:sym typeface="+mn-ea"/>
              </a:rPr>
              <a:t>of the main functions of statistics is to provide </a:t>
            </a:r>
            <a:r>
              <a:rPr lang="en-US" dirty="0"/>
              <a:t>information which will help on making decisions. </a:t>
            </a:r>
            <a:endParaRPr lang="en-US" dirty="0" smtClean="0"/>
          </a:p>
          <a:p>
            <a:pPr marL="0" indent="0" algn="just"/>
            <a:r>
              <a:rPr lang="en-US" dirty="0" smtClean="0"/>
              <a:t> Statistics </a:t>
            </a:r>
            <a:r>
              <a:rPr lang="en-US" dirty="0"/>
              <a:t>provides the type of information by providing a description of the present, a profile of the past and an estimate of the future.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Data in Statistics</a:t>
            </a:r>
          </a:p>
        </p:txBody>
      </p:sp>
      <p:graphicFrame>
        <p:nvGraphicFramePr>
          <p:cNvPr id="6" name="Object 5"/>
          <p:cNvGraphicFramePr>
            <a:graphicFrameLocks/>
          </p:cNvGraphicFramePr>
          <p:nvPr/>
        </p:nvGraphicFramePr>
        <p:xfrm>
          <a:off x="2105660" y="1803400"/>
          <a:ext cx="6531610" cy="4239260"/>
        </p:xfrm>
        <a:graphic>
          <a:graphicData uri="http://schemas.openxmlformats.org/presentationml/2006/ole">
            <p:oleObj spid="_x0000_s1025" r:id="rId3" imgW="6133333" imgH="2771429" progId="PBrush">
              <p:embed/>
            </p:oleObj>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Qualitative or Categorical Data</a:t>
            </a:r>
          </a:p>
        </p:txBody>
      </p:sp>
      <p:sp>
        <p:nvSpPr>
          <p:cNvPr id="3" name="Content Placeholder 2"/>
          <p:cNvSpPr>
            <a:spLocks noGrp="1"/>
          </p:cNvSpPr>
          <p:nvPr>
            <p:ph idx="1"/>
          </p:nvPr>
        </p:nvSpPr>
        <p:spPr/>
        <p:txBody>
          <a:bodyPr>
            <a:normAutofit fontScale="97500" lnSpcReduction="10000"/>
          </a:bodyPr>
          <a:lstStyle/>
          <a:p>
            <a:pPr algn="just"/>
            <a:r>
              <a:rPr lang="en-US"/>
              <a:t>Qualitative data, also known as the categorical data, describes the data that fits into the categories. Qualitative data are not numerical. The categorical information involves categorical variables that describe the features such as a person’s gender, home town etc. Categorical measures are defined in terms of natural language specifications, but not in terms of numbers.</a:t>
            </a:r>
          </a:p>
          <a:p>
            <a:pPr algn="just"/>
            <a:endParaRPr lang="en-US"/>
          </a:p>
          <a:p>
            <a:pPr algn="just"/>
            <a:r>
              <a:rPr lang="en-US"/>
              <a:t>Sometimes categorical data can hold numerical values (quantitative value), but those values do not have a mathematical sense. Examples of the categorical data are birthdate, favourite sport, school postcode. Here, the birthdate and school postcode hold the quantitative value, but it does not give numerical meaning.</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Nominal Data</a:t>
            </a:r>
            <a:endParaRPr lang="en-US"/>
          </a:p>
        </p:txBody>
      </p:sp>
      <p:sp>
        <p:nvSpPr>
          <p:cNvPr id="3" name="Content Placeholder 2"/>
          <p:cNvSpPr>
            <a:spLocks noGrp="1"/>
          </p:cNvSpPr>
          <p:nvPr>
            <p:ph idx="1"/>
          </p:nvPr>
        </p:nvSpPr>
        <p:spPr/>
        <p:txBody>
          <a:bodyPr>
            <a:normAutofit lnSpcReduction="10000"/>
          </a:bodyPr>
          <a:lstStyle/>
          <a:p>
            <a:pPr algn="just"/>
            <a:r>
              <a:rPr lang="en-US"/>
              <a:t>Nominal data is one of the types of qualitative information which helps to label the variables without providing the numerical value. Nominal data is also called the nominal scale. It cannot be ordered and measured. But sometimes, the data can be qualitative and quantitative. Examples of nominal data are letters, symbols, words, gender etc.</a:t>
            </a:r>
          </a:p>
          <a:p>
            <a:pPr algn="just"/>
            <a:endParaRPr lang="en-US"/>
          </a:p>
          <a:p>
            <a:pPr algn="just"/>
            <a:r>
              <a:rPr lang="en-US"/>
              <a:t>The nominal data are examined using the grouping method. In this method, the data are grouped into categories, and then the frequency or the percentage of the data can be calculated. These data are visually represented using the pie charts.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Ordinal Data</a:t>
            </a:r>
            <a:endParaRPr lang="en-US"/>
          </a:p>
        </p:txBody>
      </p:sp>
      <p:sp>
        <p:nvSpPr>
          <p:cNvPr id="3" name="Content Placeholder 2"/>
          <p:cNvSpPr>
            <a:spLocks noGrp="1"/>
          </p:cNvSpPr>
          <p:nvPr>
            <p:ph idx="1"/>
          </p:nvPr>
        </p:nvSpPr>
        <p:spPr/>
        <p:txBody>
          <a:bodyPr/>
          <a:lstStyle/>
          <a:p>
            <a:pPr algn="just"/>
            <a:r>
              <a:rPr lang="en-US" dirty="0"/>
              <a:t>Ordinal data/variable is a type of data that follows a natural order. The significant feature of the nominal data is that the difference between the data values is not determined. This variable is mostly found in surveys, finance, economics, questionnaires, and so on.</a:t>
            </a:r>
          </a:p>
          <a:p>
            <a:pPr algn="just"/>
            <a:endParaRPr lang="en-US" dirty="0"/>
          </a:p>
          <a:p>
            <a:pPr algn="just"/>
            <a:r>
              <a:rPr lang="en-US" dirty="0"/>
              <a:t>The ordinal data is commonly represented using a bar chart. These data are investigated and interpreted through many </a:t>
            </a:r>
            <a:r>
              <a:rPr lang="en-US" dirty="0" err="1"/>
              <a:t>visualisation</a:t>
            </a:r>
            <a:r>
              <a:rPr lang="en-US" dirty="0"/>
              <a:t> tools. The information may be expressed using tables in which each row in the table shows the distinct category.</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25855"/>
            <a:ext cx="10515600" cy="5596890"/>
          </a:xfrm>
        </p:spPr>
        <p:txBody>
          <a:bodyPr>
            <a:normAutofit fontScale="87500" lnSpcReduction="10000"/>
          </a:bodyPr>
          <a:lstStyle/>
          <a:p>
            <a:pPr marL="0" indent="457200" algn="just"/>
            <a:r>
              <a:rPr lang="en-US" dirty="0"/>
              <a:t>Quantitative data is also known as numerical data which represents the numerical value (i.e., how much, how often, how many). Numerical data gives information about the quantities of a specific thing. Some examples of numerical data are height, length, size, weight, and so on. The quantitative data can be classified into two different types based on the data sets. The two different classifications of numerical data are discrete data and continuous data.</a:t>
            </a:r>
          </a:p>
          <a:p>
            <a:pPr algn="just"/>
            <a:r>
              <a:rPr lang="en-US" b="1" dirty="0"/>
              <a:t>Discrete Data</a:t>
            </a:r>
          </a:p>
          <a:p>
            <a:pPr marL="0" indent="457200" algn="just">
              <a:buNone/>
            </a:pPr>
            <a:r>
              <a:rPr lang="en-US" dirty="0"/>
              <a:t>Discrete data can take only discrete values. Discrete information contains only a finite number of possible values. Those values cannot be subdivided meaningfully. Here, things can be counted in whole numbers.</a:t>
            </a:r>
          </a:p>
          <a:p>
            <a:pPr marL="0" indent="457200" algn="just">
              <a:buNone/>
            </a:pPr>
            <a:r>
              <a:rPr lang="en-US" dirty="0"/>
              <a:t>Example: Number of students in the class</a:t>
            </a:r>
          </a:p>
          <a:p>
            <a:pPr algn="just"/>
            <a:r>
              <a:rPr lang="en-US" b="1" dirty="0"/>
              <a:t>Continuous Data</a:t>
            </a:r>
          </a:p>
          <a:p>
            <a:pPr marL="0" indent="457200" algn="just">
              <a:buNone/>
            </a:pPr>
            <a:r>
              <a:rPr lang="en-US" dirty="0"/>
              <a:t>Continuous data is data that can be calculated. It has an infinite number of probable values that can be selected within a given specific range.</a:t>
            </a:r>
          </a:p>
          <a:p>
            <a:pPr marL="0" indent="457200" algn="just">
              <a:buNone/>
            </a:pPr>
            <a:r>
              <a:rPr lang="en-US" dirty="0"/>
              <a:t>Example: Temperature range</a:t>
            </a:r>
          </a:p>
        </p:txBody>
      </p:sp>
      <p:sp>
        <p:nvSpPr>
          <p:cNvPr id="4" name="Text Box 3"/>
          <p:cNvSpPr txBox="1"/>
          <p:nvPr/>
        </p:nvSpPr>
        <p:spPr>
          <a:xfrm>
            <a:off x="2326005" y="281305"/>
            <a:ext cx="6927850" cy="947420"/>
          </a:xfrm>
          <a:prstGeom prst="rect">
            <a:avLst/>
          </a:prstGeom>
          <a:noFill/>
        </p:spPr>
        <p:txBody>
          <a:bodyPr wrap="square" rtlCol="0" anchor="t">
            <a:noAutofit/>
          </a:bodyPr>
          <a:lstStyle/>
          <a:p>
            <a:r>
              <a:rPr lang="en-US" sz="3600" b="1">
                <a:sym typeface="+mn-ea"/>
              </a:rPr>
              <a:t>Quantitative or Numerical Data</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Nature of data</a:t>
            </a:r>
            <a:endParaRPr lang="en-US"/>
          </a:p>
        </p:txBody>
      </p:sp>
      <p:sp>
        <p:nvSpPr>
          <p:cNvPr id="3" name="Content Placeholder 2"/>
          <p:cNvSpPr>
            <a:spLocks noGrp="1"/>
          </p:cNvSpPr>
          <p:nvPr>
            <p:ph idx="1"/>
          </p:nvPr>
        </p:nvSpPr>
        <p:spPr/>
        <p:txBody>
          <a:bodyPr/>
          <a:lstStyle/>
          <a:p>
            <a:pPr algn="just"/>
            <a:r>
              <a:rPr lang="en-US" dirty="0"/>
              <a:t>It may be noted that different types of data can be collected for different purposes. The data can be collected in connection with time or geographical location or in connection with time and location. The following are the three types of data:</a:t>
            </a:r>
          </a:p>
          <a:p>
            <a:pPr marL="0" indent="0">
              <a:buNone/>
            </a:pPr>
            <a:r>
              <a:rPr lang="en-US" dirty="0"/>
              <a:t>1. Time series data.</a:t>
            </a:r>
          </a:p>
          <a:p>
            <a:pPr marL="0" indent="0">
              <a:buNone/>
            </a:pPr>
            <a:r>
              <a:rPr lang="en-US" dirty="0"/>
              <a:t>2. Spatial data</a:t>
            </a:r>
          </a:p>
          <a:p>
            <a:pPr marL="0" indent="0">
              <a:buNone/>
            </a:pPr>
            <a:r>
              <a:rPr lang="en-US" dirty="0"/>
              <a:t>3. </a:t>
            </a:r>
            <a:r>
              <a:rPr lang="en-US" dirty="0" err="1"/>
              <a:t>Spacio</a:t>
            </a:r>
            <a:r>
              <a:rPr lang="en-US" dirty="0"/>
              <a:t>-temporal data</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Time series data</a:t>
            </a:r>
          </a:p>
        </p:txBody>
      </p:sp>
      <p:sp>
        <p:nvSpPr>
          <p:cNvPr id="3" name="Content Placeholder 2"/>
          <p:cNvSpPr>
            <a:spLocks noGrp="1"/>
          </p:cNvSpPr>
          <p:nvPr>
            <p:ph idx="1"/>
          </p:nvPr>
        </p:nvSpPr>
        <p:spPr/>
        <p:txBody>
          <a:bodyPr/>
          <a:lstStyle/>
          <a:p>
            <a:pPr algn="just"/>
            <a:r>
              <a:rPr lang="en-US" dirty="0"/>
              <a:t>It is a collection of a set of numerical values, collected over a  period of time. The data might have been collected either at regular intervals of time or irregular intervals of time.</a:t>
            </a:r>
          </a:p>
          <a:p>
            <a:pPr marL="0" indent="0">
              <a:buNone/>
            </a:pPr>
            <a:r>
              <a:rPr lang="en-US" dirty="0"/>
              <a:t>Example 1:</a:t>
            </a:r>
          </a:p>
          <a:p>
            <a:pPr marL="0" indent="0">
              <a:buNone/>
            </a:pPr>
            <a:r>
              <a:rPr lang="en-US" dirty="0"/>
              <a:t>The following is the data for the three types of expenditures for a family for the four years 2001,2002,2003,2004.</a:t>
            </a:r>
          </a:p>
        </p:txBody>
      </p:sp>
      <p:graphicFrame>
        <p:nvGraphicFramePr>
          <p:cNvPr id="4" name="Object 3"/>
          <p:cNvGraphicFramePr>
            <a:graphicFrameLocks/>
          </p:cNvGraphicFramePr>
          <p:nvPr/>
        </p:nvGraphicFramePr>
        <p:xfrm>
          <a:off x="2405380" y="4432935"/>
          <a:ext cx="7542530" cy="2019300"/>
        </p:xfrm>
        <a:graphic>
          <a:graphicData uri="http://schemas.openxmlformats.org/presentationml/2006/ole">
            <p:oleObj spid="_x0000_s29697" r:id="rId3" imgW="4315427" imgH="1638529" progId="PBrush">
              <p:embed/>
            </p:oleObj>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Spatial Data</a:t>
            </a:r>
            <a:endParaRPr lang="en-US"/>
          </a:p>
        </p:txBody>
      </p:sp>
      <p:sp>
        <p:nvSpPr>
          <p:cNvPr id="3" name="Content Placeholder 2"/>
          <p:cNvSpPr>
            <a:spLocks noGrp="1"/>
          </p:cNvSpPr>
          <p:nvPr>
            <p:ph idx="1"/>
          </p:nvPr>
        </p:nvSpPr>
        <p:spPr>
          <a:xfrm>
            <a:off x="838200" y="1825625"/>
            <a:ext cx="10515600" cy="1798320"/>
          </a:xfrm>
        </p:spPr>
        <p:txBody>
          <a:bodyPr/>
          <a:lstStyle/>
          <a:p>
            <a:pPr algn="just"/>
            <a:r>
              <a:rPr lang="en-US" dirty="0"/>
              <a:t>If the data collected is connected with that of a place, then it is termed as spatial data. For example : The population of the southern states of India in 1991.</a:t>
            </a:r>
          </a:p>
        </p:txBody>
      </p:sp>
      <p:graphicFrame>
        <p:nvGraphicFramePr>
          <p:cNvPr id="4" name="Object 3"/>
          <p:cNvGraphicFramePr>
            <a:graphicFrameLocks/>
          </p:cNvGraphicFramePr>
          <p:nvPr/>
        </p:nvGraphicFramePr>
        <p:xfrm>
          <a:off x="2917190" y="3429635"/>
          <a:ext cx="5016500" cy="2774950"/>
        </p:xfrm>
        <a:graphic>
          <a:graphicData uri="http://schemas.openxmlformats.org/presentationml/2006/ole">
            <p:oleObj spid="_x0000_s35841" r:id="rId3" imgW="2505425" imgH="1190476" progId="PBrush">
              <p:embed/>
            </p:oleObj>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Spacio Temporal Data</a:t>
            </a:r>
            <a:endParaRPr lang="en-US"/>
          </a:p>
        </p:txBody>
      </p:sp>
      <p:sp>
        <p:nvSpPr>
          <p:cNvPr id="3" name="Content Placeholder 2"/>
          <p:cNvSpPr>
            <a:spLocks noGrp="1"/>
          </p:cNvSpPr>
          <p:nvPr>
            <p:ph idx="1"/>
          </p:nvPr>
        </p:nvSpPr>
        <p:spPr>
          <a:xfrm>
            <a:off x="838200" y="1825625"/>
            <a:ext cx="10515600" cy="1603375"/>
          </a:xfrm>
        </p:spPr>
        <p:txBody>
          <a:bodyPr/>
          <a:lstStyle/>
          <a:p>
            <a:r>
              <a:rPr lang="en-US"/>
              <a:t>If the data collected is connected to the time as well as place then it is known as spacio temporal data.</a:t>
            </a:r>
          </a:p>
          <a:p>
            <a:r>
              <a:rPr lang="en-US"/>
              <a:t>Example :</a:t>
            </a:r>
          </a:p>
        </p:txBody>
      </p:sp>
      <p:graphicFrame>
        <p:nvGraphicFramePr>
          <p:cNvPr id="4" name="Object 3"/>
          <p:cNvGraphicFramePr>
            <a:graphicFrameLocks/>
          </p:cNvGraphicFramePr>
          <p:nvPr/>
        </p:nvGraphicFramePr>
        <p:xfrm>
          <a:off x="1441450" y="3564255"/>
          <a:ext cx="7659370" cy="2252980"/>
        </p:xfrm>
        <a:graphic>
          <a:graphicData uri="http://schemas.openxmlformats.org/presentationml/2006/ole">
            <p:oleObj spid="_x0000_s36865" r:id="rId3" imgW="4315427" imgH="1362265" progId="PBrush">
              <p:embed/>
            </p:oleObj>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Classification</a:t>
            </a:r>
          </a:p>
        </p:txBody>
      </p:sp>
      <p:sp>
        <p:nvSpPr>
          <p:cNvPr id="3" name="Content Placeholder 2"/>
          <p:cNvSpPr>
            <a:spLocks noGrp="1"/>
          </p:cNvSpPr>
          <p:nvPr>
            <p:ph idx="1"/>
          </p:nvPr>
        </p:nvSpPr>
        <p:spPr/>
        <p:txBody>
          <a:bodyPr>
            <a:normAutofit fontScale="92500" lnSpcReduction="10000"/>
          </a:bodyPr>
          <a:lstStyle/>
          <a:p>
            <a:pPr algn="just">
              <a:buFont typeface="Arial" panose="020B0604020202020204" pitchFamily="34" charset="0"/>
              <a:buChar char="•"/>
            </a:pPr>
            <a:r>
              <a:rPr lang="en-US" dirty="0"/>
              <a:t>The collected data, also known as raw data or ungrouped data are always in an </a:t>
            </a:r>
            <a:r>
              <a:rPr lang="en-US" dirty="0" err="1" smtClean="0"/>
              <a:t>unorganised</a:t>
            </a:r>
            <a:r>
              <a:rPr lang="en-US" dirty="0" smtClean="0"/>
              <a:t> </a:t>
            </a:r>
            <a:r>
              <a:rPr lang="en-US" dirty="0"/>
              <a:t>form and need to be </a:t>
            </a:r>
            <a:r>
              <a:rPr lang="en-US" dirty="0" err="1"/>
              <a:t>organised</a:t>
            </a:r>
            <a:r>
              <a:rPr lang="en-US" dirty="0"/>
              <a:t> and presented in meaningful and readily comprehensible form in order to facilitate further statistical analysis.</a:t>
            </a:r>
          </a:p>
          <a:p>
            <a:pPr algn="just">
              <a:buFont typeface="Arial" panose="020B0604020202020204" pitchFamily="34" charset="0"/>
              <a:buChar char="•"/>
            </a:pPr>
            <a:r>
              <a:rPr lang="en-US" dirty="0"/>
              <a:t>It is, therefore, essential for an investigator to condense a mass of data into more and more </a:t>
            </a:r>
            <a:r>
              <a:rPr lang="en-US" dirty="0" smtClean="0"/>
              <a:t>comprehensible </a:t>
            </a:r>
            <a:r>
              <a:rPr lang="en-US" dirty="0"/>
              <a:t>and </a:t>
            </a:r>
            <a:r>
              <a:rPr lang="en-US" dirty="0" err="1"/>
              <a:t>assimilable</a:t>
            </a:r>
            <a:r>
              <a:rPr lang="en-US" dirty="0"/>
              <a:t> form. </a:t>
            </a:r>
          </a:p>
          <a:p>
            <a:pPr algn="just"/>
            <a:r>
              <a:rPr lang="en-US" dirty="0"/>
              <a:t>The process of grouping into different classes or sub classes according to some characteristics is </a:t>
            </a:r>
            <a:r>
              <a:rPr lang="en-US" dirty="0" smtClean="0"/>
              <a:t>known </a:t>
            </a:r>
            <a:r>
              <a:rPr lang="en-US" dirty="0"/>
              <a:t>as classification, tabulation is concerned with the systematic arrangement and presentation of classified data. Thus classification is the first step in tabulation</a:t>
            </a:r>
            <a:r>
              <a:rPr lang="en-US" dirty="0" smtClean="0"/>
              <a:t>.</a:t>
            </a:r>
          </a:p>
          <a:p>
            <a:pPr marL="0" indent="0" algn="just"/>
            <a:r>
              <a:rPr lang="en-US" dirty="0" smtClean="0"/>
              <a:t> For </a:t>
            </a:r>
            <a:r>
              <a:rPr lang="en-US" dirty="0"/>
              <a:t>Example, letters in the post office are classified according to their </a:t>
            </a:r>
            <a:r>
              <a:rPr lang="en-US" dirty="0" smtClean="0"/>
              <a:t> destinations </a:t>
            </a:r>
            <a:r>
              <a:rPr lang="en-US" dirty="0"/>
              <a:t>viz., Delhi, Madurai, Bangalore, Mumbai etc.,</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Main objectives of classifying the data</a:t>
            </a:r>
            <a:endParaRPr lang="en-US"/>
          </a:p>
        </p:txBody>
      </p:sp>
      <p:sp>
        <p:nvSpPr>
          <p:cNvPr id="3" name="Content Placeholder 2"/>
          <p:cNvSpPr>
            <a:spLocks noGrp="1"/>
          </p:cNvSpPr>
          <p:nvPr>
            <p:ph idx="1"/>
          </p:nvPr>
        </p:nvSpPr>
        <p:spPr/>
        <p:txBody>
          <a:bodyPr>
            <a:normAutofit/>
          </a:bodyPr>
          <a:lstStyle/>
          <a:p>
            <a:pPr marL="0" indent="0" algn="just">
              <a:buNone/>
            </a:pPr>
            <a:r>
              <a:rPr lang="en-US" dirty="0"/>
              <a:t>1. It condenses the mass of data in an easily </a:t>
            </a:r>
            <a:r>
              <a:rPr lang="en-US" dirty="0" err="1"/>
              <a:t>assimilable</a:t>
            </a:r>
            <a:r>
              <a:rPr lang="en-US" dirty="0"/>
              <a:t> form.</a:t>
            </a:r>
          </a:p>
          <a:p>
            <a:pPr marL="0" indent="0" algn="just">
              <a:buNone/>
            </a:pPr>
            <a:r>
              <a:rPr lang="en-US" dirty="0"/>
              <a:t>2. It eliminates unnecessary details.</a:t>
            </a:r>
          </a:p>
          <a:p>
            <a:pPr marL="0" indent="0" algn="just">
              <a:buNone/>
            </a:pPr>
            <a:r>
              <a:rPr lang="en-US" dirty="0"/>
              <a:t>3. It facilitates comparison and highlights the significant </a:t>
            </a:r>
            <a:r>
              <a:rPr lang="en-US" dirty="0" smtClean="0"/>
              <a:t>aspect </a:t>
            </a:r>
            <a:r>
              <a:rPr lang="en-US" dirty="0"/>
              <a:t>of data.</a:t>
            </a:r>
          </a:p>
          <a:p>
            <a:pPr marL="0" indent="0" algn="just">
              <a:buNone/>
            </a:pPr>
            <a:r>
              <a:rPr lang="en-US" dirty="0"/>
              <a:t>4. It enables one to get a mental picture of the information and </a:t>
            </a:r>
            <a:r>
              <a:rPr lang="en-US" dirty="0" smtClean="0"/>
              <a:t>helps </a:t>
            </a:r>
            <a:r>
              <a:rPr lang="en-US" dirty="0"/>
              <a:t>in drawing inferences.</a:t>
            </a:r>
          </a:p>
          <a:p>
            <a:pPr marL="0" indent="0" algn="just">
              <a:buNone/>
            </a:pPr>
            <a:r>
              <a:rPr lang="en-US" dirty="0"/>
              <a:t>5. It helps in the statistical treatment of the information </a:t>
            </a:r>
            <a:r>
              <a:rPr lang="en-US" dirty="0" smtClean="0"/>
              <a:t>collected</a:t>
            </a:r>
            <a:r>
              <a:rPr lang="en-US" dirty="0"/>
              <a: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Types of classification</a:t>
            </a:r>
            <a:endParaRPr lang="en-US"/>
          </a:p>
        </p:txBody>
      </p:sp>
      <p:sp>
        <p:nvSpPr>
          <p:cNvPr id="3" name="Content Placeholder 2"/>
          <p:cNvSpPr>
            <a:spLocks noGrp="1"/>
          </p:cNvSpPr>
          <p:nvPr>
            <p:ph idx="1"/>
          </p:nvPr>
        </p:nvSpPr>
        <p:spPr>
          <a:xfrm>
            <a:off x="838200" y="1825625"/>
            <a:ext cx="10515600" cy="703580"/>
          </a:xfrm>
        </p:spPr>
        <p:txBody>
          <a:bodyPr/>
          <a:lstStyle/>
          <a:p>
            <a:r>
              <a:rPr lang="en-US">
                <a:sym typeface="+mn-ea"/>
              </a:rPr>
              <a:t>Statistical data are classified in respect of their characteristics</a:t>
            </a:r>
          </a:p>
        </p:txBody>
      </p:sp>
      <p:graphicFrame>
        <p:nvGraphicFramePr>
          <p:cNvPr id="4" name="Object 3"/>
          <p:cNvGraphicFramePr>
            <a:graphicFrameLocks/>
          </p:cNvGraphicFramePr>
          <p:nvPr/>
        </p:nvGraphicFramePr>
        <p:xfrm>
          <a:off x="565785" y="2518410"/>
          <a:ext cx="9980295" cy="3776345"/>
        </p:xfrm>
        <a:graphic>
          <a:graphicData uri="http://schemas.openxmlformats.org/presentationml/2006/ole">
            <p:oleObj spid="_x0000_s37889" r:id="rId3" imgW="6152381" imgH="1819529" progId="PBrush">
              <p:embed/>
            </p:oleObj>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Geographical Classification</a:t>
            </a:r>
          </a:p>
        </p:txBody>
      </p:sp>
      <p:sp>
        <p:nvSpPr>
          <p:cNvPr id="3" name="Content Placeholder 2"/>
          <p:cNvSpPr>
            <a:spLocks noGrp="1"/>
          </p:cNvSpPr>
          <p:nvPr>
            <p:ph idx="1"/>
          </p:nvPr>
        </p:nvSpPr>
        <p:spPr>
          <a:xfrm>
            <a:off x="838200" y="1825625"/>
            <a:ext cx="10515600" cy="1710690"/>
          </a:xfrm>
        </p:spPr>
        <p:txBody>
          <a:bodyPr/>
          <a:lstStyle/>
          <a:p>
            <a:r>
              <a:rPr lang="en-US"/>
              <a:t>The classification of data on the basis of geographical location or region is known as Geographical or Spatial Classification. For example, presenting the population of different states of a country is done on the basis of geographical location or region. </a:t>
            </a:r>
          </a:p>
        </p:txBody>
      </p:sp>
      <p:graphicFrame>
        <p:nvGraphicFramePr>
          <p:cNvPr id="4" name="Object 3"/>
          <p:cNvGraphicFramePr>
            <a:graphicFrameLocks/>
          </p:cNvGraphicFramePr>
          <p:nvPr/>
        </p:nvGraphicFramePr>
        <p:xfrm>
          <a:off x="3264535" y="3670300"/>
          <a:ext cx="5691505" cy="2662555"/>
        </p:xfrm>
        <a:graphic>
          <a:graphicData uri="http://schemas.openxmlformats.org/presentationml/2006/ole">
            <p:oleObj spid="_x0000_s40961" r:id="rId3" imgW="4695238" imgH="2333333" progId="PBrush">
              <p:embed/>
            </p:oleObj>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Chronological Classification</a:t>
            </a:r>
            <a:endParaRPr lang="en-US"/>
          </a:p>
        </p:txBody>
      </p:sp>
      <p:sp>
        <p:nvSpPr>
          <p:cNvPr id="3" name="Content Placeholder 2"/>
          <p:cNvSpPr>
            <a:spLocks noGrp="1"/>
          </p:cNvSpPr>
          <p:nvPr>
            <p:ph idx="1"/>
          </p:nvPr>
        </p:nvSpPr>
        <p:spPr>
          <a:xfrm>
            <a:off x="838200" y="1825625"/>
            <a:ext cx="10515600" cy="1827530"/>
          </a:xfrm>
        </p:spPr>
        <p:txBody>
          <a:bodyPr/>
          <a:lstStyle/>
          <a:p>
            <a:r>
              <a:rPr lang="en-US"/>
              <a:t>The classification of data with respect to different time periods is known as Chronological or Temporal Classification. For example, the number of students in a school in different years can be presented on the basis of a time period. </a:t>
            </a:r>
          </a:p>
        </p:txBody>
      </p:sp>
      <p:graphicFrame>
        <p:nvGraphicFramePr>
          <p:cNvPr id="4" name="Object 3"/>
          <p:cNvGraphicFramePr>
            <a:graphicFrameLocks/>
          </p:cNvGraphicFramePr>
          <p:nvPr/>
        </p:nvGraphicFramePr>
        <p:xfrm>
          <a:off x="2234565" y="3653155"/>
          <a:ext cx="7080250" cy="2430780"/>
        </p:xfrm>
        <a:graphic>
          <a:graphicData uri="http://schemas.openxmlformats.org/presentationml/2006/ole">
            <p:oleObj spid="_x0000_s41985" r:id="rId3" imgW="4828571" imgH="2152951" progId="PBrush">
              <p:embed/>
            </p:oleObj>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Qualitative Classification</a:t>
            </a:r>
          </a:p>
        </p:txBody>
      </p:sp>
      <p:sp>
        <p:nvSpPr>
          <p:cNvPr id="3" name="Content Placeholder 2"/>
          <p:cNvSpPr>
            <a:spLocks noGrp="1"/>
          </p:cNvSpPr>
          <p:nvPr>
            <p:ph idx="1"/>
          </p:nvPr>
        </p:nvSpPr>
        <p:spPr>
          <a:xfrm>
            <a:off x="838200" y="1825625"/>
            <a:ext cx="10515600" cy="3592830"/>
          </a:xfrm>
        </p:spPr>
        <p:txBody>
          <a:bodyPr>
            <a:normAutofit fontScale="90000"/>
          </a:bodyPr>
          <a:lstStyle/>
          <a:p>
            <a:pPr algn="just"/>
            <a:r>
              <a:rPr lang="en-US" dirty="0"/>
              <a:t>The classification of data on the basis of descriptive or qualitative characteristics like region, caste, sex, gender, education, etc., is known as Qualitative Classification. A qualitative classification can not be quantified and can be of two types; viz., Simple Classification and Manifold Classification. </a:t>
            </a:r>
          </a:p>
          <a:p>
            <a:pPr algn="just"/>
            <a:r>
              <a:rPr lang="en-US" dirty="0" smtClean="0"/>
              <a:t>Simple </a:t>
            </a:r>
            <a:r>
              <a:rPr lang="en-US" dirty="0"/>
              <a:t>Classification</a:t>
            </a:r>
          </a:p>
          <a:p>
            <a:pPr algn="just"/>
            <a:r>
              <a:rPr lang="en-US" dirty="0"/>
              <a:t>When based on only one attribute, the given data is classified into two classes, which is known as Simple Classification. For example, when the population is divided into literate and illiterate, it is a simple classification. </a:t>
            </a:r>
          </a:p>
          <a:p>
            <a:endParaRPr lang="en-US" dirty="0"/>
          </a:p>
          <a:p>
            <a:endParaRPr lang="en-US" dirty="0"/>
          </a:p>
          <a:p>
            <a:pPr marL="0" indent="0">
              <a:buNone/>
            </a:pPr>
            <a:endParaRPr lang="en-US" dirty="0"/>
          </a:p>
        </p:txBody>
      </p:sp>
      <p:graphicFrame>
        <p:nvGraphicFramePr>
          <p:cNvPr id="4" name="Object 3"/>
          <p:cNvGraphicFramePr>
            <a:graphicFrameLocks/>
          </p:cNvGraphicFramePr>
          <p:nvPr/>
        </p:nvGraphicFramePr>
        <p:xfrm>
          <a:off x="3866515" y="5166360"/>
          <a:ext cx="2649855" cy="1010285"/>
        </p:xfrm>
        <a:graphic>
          <a:graphicData uri="http://schemas.openxmlformats.org/presentationml/2006/ole">
            <p:oleObj spid="_x0000_s43009" r:id="rId3" imgW="2647619" imgH="1009791" progId="PBrush">
              <p:embed/>
            </p:oleObj>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Qualitative Classification(Contd.)</a:t>
            </a:r>
            <a:endParaRPr lang="en-US"/>
          </a:p>
        </p:txBody>
      </p:sp>
      <p:sp>
        <p:nvSpPr>
          <p:cNvPr id="3" name="Content Placeholder 2"/>
          <p:cNvSpPr>
            <a:spLocks noGrp="1"/>
          </p:cNvSpPr>
          <p:nvPr>
            <p:ph idx="1"/>
          </p:nvPr>
        </p:nvSpPr>
        <p:spPr>
          <a:xfrm>
            <a:off x="838200" y="1825625"/>
            <a:ext cx="10515600" cy="2600325"/>
          </a:xfrm>
        </p:spPr>
        <p:txBody>
          <a:bodyPr/>
          <a:lstStyle/>
          <a:p>
            <a:r>
              <a:rPr lang="en-US"/>
              <a:t>Manifold Classification: When based on more than one attribute, the given data is classified into different classes, and then sub-divided into more sub-classes, which is known as Manifold Classification. For example, when the population is divided into literate and illiterate, then sub-divided into male and female, and further sub-divided into married and unmarried, it is a manifold classification.</a:t>
            </a:r>
          </a:p>
        </p:txBody>
      </p:sp>
      <p:graphicFrame>
        <p:nvGraphicFramePr>
          <p:cNvPr id="4" name="Object 3"/>
          <p:cNvGraphicFramePr>
            <a:graphicFrameLocks/>
          </p:cNvGraphicFramePr>
          <p:nvPr/>
        </p:nvGraphicFramePr>
        <p:xfrm>
          <a:off x="2179955" y="4425950"/>
          <a:ext cx="7963535" cy="2045970"/>
        </p:xfrm>
        <a:graphic>
          <a:graphicData uri="http://schemas.openxmlformats.org/presentationml/2006/ole">
            <p:oleObj spid="_x0000_s44033" r:id="rId3" imgW="6047619" imgH="1752381" progId="PBrush">
              <p:embed/>
            </p:oleObj>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Quantitative Classification</a:t>
            </a:r>
          </a:p>
        </p:txBody>
      </p:sp>
      <p:sp>
        <p:nvSpPr>
          <p:cNvPr id="3" name="Content Placeholder 2"/>
          <p:cNvSpPr>
            <a:spLocks noGrp="1"/>
          </p:cNvSpPr>
          <p:nvPr>
            <p:ph idx="1"/>
          </p:nvPr>
        </p:nvSpPr>
        <p:spPr/>
        <p:txBody>
          <a:bodyPr/>
          <a:lstStyle/>
          <a:p>
            <a:r>
              <a:rPr lang="en-US"/>
              <a:t>The classification of data on the basis of the characteristics, such as age, height, weight, income, etc., that can be measured in quantity is known as Quantitative Classification. For example, the weight of students in a class can be classified as quantitative classification.</a:t>
            </a:r>
          </a:p>
        </p:txBody>
      </p:sp>
      <p:graphicFrame>
        <p:nvGraphicFramePr>
          <p:cNvPr id="4" name="Object 3"/>
          <p:cNvGraphicFramePr>
            <a:graphicFrameLocks/>
          </p:cNvGraphicFramePr>
          <p:nvPr/>
        </p:nvGraphicFramePr>
        <p:xfrm>
          <a:off x="2800985" y="3528060"/>
          <a:ext cx="6254115" cy="2649220"/>
        </p:xfrm>
        <a:graphic>
          <a:graphicData uri="http://schemas.openxmlformats.org/presentationml/2006/ole">
            <p:oleObj spid="_x0000_s45057" r:id="rId3" imgW="4544059" imgH="2019048" progId="PBrush">
              <p:embed/>
            </p:oleObj>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4065"/>
            <a:ext cx="10515600" cy="1325563"/>
          </a:xfrm>
        </p:spPr>
        <p:txBody>
          <a:bodyPr/>
          <a:lstStyle/>
          <a:p>
            <a:r>
              <a:rPr lang="en-US"/>
              <a:t>Data Collection Methods and Tools</a:t>
            </a:r>
          </a:p>
        </p:txBody>
      </p:sp>
      <p:sp>
        <p:nvSpPr>
          <p:cNvPr id="3" name="Content Placeholder 2"/>
          <p:cNvSpPr>
            <a:spLocks noGrp="1"/>
          </p:cNvSpPr>
          <p:nvPr>
            <p:ph idx="1"/>
          </p:nvPr>
        </p:nvSpPr>
        <p:spPr>
          <a:xfrm>
            <a:off x="838200" y="2729230"/>
            <a:ext cx="10515600" cy="4351338"/>
          </a:xfrm>
        </p:spPr>
        <p:txBody>
          <a:bodyPr/>
          <a:lstStyle/>
          <a:p>
            <a:pPr algn="just"/>
            <a:r>
              <a:rPr lang="en-US"/>
              <a:t>Data collection is the process of collecting and evaluating information or data from multiple sources to find answers to research problems, answer questions, evaluate outcomes, and forecast trends and probabilities. It is an essential phase in all types of research, analysis, and decision-making, including that done in the social sciences, business, and healthcare.</a:t>
            </a:r>
          </a:p>
          <a:p>
            <a:pPr algn="just"/>
            <a:r>
              <a:rPr lang="en-US"/>
              <a:t>Primary and secondary methods of data collection are two approaches used to gather information for research or analysis purposes.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Primary Data Collection</a:t>
            </a:r>
          </a:p>
        </p:txBody>
      </p:sp>
      <p:sp>
        <p:nvSpPr>
          <p:cNvPr id="3" name="Content Placeholder 2"/>
          <p:cNvSpPr>
            <a:spLocks noGrp="1"/>
          </p:cNvSpPr>
          <p:nvPr>
            <p:ph idx="1"/>
          </p:nvPr>
        </p:nvSpPr>
        <p:spPr/>
        <p:txBody>
          <a:bodyPr>
            <a:normAutofit lnSpcReduction="10000"/>
          </a:bodyPr>
          <a:lstStyle/>
          <a:p>
            <a:pPr marL="0" indent="0">
              <a:buNone/>
            </a:pPr>
            <a:r>
              <a:rPr lang="en-US" dirty="0"/>
              <a:t>The primary data can be collected by the following five methods.</a:t>
            </a:r>
          </a:p>
          <a:p>
            <a:pPr marL="0" indent="0">
              <a:buNone/>
            </a:pPr>
            <a:r>
              <a:rPr lang="en-US" dirty="0"/>
              <a:t>1. Direct personal interviews.</a:t>
            </a:r>
          </a:p>
          <a:p>
            <a:pPr marL="0" indent="0">
              <a:buNone/>
            </a:pPr>
            <a:r>
              <a:rPr lang="en-US" dirty="0"/>
              <a:t>2. Indirect Oral interviews.</a:t>
            </a:r>
          </a:p>
          <a:p>
            <a:pPr marL="0" indent="0">
              <a:buNone/>
            </a:pPr>
            <a:r>
              <a:rPr lang="en-US" dirty="0"/>
              <a:t>3. Information from correspondents.</a:t>
            </a:r>
          </a:p>
          <a:p>
            <a:pPr marL="0" indent="0">
              <a:buNone/>
            </a:pPr>
            <a:r>
              <a:rPr lang="en-US" dirty="0"/>
              <a:t>4. Mailed questionnaire method.</a:t>
            </a:r>
          </a:p>
          <a:p>
            <a:pPr marL="0" indent="0">
              <a:buNone/>
            </a:pPr>
            <a:r>
              <a:rPr lang="en-US" dirty="0"/>
              <a:t>5. Surveys and </a:t>
            </a:r>
            <a:r>
              <a:rPr lang="en-US" dirty="0" smtClean="0"/>
              <a:t>Questionnaires</a:t>
            </a:r>
            <a:endParaRPr lang="en-US" dirty="0"/>
          </a:p>
          <a:p>
            <a:pPr marL="0" indent="0">
              <a:buNone/>
            </a:pPr>
            <a:r>
              <a:rPr lang="en-US" dirty="0"/>
              <a:t>6.Observations</a:t>
            </a:r>
          </a:p>
          <a:p>
            <a:pPr marL="0" indent="0">
              <a:buNone/>
            </a:pPr>
            <a:r>
              <a:rPr lang="en-US" dirty="0"/>
              <a:t>7.Experiments</a:t>
            </a:r>
          </a:p>
          <a:p>
            <a:pPr marL="0" indent="0">
              <a:buNone/>
            </a:pPr>
            <a:r>
              <a:rPr lang="en-US" dirty="0"/>
              <a:t>8.Focus Group</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1770"/>
            <a:ext cx="10515600" cy="1325563"/>
          </a:xfrm>
        </p:spPr>
        <p:txBody>
          <a:bodyPr/>
          <a:lstStyle/>
          <a:p>
            <a:r>
              <a:rPr lang="en-US">
                <a:sym typeface="+mn-ea"/>
              </a:rPr>
              <a:t>Secondary data Collection</a:t>
            </a:r>
            <a:endParaRPr lang="en-US"/>
          </a:p>
        </p:txBody>
      </p:sp>
      <p:sp>
        <p:nvSpPr>
          <p:cNvPr id="3" name="Content Placeholder 2"/>
          <p:cNvSpPr>
            <a:spLocks noGrp="1"/>
          </p:cNvSpPr>
          <p:nvPr>
            <p:ph idx="1"/>
          </p:nvPr>
        </p:nvSpPr>
        <p:spPr>
          <a:xfrm>
            <a:off x="838200" y="1306195"/>
            <a:ext cx="10515600" cy="4871085"/>
          </a:xfrm>
        </p:spPr>
        <p:txBody>
          <a:bodyPr>
            <a:normAutofit fontScale="72500" lnSpcReduction="20000"/>
          </a:bodyPr>
          <a:lstStyle/>
          <a:p>
            <a:r>
              <a:rPr lang="en-US" b="1"/>
              <a:t>Published sources:</a:t>
            </a:r>
            <a:r>
              <a:rPr lang="en-US"/>
              <a:t> The various sources of published data are: Clinical and other personal</a:t>
            </a:r>
          </a:p>
          <a:p>
            <a:pPr marL="0" indent="0">
              <a:buNone/>
            </a:pPr>
            <a:r>
              <a:rPr lang="en-US"/>
              <a:t>records, death certificates, published mortality statistics, census publications, etc. Examples include:</a:t>
            </a:r>
          </a:p>
          <a:p>
            <a:pPr marL="0" indent="0">
              <a:buNone/>
            </a:pPr>
            <a:r>
              <a:rPr lang="en-US"/>
              <a:t>1. Official publications of Central Statistical Authority</a:t>
            </a:r>
          </a:p>
          <a:p>
            <a:pPr marL="0" indent="0">
              <a:buNone/>
            </a:pPr>
            <a:r>
              <a:rPr lang="en-US"/>
              <a:t>2. Publication of Ministry of Health and Other Ministries</a:t>
            </a:r>
          </a:p>
          <a:p>
            <a:pPr marL="0" indent="0">
              <a:buNone/>
            </a:pPr>
            <a:r>
              <a:rPr lang="en-US"/>
              <a:t>3. News Papers and Journals.</a:t>
            </a:r>
          </a:p>
          <a:p>
            <a:pPr marL="0" indent="0">
              <a:buNone/>
            </a:pPr>
            <a:r>
              <a:rPr lang="en-US"/>
              <a:t>4. International Publications like Publications by WHO, World Bank,UNICEF</a:t>
            </a:r>
          </a:p>
          <a:p>
            <a:pPr marL="0" indent="0">
              <a:buNone/>
            </a:pPr>
            <a:r>
              <a:rPr lang="en-US"/>
              <a:t>5. Records of hospitals or any Health Institutions.</a:t>
            </a:r>
          </a:p>
          <a:p>
            <a:r>
              <a:rPr lang="en-US" b="1">
                <a:sym typeface="+mn-ea"/>
              </a:rPr>
              <a:t>Unpublished sources.</a:t>
            </a:r>
            <a:r>
              <a:rPr lang="en-US" b="1"/>
              <a:t> </a:t>
            </a:r>
          </a:p>
          <a:p>
            <a:pPr marL="0" indent="0">
              <a:buNone/>
            </a:pPr>
            <a:r>
              <a:rPr lang="en-US"/>
              <a:t>  All statistical material is not always published. There are  various sources of unpublished data such as records maintained by various Government and private offices, studies made by research institutions, scholars, etc. Such sources can also be used where necessary</a:t>
            </a:r>
          </a:p>
          <a:p>
            <a:r>
              <a:rPr lang="en-US" b="1"/>
              <a:t>Online Databases</a:t>
            </a:r>
          </a:p>
          <a:p>
            <a:r>
              <a:rPr lang="en-US" b="1"/>
              <a:t>Government and Institutional Records</a:t>
            </a:r>
          </a:p>
          <a:p>
            <a:r>
              <a:rPr lang="en-US" b="1"/>
              <a:t>Past Research Studies</a:t>
            </a:r>
          </a:p>
          <a:p>
            <a:r>
              <a:rPr lang="en-US" b="1"/>
              <a:t>Publicly Available Data</a:t>
            </a:r>
          </a:p>
          <a:p>
            <a:pPr marL="0" indent="457200">
              <a:buNone/>
            </a:pPr>
            <a:endParaRPr lang="en-US" b="1"/>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Collection Tools </a:t>
            </a:r>
          </a:p>
        </p:txBody>
      </p:sp>
      <p:graphicFrame>
        <p:nvGraphicFramePr>
          <p:cNvPr id="6" name="Content Placeholder 5"/>
          <p:cNvGraphicFramePr>
            <a:graphicFrameLocks/>
          </p:cNvGraphicFramePr>
          <p:nvPr>
            <p:ph sz="half" idx="2"/>
          </p:nvPr>
        </p:nvGraphicFramePr>
        <p:xfrm>
          <a:off x="6385210" y="1825625"/>
          <a:ext cx="4755579" cy="4351338"/>
        </p:xfrm>
        <a:graphic>
          <a:graphicData uri="http://schemas.openxmlformats.org/presentationml/2006/ole">
            <p:oleObj spid="_x0000_s46082" r:id="rId3" imgW="5380952" imgH="4923810" progId="PBrush">
              <p:embed/>
            </p:oleObj>
          </a:graphicData>
        </a:graphic>
      </p:graphicFrame>
      <p:graphicFrame>
        <p:nvGraphicFramePr>
          <p:cNvPr id="9" name="Content Placeholder 8"/>
          <p:cNvGraphicFramePr>
            <a:graphicFrameLocks/>
          </p:cNvGraphicFramePr>
          <p:nvPr>
            <p:ph sz="half" idx="1"/>
          </p:nvPr>
        </p:nvGraphicFramePr>
        <p:xfrm>
          <a:off x="838200" y="1887220"/>
          <a:ext cx="5181600" cy="4227195"/>
        </p:xfrm>
        <a:graphic>
          <a:graphicData uri="http://schemas.openxmlformats.org/presentationml/2006/ole">
            <p:oleObj spid="_x0000_s46081" r:id="rId4" imgW="5380952" imgH="4390476" progId="PBrush">
              <p:embed/>
            </p:oleObj>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Top Data Collection Methods and Tools for Academic, Opinion, or Product Research:1</a:t>
            </a:r>
          </a:p>
        </p:txBody>
      </p:sp>
      <p:sp>
        <p:nvSpPr>
          <p:cNvPr id="3" name="Content Placeholder 2"/>
          <p:cNvSpPr>
            <a:spLocks noGrp="1"/>
          </p:cNvSpPr>
          <p:nvPr>
            <p:ph sz="half" idx="1"/>
          </p:nvPr>
        </p:nvSpPr>
        <p:spPr>
          <a:xfrm>
            <a:off x="838200" y="1825625"/>
            <a:ext cx="5334000" cy="4351655"/>
          </a:xfrm>
        </p:spPr>
        <p:txBody>
          <a:bodyPr>
            <a:normAutofit lnSpcReduction="10000"/>
          </a:bodyPr>
          <a:lstStyle/>
          <a:p>
            <a:pPr algn="l">
              <a:buClrTx/>
              <a:buSzTx/>
              <a:buNone/>
            </a:pPr>
            <a:r>
              <a:rPr lang="en-US" dirty="0" smtClean="0"/>
              <a:t>INTERVIEW:</a:t>
            </a:r>
            <a:endParaRPr lang="en-US" dirty="0"/>
          </a:p>
          <a:p>
            <a:pPr marL="0" indent="0" algn="just"/>
            <a:r>
              <a:rPr lang="en-US" dirty="0"/>
              <a:t>An interview is a face-to-face conversation between two individuals with the sole purpose of collecting relevant information to satisfy a research purpose</a:t>
            </a:r>
            <a:r>
              <a:rPr lang="en-US" dirty="0" smtClean="0"/>
              <a:t>.</a:t>
            </a:r>
          </a:p>
          <a:p>
            <a:pPr marL="0" indent="0" algn="just"/>
            <a:r>
              <a:rPr lang="en-US" dirty="0" smtClean="0"/>
              <a:t> </a:t>
            </a:r>
            <a:r>
              <a:rPr lang="en-US" dirty="0"/>
              <a:t>Interviews are of different types namely; Structured, Semi-structured, and unstructured with each having a slight variation from the other.</a:t>
            </a:r>
          </a:p>
        </p:txBody>
      </p:sp>
      <p:sp>
        <p:nvSpPr>
          <p:cNvPr id="4" name="Content Placeholder 3"/>
          <p:cNvSpPr>
            <a:spLocks noGrp="1"/>
          </p:cNvSpPr>
          <p:nvPr>
            <p:ph sz="half" idx="2"/>
          </p:nvPr>
        </p:nvSpPr>
        <p:spPr>
          <a:xfrm>
            <a:off x="6525490" y="1825625"/>
            <a:ext cx="4828309" cy="4351338"/>
          </a:xfrm>
        </p:spPr>
        <p:txBody>
          <a:bodyPr>
            <a:normAutofit lnSpcReduction="10000"/>
          </a:bodyPr>
          <a:lstStyle/>
          <a:p>
            <a:pPr>
              <a:buNone/>
            </a:pPr>
            <a:r>
              <a:rPr lang="en-US" b="1" dirty="0"/>
              <a:t>Pros</a:t>
            </a:r>
            <a:r>
              <a:rPr lang="en-US" dirty="0"/>
              <a:t> </a:t>
            </a:r>
          </a:p>
          <a:p>
            <a:r>
              <a:rPr lang="en-US" dirty="0"/>
              <a:t>In-depth information</a:t>
            </a:r>
          </a:p>
          <a:p>
            <a:r>
              <a:rPr lang="en-US" dirty="0"/>
              <a:t>Freedom of flexibility</a:t>
            </a:r>
          </a:p>
          <a:p>
            <a:r>
              <a:rPr lang="en-US" dirty="0"/>
              <a:t>Accurate data.</a:t>
            </a:r>
          </a:p>
          <a:p>
            <a:endParaRPr lang="en-US" b="1" dirty="0"/>
          </a:p>
          <a:p>
            <a:pPr>
              <a:buNone/>
            </a:pPr>
            <a:r>
              <a:rPr lang="en-US" b="1" dirty="0"/>
              <a:t>Cons </a:t>
            </a:r>
          </a:p>
          <a:p>
            <a:r>
              <a:rPr lang="en-US" dirty="0"/>
              <a:t>Time-consuming</a:t>
            </a:r>
          </a:p>
          <a:p>
            <a:r>
              <a:rPr lang="en-US" dirty="0"/>
              <a:t>Expensive to collect.</a:t>
            </a:r>
          </a:p>
        </p:txBody>
      </p:sp>
      <p:sp>
        <p:nvSpPr>
          <p:cNvPr id="5" name="Text Box 4"/>
          <p:cNvSpPr txBox="1"/>
          <p:nvPr/>
        </p:nvSpPr>
        <p:spPr>
          <a:xfrm>
            <a:off x="1359535" y="6073140"/>
            <a:ext cx="6096000" cy="368300"/>
          </a:xfrm>
          <a:prstGeom prst="rect">
            <a:avLst/>
          </a:prstGeom>
          <a:noFill/>
        </p:spPr>
        <p:txBody>
          <a:bodyPr wrap="square" rtlCol="0" anchor="t">
            <a:spAutoFit/>
          </a:bodyPr>
          <a:lstStyle/>
          <a:p>
            <a:r>
              <a:rPr lang="en-US"/>
              <a:t>Tools : Audio Recorder, Digital Camera,Camcorder</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fontScale="52500" lnSpcReduction="20000"/>
          </a:bodyPr>
          <a:lstStyle/>
          <a:p>
            <a:pPr>
              <a:buNone/>
            </a:pPr>
            <a:r>
              <a:rPr lang="en-US" b="1" dirty="0" smtClean="0"/>
              <a:t>QUESTIONNAIRES:</a:t>
            </a:r>
            <a:endParaRPr lang="en-US" b="1" dirty="0"/>
          </a:p>
          <a:p>
            <a:pPr algn="just">
              <a:lnSpc>
                <a:spcPct val="170000"/>
              </a:lnSpc>
            </a:pPr>
            <a:r>
              <a:rPr lang="en-US" dirty="0"/>
              <a:t>This is the process of collecting data through an instrument consisting of a series of questions and prompts to receive a response from the </a:t>
            </a:r>
            <a:r>
              <a:rPr lang="en-US" dirty="0" smtClean="0"/>
              <a:t>individuals. </a:t>
            </a:r>
            <a:r>
              <a:rPr lang="en-US" dirty="0"/>
              <a:t>it is administered to. Questionnaires are designed to collect data from a group. </a:t>
            </a:r>
          </a:p>
          <a:p>
            <a:pPr algn="just">
              <a:lnSpc>
                <a:spcPct val="170000"/>
              </a:lnSpc>
            </a:pPr>
            <a:r>
              <a:rPr lang="en-US" dirty="0"/>
              <a:t>A survey is a process of data gathering involving a variety of data collection methods, including a questionnaire.</a:t>
            </a:r>
          </a:p>
          <a:p>
            <a:pPr algn="just">
              <a:lnSpc>
                <a:spcPct val="170000"/>
              </a:lnSpc>
            </a:pPr>
            <a:r>
              <a:rPr lang="en-US" dirty="0"/>
              <a:t>On a questionnaire, there are three kinds of questions used. They are; fixed-alternative, scale, and open-ended. With each of the questions tailored to the nature and scope of the research.</a:t>
            </a:r>
          </a:p>
        </p:txBody>
      </p:sp>
      <p:sp>
        <p:nvSpPr>
          <p:cNvPr id="4" name="Content Placeholder 3"/>
          <p:cNvSpPr>
            <a:spLocks noGrp="1"/>
          </p:cNvSpPr>
          <p:nvPr>
            <p:ph sz="half" idx="2"/>
          </p:nvPr>
        </p:nvSpPr>
        <p:spPr/>
        <p:txBody>
          <a:bodyPr>
            <a:normAutofit fontScale="52500" lnSpcReduction="20000"/>
          </a:bodyPr>
          <a:lstStyle/>
          <a:p>
            <a:pPr>
              <a:buNone/>
            </a:pPr>
            <a:r>
              <a:rPr lang="en-US" b="1" dirty="0"/>
              <a:t>Pros</a:t>
            </a:r>
            <a:r>
              <a:rPr lang="en-US" dirty="0"/>
              <a:t> </a:t>
            </a:r>
          </a:p>
          <a:p>
            <a:r>
              <a:rPr lang="en-US" dirty="0"/>
              <a:t>Can be administered in large numbers and is cost-effective.</a:t>
            </a:r>
          </a:p>
          <a:p>
            <a:r>
              <a:rPr lang="en-US" dirty="0"/>
              <a:t>It can be used to compare and contrast previous research to measure change.</a:t>
            </a:r>
          </a:p>
          <a:p>
            <a:r>
              <a:rPr lang="en-US" dirty="0"/>
              <a:t>Easy to visualize and analyze.</a:t>
            </a:r>
          </a:p>
          <a:p>
            <a:r>
              <a:rPr lang="en-US" dirty="0"/>
              <a:t>Questionnaires offer actionable data.</a:t>
            </a:r>
          </a:p>
          <a:p>
            <a:r>
              <a:rPr lang="en-US" dirty="0"/>
              <a:t>Respondent identity is protected.</a:t>
            </a:r>
          </a:p>
          <a:p>
            <a:r>
              <a:rPr lang="en-US" dirty="0"/>
              <a:t>Questionnaires can cover all areas of a topic.</a:t>
            </a:r>
          </a:p>
          <a:p>
            <a:r>
              <a:rPr lang="en-US" dirty="0"/>
              <a:t>Relatively inexpensive.</a:t>
            </a:r>
          </a:p>
          <a:p>
            <a:pPr>
              <a:buNone/>
            </a:pPr>
            <a:r>
              <a:rPr lang="en-US" b="1" dirty="0"/>
              <a:t>Cons</a:t>
            </a:r>
          </a:p>
          <a:p>
            <a:r>
              <a:rPr lang="en-US" dirty="0"/>
              <a:t>Answers may be dishonest or the respondents lose interest midway.</a:t>
            </a:r>
          </a:p>
          <a:p>
            <a:r>
              <a:rPr lang="en-US" dirty="0"/>
              <a:t>Questionnaires can’t produce qualitative data.</a:t>
            </a:r>
          </a:p>
          <a:p>
            <a:r>
              <a:rPr lang="en-US" dirty="0"/>
              <a:t>Questions might be left unanswered.</a:t>
            </a:r>
          </a:p>
          <a:p>
            <a:r>
              <a:rPr lang="en-US" dirty="0"/>
              <a:t>Respondents may have a hidden agenda.</a:t>
            </a:r>
          </a:p>
          <a:p>
            <a:r>
              <a:rPr lang="en-US" dirty="0"/>
              <a:t>Not all questions can be analyzed easily.</a:t>
            </a:r>
            <a:r>
              <a:rPr lang="en-US" dirty="0">
                <a:sym typeface="+mn-ea"/>
              </a:rPr>
              <a:t> </a:t>
            </a:r>
            <a:endParaRPr lang="en-US" dirty="0"/>
          </a:p>
          <a:p>
            <a:endParaRPr lang="en-US" dirty="0"/>
          </a:p>
        </p:txBody>
      </p:sp>
      <p:sp>
        <p:nvSpPr>
          <p:cNvPr id="5" name="Title 1"/>
          <p:cNvSpPr>
            <a:spLocks noGrp="1"/>
          </p:cNvSpPr>
          <p:nvPr/>
        </p:nvSpPr>
        <p:spPr>
          <a:xfrm>
            <a:off x="965200" y="492125"/>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Top Data Collection Methods and Tools for Academic, Opinion, or Product Research :2</a:t>
            </a:r>
          </a:p>
        </p:txBody>
      </p:sp>
      <p:sp>
        <p:nvSpPr>
          <p:cNvPr id="6" name="Text Box 5"/>
          <p:cNvSpPr txBox="1"/>
          <p:nvPr/>
        </p:nvSpPr>
        <p:spPr>
          <a:xfrm>
            <a:off x="1705610" y="6177280"/>
            <a:ext cx="6096000" cy="368300"/>
          </a:xfrm>
          <a:prstGeom prst="rect">
            <a:avLst/>
          </a:prstGeom>
          <a:noFill/>
        </p:spPr>
        <p:txBody>
          <a:bodyPr wrap="square" rtlCol="0" anchor="t">
            <a:spAutoFit/>
          </a:bodyPr>
          <a:lstStyle/>
          <a:p>
            <a:r>
              <a:rPr lang="en-US"/>
              <a:t>Tools: Formplus Online Questionnaire, Paper Questionnaire</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Top Data Collection Methods and Tools for Academic, Opinion, or Product Research :3</a:t>
            </a:r>
            <a:endParaRPr lang="en-US"/>
          </a:p>
        </p:txBody>
      </p:sp>
      <p:sp>
        <p:nvSpPr>
          <p:cNvPr id="3" name="Content Placeholder 2"/>
          <p:cNvSpPr>
            <a:spLocks noGrp="1"/>
          </p:cNvSpPr>
          <p:nvPr>
            <p:ph sz="half" idx="1"/>
          </p:nvPr>
        </p:nvSpPr>
        <p:spPr/>
        <p:txBody>
          <a:bodyPr>
            <a:normAutofit fontScale="82500" lnSpcReduction="20000"/>
          </a:bodyPr>
          <a:lstStyle/>
          <a:p>
            <a:pPr>
              <a:buNone/>
            </a:pPr>
            <a:r>
              <a:rPr lang="en-US" b="1" dirty="0" smtClean="0"/>
              <a:t>REPORTING:</a:t>
            </a:r>
            <a:endParaRPr lang="en-US" b="1" dirty="0"/>
          </a:p>
          <a:p>
            <a:pPr algn="just"/>
            <a:r>
              <a:rPr lang="en-US" dirty="0"/>
              <a:t>By definition, data reporting is the process of gathering and submitting data to be further subjected to analysis. </a:t>
            </a:r>
            <a:endParaRPr lang="en-US" dirty="0" smtClean="0"/>
          </a:p>
          <a:p>
            <a:pPr algn="just"/>
            <a:r>
              <a:rPr lang="en-US" dirty="0" smtClean="0"/>
              <a:t>The </a:t>
            </a:r>
            <a:r>
              <a:rPr lang="en-US" dirty="0"/>
              <a:t>key aspect of data reporting is reporting accurate data because inaccurate data reporting leads to uninformed decision-making.</a:t>
            </a:r>
          </a:p>
        </p:txBody>
      </p:sp>
      <p:sp>
        <p:nvSpPr>
          <p:cNvPr id="4" name="Content Placeholder 3"/>
          <p:cNvSpPr>
            <a:spLocks noGrp="1"/>
          </p:cNvSpPr>
          <p:nvPr>
            <p:ph sz="half" idx="2"/>
          </p:nvPr>
        </p:nvSpPr>
        <p:spPr/>
        <p:txBody>
          <a:bodyPr>
            <a:normAutofit fontScale="82500" lnSpcReduction="20000"/>
          </a:bodyPr>
          <a:lstStyle/>
          <a:p>
            <a:pPr>
              <a:buNone/>
            </a:pPr>
            <a:r>
              <a:rPr lang="en-US" b="1" dirty="0"/>
              <a:t>Pros </a:t>
            </a:r>
          </a:p>
          <a:p>
            <a:r>
              <a:rPr lang="en-US" dirty="0" smtClean="0"/>
              <a:t>Informed </a:t>
            </a:r>
            <a:r>
              <a:rPr lang="en-US" dirty="0"/>
              <a:t>decision-making.</a:t>
            </a:r>
          </a:p>
          <a:p>
            <a:r>
              <a:rPr lang="en-US" dirty="0"/>
              <a:t>Easily accessible.</a:t>
            </a:r>
          </a:p>
          <a:p>
            <a:endParaRPr lang="en-US" b="1" dirty="0"/>
          </a:p>
          <a:p>
            <a:pPr>
              <a:buNone/>
            </a:pPr>
            <a:r>
              <a:rPr lang="en-US" b="1" dirty="0"/>
              <a:t>Cons</a:t>
            </a:r>
          </a:p>
          <a:p>
            <a:r>
              <a:rPr lang="en-US" dirty="0" smtClean="0"/>
              <a:t>Self-reported </a:t>
            </a:r>
            <a:r>
              <a:rPr lang="en-US" dirty="0"/>
              <a:t>answers may be exaggerated.</a:t>
            </a:r>
          </a:p>
          <a:p>
            <a:r>
              <a:rPr lang="en-US" dirty="0"/>
              <a:t>The results may be affected by bias.</a:t>
            </a:r>
          </a:p>
          <a:p>
            <a:r>
              <a:rPr lang="en-US" dirty="0"/>
              <a:t>Respondents may be too shy to give out all the details.</a:t>
            </a:r>
          </a:p>
          <a:p>
            <a:r>
              <a:rPr lang="en-US" dirty="0"/>
              <a:t>Inaccurate reports will lead to uninformed decisions.</a:t>
            </a:r>
          </a:p>
        </p:txBody>
      </p:sp>
      <p:sp>
        <p:nvSpPr>
          <p:cNvPr id="5" name="Text Box 4"/>
          <p:cNvSpPr txBox="1"/>
          <p:nvPr/>
        </p:nvSpPr>
        <p:spPr>
          <a:xfrm>
            <a:off x="991870" y="6177280"/>
            <a:ext cx="8094345" cy="368300"/>
          </a:xfrm>
          <a:prstGeom prst="rect">
            <a:avLst/>
          </a:prstGeom>
          <a:noFill/>
        </p:spPr>
        <p:txBody>
          <a:bodyPr wrap="square" rtlCol="0" anchor="t">
            <a:spAutoFit/>
          </a:bodyPr>
          <a:lstStyle/>
          <a:p>
            <a:r>
              <a:rPr lang="en-US"/>
              <a:t>Tools: NGO Reports, Newspapers, Website Articles, Hospital Care records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Top Data Collection Methods and Tools for Academic, Opinion, or Product Research :4</a:t>
            </a:r>
            <a:endParaRPr lang="en-US"/>
          </a:p>
        </p:txBody>
      </p:sp>
      <p:sp>
        <p:nvSpPr>
          <p:cNvPr id="3" name="Content Placeholder 2"/>
          <p:cNvSpPr>
            <a:spLocks noGrp="1"/>
          </p:cNvSpPr>
          <p:nvPr>
            <p:ph sz="half" idx="1"/>
          </p:nvPr>
        </p:nvSpPr>
        <p:spPr/>
        <p:txBody>
          <a:bodyPr>
            <a:normAutofit/>
          </a:bodyPr>
          <a:lstStyle/>
          <a:p>
            <a:pPr>
              <a:buNone/>
            </a:pPr>
            <a:r>
              <a:rPr lang="en-US" b="1" dirty="0"/>
              <a:t>EXISTING </a:t>
            </a:r>
            <a:r>
              <a:rPr lang="en-US" b="1" dirty="0" smtClean="0"/>
              <a:t>DATA:</a:t>
            </a:r>
            <a:endParaRPr lang="en-US" b="1" dirty="0"/>
          </a:p>
          <a:p>
            <a:pPr algn="just"/>
            <a:r>
              <a:rPr lang="en-US" dirty="0"/>
              <a:t>This is the introduction of new investigative questions in addition to/other than the ones originally used when the data was initially gathered</a:t>
            </a:r>
            <a:r>
              <a:rPr lang="en-US" dirty="0" smtClean="0"/>
              <a:t>.</a:t>
            </a:r>
          </a:p>
          <a:p>
            <a:pPr algn="just"/>
            <a:r>
              <a:rPr lang="en-US" dirty="0" smtClean="0"/>
              <a:t>It </a:t>
            </a:r>
            <a:r>
              <a:rPr lang="en-US" dirty="0"/>
              <a:t>involves adding measurement to a study or research. An example would be sourcing data from an archive.</a:t>
            </a:r>
          </a:p>
        </p:txBody>
      </p:sp>
      <p:sp>
        <p:nvSpPr>
          <p:cNvPr id="4" name="Content Placeholder 3"/>
          <p:cNvSpPr>
            <a:spLocks noGrp="1"/>
          </p:cNvSpPr>
          <p:nvPr>
            <p:ph sz="half" idx="2"/>
          </p:nvPr>
        </p:nvSpPr>
        <p:spPr/>
        <p:txBody>
          <a:bodyPr>
            <a:normAutofit/>
          </a:bodyPr>
          <a:lstStyle/>
          <a:p>
            <a:pPr>
              <a:buNone/>
            </a:pPr>
            <a:r>
              <a:rPr lang="en-US" b="1" dirty="0" smtClean="0"/>
              <a:t>Pros</a:t>
            </a:r>
            <a:endParaRPr lang="en-US" b="1" dirty="0"/>
          </a:p>
          <a:p>
            <a:r>
              <a:rPr lang="en-US" dirty="0" smtClean="0"/>
              <a:t>Accuracy </a:t>
            </a:r>
            <a:r>
              <a:rPr lang="en-US" dirty="0"/>
              <a:t>is very high.</a:t>
            </a:r>
          </a:p>
          <a:p>
            <a:r>
              <a:rPr lang="en-US" dirty="0"/>
              <a:t>Easily accessible information.</a:t>
            </a:r>
          </a:p>
          <a:p>
            <a:endParaRPr lang="en-US" dirty="0"/>
          </a:p>
          <a:p>
            <a:pPr>
              <a:buNone/>
            </a:pPr>
            <a:r>
              <a:rPr lang="en-US" b="1" dirty="0"/>
              <a:t>Cons</a:t>
            </a:r>
          </a:p>
          <a:p>
            <a:r>
              <a:rPr lang="en-US" dirty="0" smtClean="0"/>
              <a:t>Problems </a:t>
            </a:r>
            <a:r>
              <a:rPr lang="en-US" dirty="0"/>
              <a:t>with evaluation.</a:t>
            </a:r>
          </a:p>
          <a:p>
            <a:r>
              <a:rPr lang="en-US" dirty="0"/>
              <a:t>Difficulty in understanding.</a:t>
            </a:r>
          </a:p>
        </p:txBody>
      </p:sp>
      <p:sp>
        <p:nvSpPr>
          <p:cNvPr id="6" name="Text Box 5"/>
          <p:cNvSpPr txBox="1"/>
          <p:nvPr/>
        </p:nvSpPr>
        <p:spPr>
          <a:xfrm>
            <a:off x="2438400" y="6177280"/>
            <a:ext cx="6096000" cy="368300"/>
          </a:xfrm>
          <a:prstGeom prst="rect">
            <a:avLst/>
          </a:prstGeom>
          <a:noFill/>
        </p:spPr>
        <p:txBody>
          <a:bodyPr wrap="square" rtlCol="0" anchor="t">
            <a:spAutoFit/>
          </a:bodyPr>
          <a:lstStyle/>
          <a:p>
            <a:r>
              <a:rPr lang="en-US"/>
              <a:t>Tools: Research Journals, Surveys</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Top Data Collection Methods and Tools for Academic, Opinion, or Product Research :5</a:t>
            </a:r>
            <a:endParaRPr lang="en-US"/>
          </a:p>
        </p:txBody>
      </p:sp>
      <p:sp>
        <p:nvSpPr>
          <p:cNvPr id="3" name="Content Placeholder 2"/>
          <p:cNvSpPr>
            <a:spLocks noGrp="1"/>
          </p:cNvSpPr>
          <p:nvPr>
            <p:ph sz="half" idx="1"/>
          </p:nvPr>
        </p:nvSpPr>
        <p:spPr/>
        <p:txBody>
          <a:bodyPr>
            <a:normAutofit fontScale="70000" lnSpcReduction="20000"/>
          </a:bodyPr>
          <a:lstStyle/>
          <a:p>
            <a:pPr>
              <a:buNone/>
            </a:pPr>
            <a:r>
              <a:rPr lang="en-US" b="1" dirty="0" smtClean="0"/>
              <a:t>OBSERVATION:</a:t>
            </a:r>
            <a:endParaRPr lang="en-US" b="1" dirty="0"/>
          </a:p>
          <a:p>
            <a:pPr algn="just">
              <a:lnSpc>
                <a:spcPct val="120000"/>
              </a:lnSpc>
            </a:pPr>
            <a:r>
              <a:rPr lang="en-US" dirty="0"/>
              <a:t>This is a data collection method by which information on a phenomenon is gathered through observation</a:t>
            </a:r>
            <a:r>
              <a:rPr lang="en-US" dirty="0" smtClean="0"/>
              <a:t>.</a:t>
            </a:r>
          </a:p>
          <a:p>
            <a:pPr algn="just">
              <a:lnSpc>
                <a:spcPct val="120000"/>
              </a:lnSpc>
            </a:pPr>
            <a:r>
              <a:rPr lang="en-US" dirty="0" smtClean="0"/>
              <a:t>The </a:t>
            </a:r>
            <a:r>
              <a:rPr lang="en-US" dirty="0"/>
              <a:t>nature of the observation could be accomplished either as a complete observer, an observer as a participant, a participant as an observer, or as a complete participant</a:t>
            </a:r>
            <a:r>
              <a:rPr lang="en-US" dirty="0" smtClean="0"/>
              <a:t>.</a:t>
            </a:r>
          </a:p>
          <a:p>
            <a:pPr algn="just">
              <a:lnSpc>
                <a:spcPct val="120000"/>
              </a:lnSpc>
            </a:pPr>
            <a:r>
              <a:rPr lang="en-US" dirty="0" smtClean="0"/>
              <a:t>This </a:t>
            </a:r>
            <a:r>
              <a:rPr lang="en-US" dirty="0"/>
              <a:t>method is a key base for formulating a hypothesis.</a:t>
            </a:r>
          </a:p>
        </p:txBody>
      </p:sp>
      <p:sp>
        <p:nvSpPr>
          <p:cNvPr id="4" name="Content Placeholder 3"/>
          <p:cNvSpPr>
            <a:spLocks noGrp="1"/>
          </p:cNvSpPr>
          <p:nvPr>
            <p:ph sz="half" idx="2"/>
          </p:nvPr>
        </p:nvSpPr>
        <p:spPr>
          <a:xfrm>
            <a:off x="6172200" y="1825625"/>
            <a:ext cx="5181600" cy="4611370"/>
          </a:xfrm>
        </p:spPr>
        <p:txBody>
          <a:bodyPr>
            <a:normAutofit fontScale="70000" lnSpcReduction="20000"/>
          </a:bodyPr>
          <a:lstStyle/>
          <a:p>
            <a:pPr>
              <a:buNone/>
            </a:pPr>
            <a:r>
              <a:rPr lang="en-US" b="1" dirty="0"/>
              <a:t>Pros</a:t>
            </a:r>
          </a:p>
          <a:p>
            <a:r>
              <a:rPr lang="en-US" dirty="0"/>
              <a:t>Easy to administer.</a:t>
            </a:r>
          </a:p>
          <a:p>
            <a:r>
              <a:rPr lang="en-US" dirty="0"/>
              <a:t>There subsists a greater accuracy with results.</a:t>
            </a:r>
          </a:p>
          <a:p>
            <a:r>
              <a:rPr lang="en-US" dirty="0"/>
              <a:t>It is a universally accepted practice.</a:t>
            </a:r>
          </a:p>
          <a:p>
            <a:r>
              <a:rPr lang="en-US" dirty="0"/>
              <a:t>It diffuses the situation of the unwillingness of respondents to administer a report.</a:t>
            </a:r>
          </a:p>
          <a:p>
            <a:r>
              <a:rPr lang="en-US" dirty="0"/>
              <a:t>It is appropriate for certain situations.</a:t>
            </a:r>
          </a:p>
          <a:p>
            <a:pPr>
              <a:buNone/>
            </a:pPr>
            <a:r>
              <a:rPr lang="en-US" b="1" dirty="0" smtClean="0"/>
              <a:t>Cons</a:t>
            </a:r>
            <a:endParaRPr lang="en-US" b="1" dirty="0"/>
          </a:p>
          <a:p>
            <a:r>
              <a:rPr lang="en-US" dirty="0"/>
              <a:t>Some phenomena aren’t open to observation.</a:t>
            </a:r>
          </a:p>
          <a:p>
            <a:r>
              <a:rPr lang="en-US" dirty="0"/>
              <a:t>It cannot be relied upon.</a:t>
            </a:r>
          </a:p>
          <a:p>
            <a:r>
              <a:rPr lang="en-US" dirty="0"/>
              <a:t>Bias may arise.</a:t>
            </a:r>
          </a:p>
          <a:p>
            <a:r>
              <a:rPr lang="en-US" dirty="0"/>
              <a:t>It is expensive to administer.</a:t>
            </a:r>
          </a:p>
          <a:p>
            <a:r>
              <a:rPr lang="en-US" dirty="0"/>
              <a:t>Its validity cannot be predicted accurately.</a:t>
            </a:r>
          </a:p>
        </p:txBody>
      </p:sp>
      <p:sp>
        <p:nvSpPr>
          <p:cNvPr id="5" name="Text Box 4"/>
          <p:cNvSpPr txBox="1"/>
          <p:nvPr/>
        </p:nvSpPr>
        <p:spPr>
          <a:xfrm>
            <a:off x="2495550" y="6311900"/>
            <a:ext cx="6096000" cy="368300"/>
          </a:xfrm>
          <a:prstGeom prst="rect">
            <a:avLst/>
          </a:prstGeom>
          <a:noFill/>
        </p:spPr>
        <p:txBody>
          <a:bodyPr wrap="square" rtlCol="0" anchor="t">
            <a:spAutoFit/>
          </a:bodyPr>
          <a:lstStyle/>
          <a:p>
            <a:r>
              <a:rPr lang="en-US"/>
              <a:t>Tools: Checklists,  Direct observation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Top Data Collection Methods and Tools for Academic, Opinion, or Product Research :6</a:t>
            </a:r>
            <a:endParaRPr lang="en-US"/>
          </a:p>
        </p:txBody>
      </p:sp>
      <p:sp>
        <p:nvSpPr>
          <p:cNvPr id="3" name="Content Placeholder 2"/>
          <p:cNvSpPr>
            <a:spLocks noGrp="1"/>
          </p:cNvSpPr>
          <p:nvPr>
            <p:ph sz="half" idx="1"/>
          </p:nvPr>
        </p:nvSpPr>
        <p:spPr/>
        <p:txBody>
          <a:bodyPr>
            <a:normAutofit fontScale="57500" lnSpcReduction="20000"/>
          </a:bodyPr>
          <a:lstStyle/>
          <a:p>
            <a:pPr>
              <a:buNone/>
            </a:pPr>
            <a:r>
              <a:rPr lang="en-US" b="1" dirty="0"/>
              <a:t>F</a:t>
            </a:r>
            <a:r>
              <a:rPr lang="en-US" sz="3500" b="1" dirty="0"/>
              <a:t>OCUS </a:t>
            </a:r>
            <a:r>
              <a:rPr lang="en-US" sz="3500" b="1" dirty="0" smtClean="0"/>
              <a:t>GROUPS:</a:t>
            </a:r>
            <a:endParaRPr lang="en-US" sz="3500" b="1" dirty="0"/>
          </a:p>
          <a:p>
            <a:pPr algn="just">
              <a:lnSpc>
                <a:spcPct val="120000"/>
              </a:lnSpc>
            </a:pPr>
            <a:r>
              <a:rPr lang="en-US" sz="3500" dirty="0"/>
              <a:t>The opposite of quantitative research which involves numerical-based data, this data collection method focuses more on qualitative research</a:t>
            </a:r>
            <a:r>
              <a:rPr lang="en-US" sz="3500" dirty="0" smtClean="0"/>
              <a:t>.</a:t>
            </a:r>
          </a:p>
          <a:p>
            <a:pPr algn="just">
              <a:lnSpc>
                <a:spcPct val="120000"/>
              </a:lnSpc>
            </a:pPr>
            <a:r>
              <a:rPr lang="en-US" sz="3500" dirty="0" smtClean="0"/>
              <a:t>It </a:t>
            </a:r>
            <a:r>
              <a:rPr lang="en-US" sz="3500" dirty="0"/>
              <a:t>falls under the primary category of data based on the feelings and opinions of the respondents. </a:t>
            </a:r>
            <a:endParaRPr lang="en-US" sz="3500" dirty="0" smtClean="0"/>
          </a:p>
          <a:p>
            <a:pPr algn="just">
              <a:lnSpc>
                <a:spcPct val="120000"/>
              </a:lnSpc>
            </a:pPr>
            <a:r>
              <a:rPr lang="en-US" sz="3500" dirty="0" smtClean="0"/>
              <a:t>This </a:t>
            </a:r>
            <a:r>
              <a:rPr lang="en-US" sz="3500" dirty="0"/>
              <a:t>research involves asking open-ended questions to a group of individuals usually ranging from 6-10 people, to provide feedback</a:t>
            </a:r>
            <a:r>
              <a:rPr lang="en-US" dirty="0"/>
              <a:t>.</a:t>
            </a:r>
          </a:p>
        </p:txBody>
      </p:sp>
      <p:sp>
        <p:nvSpPr>
          <p:cNvPr id="4" name="Content Placeholder 3"/>
          <p:cNvSpPr>
            <a:spLocks noGrp="1"/>
          </p:cNvSpPr>
          <p:nvPr>
            <p:ph sz="half" idx="2"/>
          </p:nvPr>
        </p:nvSpPr>
        <p:spPr/>
        <p:txBody>
          <a:bodyPr>
            <a:normAutofit fontScale="57500" lnSpcReduction="20000"/>
          </a:bodyPr>
          <a:lstStyle/>
          <a:p>
            <a:pPr>
              <a:buNone/>
            </a:pPr>
            <a:r>
              <a:rPr lang="en-US" b="1" dirty="0"/>
              <a:t>Pros</a:t>
            </a:r>
          </a:p>
          <a:p>
            <a:r>
              <a:rPr lang="en-US" dirty="0"/>
              <a:t>Information obtained is usually very detailed.</a:t>
            </a:r>
          </a:p>
          <a:p>
            <a:r>
              <a:rPr lang="en-US" dirty="0"/>
              <a:t>Cost-effective when compared to one-on-one interviews.</a:t>
            </a:r>
          </a:p>
          <a:p>
            <a:r>
              <a:rPr lang="en-US" dirty="0"/>
              <a:t>It reflects speed and efficiency in the supply of results.</a:t>
            </a:r>
          </a:p>
          <a:p>
            <a:endParaRPr lang="en-US" b="1" dirty="0"/>
          </a:p>
          <a:p>
            <a:pPr>
              <a:buNone/>
            </a:pPr>
            <a:r>
              <a:rPr lang="en-US" b="1" dirty="0"/>
              <a:t>Cons</a:t>
            </a:r>
          </a:p>
          <a:p>
            <a:r>
              <a:rPr lang="en-US" dirty="0"/>
              <a:t>Lacking depth in covering the nitty-gritty of a subject matter.</a:t>
            </a:r>
          </a:p>
          <a:p>
            <a:r>
              <a:rPr lang="en-US" dirty="0"/>
              <a:t>Bias might still be evident.</a:t>
            </a:r>
          </a:p>
          <a:p>
            <a:r>
              <a:rPr lang="en-US" dirty="0"/>
              <a:t>Requires interviewer training</a:t>
            </a:r>
          </a:p>
          <a:p>
            <a:r>
              <a:rPr lang="en-US" dirty="0"/>
              <a:t>The researcher has very little control over the outcome.</a:t>
            </a:r>
          </a:p>
          <a:p>
            <a:r>
              <a:rPr lang="en-US" dirty="0"/>
              <a:t>A few vocal voices can drown out the rest.</a:t>
            </a:r>
          </a:p>
          <a:p>
            <a:r>
              <a:rPr lang="en-US" dirty="0"/>
              <a:t>Difficulty in assembling an all-inclusive group.</a:t>
            </a:r>
          </a:p>
        </p:txBody>
      </p:sp>
      <p:sp>
        <p:nvSpPr>
          <p:cNvPr id="5" name="Text Box 4"/>
          <p:cNvSpPr txBox="1"/>
          <p:nvPr/>
        </p:nvSpPr>
        <p:spPr>
          <a:xfrm>
            <a:off x="2400300" y="6216650"/>
            <a:ext cx="6096000" cy="368300"/>
          </a:xfrm>
          <a:prstGeom prst="rect">
            <a:avLst/>
          </a:prstGeom>
          <a:noFill/>
        </p:spPr>
        <p:txBody>
          <a:bodyPr wrap="square" rtlCol="0" anchor="t">
            <a:spAutoFit/>
          </a:bodyPr>
          <a:lstStyle/>
          <a:p>
            <a:r>
              <a:rPr lang="en-US"/>
              <a:t>Tools: Two-Way, Dueling-Moderator</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sym typeface="+mn-ea"/>
              </a:rPr>
              <a:t>Top Data Collection Methods and Tools for Academic, Opinion, or Product Research :7</a:t>
            </a:r>
            <a:endParaRPr lang="en-US"/>
          </a:p>
        </p:txBody>
      </p:sp>
      <p:sp>
        <p:nvSpPr>
          <p:cNvPr id="3" name="Content Placeholder 2"/>
          <p:cNvSpPr>
            <a:spLocks noGrp="1"/>
          </p:cNvSpPr>
          <p:nvPr>
            <p:ph sz="half" idx="1"/>
          </p:nvPr>
        </p:nvSpPr>
        <p:spPr/>
        <p:txBody>
          <a:bodyPr>
            <a:normAutofit fontScale="92500" lnSpcReduction="10000"/>
          </a:bodyPr>
          <a:lstStyle/>
          <a:p>
            <a:pPr>
              <a:buNone/>
            </a:pPr>
            <a:r>
              <a:rPr lang="en-US" dirty="0"/>
              <a:t>COMBINATION </a:t>
            </a:r>
            <a:r>
              <a:rPr lang="en-US" dirty="0" smtClean="0"/>
              <a:t>RESEARCH:</a:t>
            </a:r>
            <a:endParaRPr lang="en-US" dirty="0"/>
          </a:p>
          <a:p>
            <a:pPr algn="just">
              <a:lnSpc>
                <a:spcPct val="120000"/>
              </a:lnSpc>
            </a:pPr>
            <a:r>
              <a:rPr lang="en-US" sz="2400" dirty="0"/>
              <a:t>This method of data collection encompasses the use of innovative methods to enhance participation in both individuals and groups</a:t>
            </a:r>
            <a:r>
              <a:rPr lang="en-US" sz="2400" dirty="0" smtClean="0"/>
              <a:t>.</a:t>
            </a:r>
          </a:p>
          <a:p>
            <a:pPr algn="just">
              <a:lnSpc>
                <a:spcPct val="120000"/>
              </a:lnSpc>
            </a:pPr>
            <a:r>
              <a:rPr lang="en-US" sz="2400" dirty="0" smtClean="0"/>
              <a:t>Also </a:t>
            </a:r>
            <a:r>
              <a:rPr lang="en-US" sz="2400" dirty="0"/>
              <a:t>under the primary category, it is a combination of Interviews and Focus Groups while collecting qualitative data</a:t>
            </a:r>
            <a:r>
              <a:rPr lang="en-US" sz="2400" dirty="0" smtClean="0"/>
              <a:t>.</a:t>
            </a:r>
          </a:p>
          <a:p>
            <a:pPr algn="just">
              <a:lnSpc>
                <a:spcPct val="120000"/>
              </a:lnSpc>
            </a:pPr>
            <a:r>
              <a:rPr lang="en-US" sz="2400" dirty="0" smtClean="0"/>
              <a:t>This </a:t>
            </a:r>
            <a:r>
              <a:rPr lang="en-US" sz="2400" dirty="0"/>
              <a:t>method is key when addressing sensitive subjects. </a:t>
            </a:r>
          </a:p>
        </p:txBody>
      </p:sp>
      <p:sp>
        <p:nvSpPr>
          <p:cNvPr id="4" name="Content Placeholder 3"/>
          <p:cNvSpPr>
            <a:spLocks noGrp="1"/>
          </p:cNvSpPr>
          <p:nvPr>
            <p:ph sz="half" idx="2"/>
          </p:nvPr>
        </p:nvSpPr>
        <p:spPr/>
        <p:txBody>
          <a:bodyPr>
            <a:normAutofit fontScale="92500" lnSpcReduction="10000"/>
          </a:bodyPr>
          <a:lstStyle/>
          <a:p>
            <a:pPr>
              <a:buNone/>
            </a:pPr>
            <a:r>
              <a:rPr lang="en-US" b="1" dirty="0"/>
              <a:t>Pros</a:t>
            </a:r>
          </a:p>
          <a:p>
            <a:r>
              <a:rPr lang="en-US" sz="2400" dirty="0"/>
              <a:t>Encourage participants to give responses.</a:t>
            </a:r>
          </a:p>
          <a:p>
            <a:r>
              <a:rPr lang="en-US" sz="2400" dirty="0"/>
              <a:t>It stimulates a deeper connection between participants.</a:t>
            </a:r>
          </a:p>
          <a:p>
            <a:r>
              <a:rPr lang="en-US" sz="2400" dirty="0"/>
              <a:t>The relative anonymity of respondents increases participation.</a:t>
            </a:r>
          </a:p>
          <a:p>
            <a:r>
              <a:rPr lang="en-US" sz="2400" dirty="0"/>
              <a:t>It improves the richness of the data collected.</a:t>
            </a:r>
          </a:p>
          <a:p>
            <a:pPr>
              <a:buNone/>
            </a:pPr>
            <a:r>
              <a:rPr lang="en-US" b="1" dirty="0"/>
              <a:t>Cons</a:t>
            </a:r>
          </a:p>
          <a:p>
            <a:r>
              <a:rPr lang="en-US" sz="2400" dirty="0"/>
              <a:t>It costs the most out of all the top 7.</a:t>
            </a:r>
          </a:p>
          <a:p>
            <a:r>
              <a:rPr lang="en-US" sz="2400" dirty="0"/>
              <a:t>It’s the most time-consuming.</a:t>
            </a:r>
          </a:p>
        </p:txBody>
      </p:sp>
      <p:sp>
        <p:nvSpPr>
          <p:cNvPr id="5" name="Text Box 4"/>
          <p:cNvSpPr txBox="1"/>
          <p:nvPr/>
        </p:nvSpPr>
        <p:spPr>
          <a:xfrm>
            <a:off x="2495550" y="6177280"/>
            <a:ext cx="6096000" cy="368300"/>
          </a:xfrm>
          <a:prstGeom prst="rect">
            <a:avLst/>
          </a:prstGeom>
          <a:noFill/>
        </p:spPr>
        <p:txBody>
          <a:bodyPr wrap="square" rtlCol="0" anchor="t">
            <a:spAutoFit/>
          </a:bodyPr>
          <a:lstStyle/>
          <a:p>
            <a:r>
              <a:rPr lang="en-US"/>
              <a:t>Tools: Online Survey, Dual-Moderator</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TotalTime>
  <Words>3997</Words>
  <Application>WPS Presentation</Application>
  <PresentationFormat>Custom</PresentationFormat>
  <Paragraphs>289</Paragraphs>
  <Slides>44</Slides>
  <Notes>1</Notes>
  <HiddenSlides>0</HiddenSlides>
  <MMClips>0</MMClips>
  <ScaleCrop>false</ScaleCrop>
  <HeadingPairs>
    <vt:vector size="6" baseType="variant">
      <vt:variant>
        <vt:lpstr>Theme</vt:lpstr>
      </vt:variant>
      <vt:variant>
        <vt:i4>1</vt:i4>
      </vt:variant>
      <vt:variant>
        <vt:lpstr>Embedded OLE Servers</vt:lpstr>
      </vt:variant>
      <vt:variant>
        <vt:i4>0</vt:i4>
      </vt:variant>
      <vt:variant>
        <vt:lpstr>Slide Titles</vt:lpstr>
      </vt:variant>
      <vt:variant>
        <vt:i4>44</vt:i4>
      </vt:variant>
    </vt:vector>
  </HeadingPairs>
  <TitlesOfParts>
    <vt:vector size="45" baseType="lpstr">
      <vt:lpstr>Office Theme</vt:lpstr>
      <vt:lpstr>Unit2:Statistical design of experiments</vt:lpstr>
      <vt:lpstr>Guidelines for Designing an Experiment</vt:lpstr>
      <vt:lpstr>Design of experiment: </vt:lpstr>
      <vt:lpstr>Principles of experimental design: </vt:lpstr>
      <vt:lpstr>Randomization</vt:lpstr>
      <vt:lpstr>Randomization</vt:lpstr>
      <vt:lpstr>Randomization</vt:lpstr>
      <vt:lpstr>Randomization</vt:lpstr>
      <vt:lpstr>Replication</vt:lpstr>
      <vt:lpstr>Factors that determine the number of replications:</vt:lpstr>
      <vt:lpstr>Local Control</vt:lpstr>
      <vt:lpstr>Local control</vt:lpstr>
      <vt:lpstr>Example: Local Control in a Research Study </vt:lpstr>
      <vt:lpstr>Example</vt:lpstr>
      <vt:lpstr>Types: Experimental design </vt:lpstr>
      <vt:lpstr>   Data types and classification</vt:lpstr>
      <vt:lpstr>Types of Data in Statistics</vt:lpstr>
      <vt:lpstr>Qualitative or Categorical Data</vt:lpstr>
      <vt:lpstr>Nominal Data</vt:lpstr>
      <vt:lpstr>Ordinal Data</vt:lpstr>
      <vt:lpstr>Slide 21</vt:lpstr>
      <vt:lpstr>Nature of data</vt:lpstr>
      <vt:lpstr>Time series data</vt:lpstr>
      <vt:lpstr>Spatial Data</vt:lpstr>
      <vt:lpstr>Spacio Temporal Data</vt:lpstr>
      <vt:lpstr>Classification</vt:lpstr>
      <vt:lpstr>Main objectives of classifying the data</vt:lpstr>
      <vt:lpstr>Types of classification</vt:lpstr>
      <vt:lpstr>Geographical Classification</vt:lpstr>
      <vt:lpstr>Chronological Classification</vt:lpstr>
      <vt:lpstr>Qualitative Classification</vt:lpstr>
      <vt:lpstr>Qualitative Classification(Contd.)</vt:lpstr>
      <vt:lpstr>Quantitative Classification</vt:lpstr>
      <vt:lpstr>Data Collection Methods and Tools</vt:lpstr>
      <vt:lpstr>Primary Data Collection</vt:lpstr>
      <vt:lpstr>Secondary data Collection</vt:lpstr>
      <vt:lpstr>Data Collection Tools </vt:lpstr>
      <vt:lpstr>Top Data Collection Methods and Tools for Academic, Opinion, or Product Research:1</vt:lpstr>
      <vt:lpstr>Slide 39</vt:lpstr>
      <vt:lpstr>Top Data Collection Methods and Tools for Academic, Opinion, or Product Research :3</vt:lpstr>
      <vt:lpstr>Top Data Collection Methods and Tools for Academic, Opinion, or Product Research :4</vt:lpstr>
      <vt:lpstr>Top Data Collection Methods and Tools for Academic, Opinion, or Product Research :5</vt:lpstr>
      <vt:lpstr>Top Data Collection Methods and Tools for Academic, Opinion, or Product Research :6</vt:lpstr>
      <vt:lpstr>Top Data Collection Methods and Tools for Academic, Opinion, or Product Research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c:creator>
  <cp:lastModifiedBy>A</cp:lastModifiedBy>
  <cp:revision>68</cp:revision>
  <dcterms:created xsi:type="dcterms:W3CDTF">2023-09-27T08:18:00Z</dcterms:created>
  <dcterms:modified xsi:type="dcterms:W3CDTF">2025-10-15T06:55:53Z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C9A2551DBF8D41ECA2D7D37C1986FC56_13</vt:lpwstr>
  </property>
  <property fmtid="{D5CDD505-2E9C-101B-9397-08002B2CF9AE}" pid="3" name="KSOProductBuildVer">
    <vt:lpwstr>1033-12.2.0.13215</vt:lpwstr>
  </property>
</Properties>
</file>