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1" r:id="rId6"/>
    <p:sldId id="262" r:id="rId7"/>
    <p:sldId id="263" r:id="rId8"/>
    <p:sldId id="265" r:id="rId9"/>
    <p:sldId id="266" r:id="rId10"/>
    <p:sldId id="267" r:id="rId11"/>
    <p:sldId id="268"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981" autoAdjust="0"/>
    <p:restoredTop sz="94660"/>
  </p:normalViewPr>
  <p:slideViewPr>
    <p:cSldViewPr snapToGrid="0">
      <p:cViewPr varScale="1">
        <p:scale>
          <a:sx n="69" d="100"/>
          <a:sy n="69" d="100"/>
        </p:scale>
        <p:origin x="-642" y="-108"/>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pPr/>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pPr/>
              <a:t>9/18/2025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pPr/>
              <a:t>9/18/2025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pPr/>
              <a:t>9/18/2025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_AND_BODY">
    <p:spTree>
      <p:nvGrpSpPr>
        <p:cNvPr id="1" name=""/>
        <p:cNvGrpSpPr/>
        <p:nvPr/>
      </p:nvGrpSpPr>
      <p:grpSpPr>
        <a:xfrm>
          <a:off x="0" y="0"/>
          <a:ext cx="0" cy="0"/>
          <a:chOff x="0" y="0"/>
          <a:chExt cx="0" cy="0"/>
        </a:xfrm>
      </p:grpSpPr>
      <p:sp>
        <p:nvSpPr>
          <p:cNvPr id="14" name="PlaceHolder 1"/>
          <p:cNvSpPr>
            <a:spLocks noGrp="1"/>
          </p:cNvSpPr>
          <p:nvPr>
            <p:ph type="title"/>
          </p:nvPr>
        </p:nvSpPr>
        <p:spPr>
          <a:xfrm>
            <a:off x="415680" y="593280"/>
            <a:ext cx="11360160" cy="763200"/>
          </a:xfrm>
          <a:prstGeom prst="rect">
            <a:avLst/>
          </a:prstGeom>
          <a:noFill/>
          <a:ln w="0">
            <a:noFill/>
          </a:ln>
        </p:spPr>
        <p:txBody>
          <a:bodyPr lIns="0" tIns="0" rIns="0" bIns="0" anchor="ctr">
            <a:noAutofit/>
          </a:bodyPr>
          <a:lstStyle>
            <a:lvl1pPr indent="0">
              <a:buNone/>
              <a:defRPr/>
            </a:lvl1pPr>
          </a:lstStyle>
          <a:p>
            <a:pPr indent="0">
              <a:buNone/>
            </a:pPr>
            <a:endParaRPr lang="en-IN" sz="1900" b="0" strike="noStrike" spc="-1" dirty="0">
              <a:solidFill>
                <a:srgbClr val="000000"/>
              </a:solidFill>
              <a:latin typeface="Arial"/>
            </a:endParaRPr>
          </a:p>
        </p:txBody>
      </p:sp>
      <p:sp>
        <p:nvSpPr>
          <p:cNvPr id="15" name="PlaceHolder 2"/>
          <p:cNvSpPr>
            <a:spLocks noGrp="1"/>
          </p:cNvSpPr>
          <p:nvPr>
            <p:ph/>
          </p:nvPr>
        </p:nvSpPr>
        <p:spPr>
          <a:xfrm>
            <a:off x="415680" y="1536480"/>
            <a:ext cx="11360160" cy="4554720"/>
          </a:xfrm>
          <a:prstGeom prst="rect">
            <a:avLst/>
          </a:prstGeom>
          <a:noFill/>
          <a:ln w="0">
            <a:noFill/>
          </a:ln>
        </p:spPr>
        <p:txBody>
          <a:bodyPr lIns="0" tIns="0" rIns="0" bIns="0" anchor="t">
            <a:normAutofit/>
          </a:bodyPr>
          <a:lstStyle>
            <a:lvl1pPr indent="0">
              <a:spcBef>
                <a:spcPts val="1889"/>
              </a:spcBef>
              <a:buNone/>
              <a:defRPr/>
            </a:lvl1pPr>
          </a:lstStyle>
          <a:p>
            <a:pPr indent="0">
              <a:spcBef>
                <a:spcPts val="1417"/>
              </a:spcBef>
              <a:buNone/>
            </a:pPr>
            <a:endParaRPr lang="en-IN" sz="1900" b="0" strike="noStrike" spc="-1" dirty="0">
              <a:solidFill>
                <a:srgbClr val="000000"/>
              </a:solidFill>
              <a:latin typeface="Arial"/>
            </a:endParaRPr>
          </a:p>
        </p:txBody>
      </p:sp>
      <p:sp>
        <p:nvSpPr>
          <p:cNvPr id="4" name="PlaceHolder 3"/>
          <p:cNvSpPr>
            <a:spLocks noGrp="1"/>
          </p:cNvSpPr>
          <p:nvPr>
            <p:ph type="sldNum" idx="5"/>
          </p:nvPr>
        </p:nvSpPr>
        <p:spPr/>
        <p:txBody>
          <a:bodyPr/>
          <a:lstStyle/>
          <a:p>
            <a:fld id="{AA92CDD0-7D9C-46FC-A530-79950ED66C0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pPr/>
              <a:t>9/18/2025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sym typeface="+mn-ea"/>
              </a:rPr>
              <a:t>Abstracting and Indexing</a:t>
            </a:r>
            <a:r>
              <a:rPr lang="en-US"/>
              <a:t/>
            </a:r>
            <a:br>
              <a:rPr lang="en-US"/>
            </a:b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Abstracting and Indexing</a:t>
            </a:r>
          </a:p>
        </p:txBody>
      </p:sp>
      <p:sp>
        <p:nvSpPr>
          <p:cNvPr id="3" name="Content Placeholder 2"/>
          <p:cNvSpPr>
            <a:spLocks noGrp="1"/>
          </p:cNvSpPr>
          <p:nvPr>
            <p:ph idx="1"/>
          </p:nvPr>
        </p:nvSpPr>
        <p:spPr>
          <a:xfrm>
            <a:off x="838200" y="1825625"/>
            <a:ext cx="10176164" cy="4351655"/>
          </a:xfrm>
        </p:spPr>
        <p:txBody>
          <a:bodyPr>
            <a:normAutofit fontScale="85000" lnSpcReduction="20000"/>
          </a:bodyPr>
          <a:lstStyle/>
          <a:p>
            <a:pPr algn="just"/>
            <a:r>
              <a:rPr lang="en-US" dirty="0"/>
              <a:t> For centuries researchers have </a:t>
            </a:r>
            <a:r>
              <a:rPr lang="en-US" dirty="0" smtClean="0"/>
              <a:t>relied upon abstracting and Indexing(A&amp;I)Services </a:t>
            </a:r>
            <a:r>
              <a:rPr lang="en-US" dirty="0"/>
              <a:t>to manage information </a:t>
            </a:r>
            <a:r>
              <a:rPr lang="en-US" dirty="0" smtClean="0"/>
              <a:t>overload and </a:t>
            </a:r>
            <a:r>
              <a:rPr lang="en-US" dirty="0"/>
              <a:t>ensure the flow of </a:t>
            </a:r>
            <a:r>
              <a:rPr lang="en-US" dirty="0" smtClean="0"/>
              <a:t>scholarly communication</a:t>
            </a:r>
            <a:r>
              <a:rPr lang="en-US" dirty="0"/>
              <a:t>. </a:t>
            </a:r>
            <a:endParaRPr lang="en-US" dirty="0" smtClean="0"/>
          </a:p>
          <a:p>
            <a:pPr algn="just"/>
            <a:r>
              <a:rPr lang="en-US" dirty="0" smtClean="0"/>
              <a:t>Today </a:t>
            </a:r>
            <a:r>
              <a:rPr lang="en-US" dirty="0"/>
              <a:t>these </a:t>
            </a:r>
            <a:r>
              <a:rPr lang="en-US" dirty="0" smtClean="0"/>
              <a:t>services continue </a:t>
            </a:r>
            <a:r>
              <a:rPr lang="en-US" dirty="0"/>
              <a:t>to provide ease-of-access </a:t>
            </a:r>
            <a:r>
              <a:rPr lang="en-US" dirty="0" smtClean="0"/>
              <a:t>to current </a:t>
            </a:r>
            <a:r>
              <a:rPr lang="en-US" dirty="0"/>
              <a:t>publications and to </a:t>
            </a:r>
            <a:r>
              <a:rPr lang="en-US" dirty="0" smtClean="0"/>
              <a:t>content-rich databases </a:t>
            </a:r>
            <a:r>
              <a:rPr lang="en-US" dirty="0"/>
              <a:t>encompassing decades, </a:t>
            </a:r>
            <a:r>
              <a:rPr lang="en-US" dirty="0" smtClean="0"/>
              <a:t>even centuries</a:t>
            </a:r>
            <a:r>
              <a:rPr lang="en-US" dirty="0"/>
              <a:t>, of invaluable scholarly research</a:t>
            </a:r>
            <a:r>
              <a:rPr lang="en-US" dirty="0" smtClean="0"/>
              <a:t>.</a:t>
            </a:r>
          </a:p>
          <a:p>
            <a:pPr algn="just"/>
            <a:r>
              <a:rPr lang="en" dirty="0" smtClean="0"/>
              <a:t>Abstracting goes a step further by providing concise summaries (abstracts) of the content of scholarly articles. These abstracts capture the main points, objectives, methods, results, and conclusions of the papers. </a:t>
            </a:r>
            <a:r>
              <a:rPr lang="en" dirty="0" smtClean="0"/>
              <a:t>Abstracts give researchers a quick overview of an article's content without needing to read the entire paper</a:t>
            </a:r>
            <a:r>
              <a:rPr lang="en" dirty="0" smtClean="0"/>
              <a:t>.</a:t>
            </a:r>
          </a:p>
          <a:p>
            <a:pPr algn="just"/>
            <a:r>
              <a:rPr lang="en" dirty="0" smtClean="0"/>
              <a:t>Both indexing and abstracting services serve as essential tools for researchers, helping them efficiently identify and access relevant literature for their studies. They are commonly used in online academic databases and search engines, making scholarly research more accessible and manageable.</a:t>
            </a:r>
            <a:endParaRPr lang="en-IN" dirty="0" smtClean="0"/>
          </a:p>
          <a:p>
            <a:pPr algn="just"/>
            <a:endParaRPr lang="en-US"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an Abstract?</a:t>
            </a:r>
            <a:endParaRPr lang="en-US" dirty="0"/>
          </a:p>
        </p:txBody>
      </p:sp>
      <p:sp>
        <p:nvSpPr>
          <p:cNvPr id="3" name="Content Placeholder 2"/>
          <p:cNvSpPr>
            <a:spLocks noGrp="1"/>
          </p:cNvSpPr>
          <p:nvPr>
            <p:ph idx="1"/>
          </p:nvPr>
        </p:nvSpPr>
        <p:spPr/>
        <p:txBody>
          <a:bodyPr>
            <a:normAutofit fontScale="97500"/>
          </a:bodyPr>
          <a:lstStyle/>
          <a:p>
            <a:pPr marL="0" indent="0">
              <a:buNone/>
            </a:pPr>
            <a:r>
              <a:rPr lang="en-US" b="1" dirty="0"/>
              <a:t>Abstract</a:t>
            </a:r>
          </a:p>
          <a:p>
            <a:pPr algn="just"/>
            <a:r>
              <a:rPr lang="en-US" dirty="0"/>
              <a:t> an abbreviated, </a:t>
            </a:r>
            <a:r>
              <a:rPr lang="en-US" dirty="0" smtClean="0"/>
              <a:t>accurate representation </a:t>
            </a:r>
            <a:r>
              <a:rPr lang="en-US" dirty="0"/>
              <a:t>of the significant contents of </a:t>
            </a:r>
            <a:r>
              <a:rPr lang="en-US" dirty="0" smtClean="0"/>
              <a:t>a document</a:t>
            </a:r>
            <a:r>
              <a:rPr lang="en-US" dirty="0"/>
              <a:t>. It is usually accompanied by </a:t>
            </a:r>
            <a:r>
              <a:rPr lang="en-US" dirty="0" smtClean="0"/>
              <a:t>an adequate bibliographic description </a:t>
            </a:r>
            <a:r>
              <a:rPr lang="en-US" dirty="0"/>
              <a:t>to </a:t>
            </a:r>
            <a:r>
              <a:rPr lang="en-US" dirty="0" smtClean="0"/>
              <a:t>enable the </a:t>
            </a:r>
            <a:r>
              <a:rPr lang="en-US" dirty="0"/>
              <a:t>user to trace the original document.</a:t>
            </a:r>
          </a:p>
          <a:p>
            <a:pPr marL="0" indent="0">
              <a:buNone/>
            </a:pPr>
            <a:r>
              <a:rPr lang="en-US" b="1" dirty="0"/>
              <a:t>Abstracting</a:t>
            </a:r>
          </a:p>
          <a:p>
            <a:pPr algn="just"/>
            <a:r>
              <a:rPr lang="en-US" dirty="0"/>
              <a:t> process of analyzing </a:t>
            </a:r>
            <a:r>
              <a:rPr lang="en-US" dirty="0" smtClean="0"/>
              <a:t>the significant </a:t>
            </a:r>
            <a:r>
              <a:rPr lang="en-US" dirty="0"/>
              <a:t>contents of a document in order </a:t>
            </a:r>
            <a:r>
              <a:rPr lang="en-US" dirty="0" smtClean="0"/>
              <a:t>to come </a:t>
            </a:r>
            <a:r>
              <a:rPr lang="en-US" dirty="0"/>
              <a:t>up with a brief and </a:t>
            </a:r>
            <a:r>
              <a:rPr lang="en-US" dirty="0" smtClean="0"/>
              <a:t>accurate representation </a:t>
            </a:r>
            <a:r>
              <a:rPr lang="en-US" dirty="0"/>
              <a:t>of that document.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sym typeface="+mn-ea"/>
              </a:rPr>
              <a:t>PARTS OF AN ABSTRACT</a:t>
            </a:r>
            <a:r>
              <a:rPr lang="en-US"/>
              <a:t/>
            </a:r>
            <a:br>
              <a:rPr lang="en-US"/>
            </a:br>
            <a:endParaRPr lang="en-US"/>
          </a:p>
        </p:txBody>
      </p:sp>
      <p:sp>
        <p:nvSpPr>
          <p:cNvPr id="3" name="Content Placeholder 2"/>
          <p:cNvSpPr>
            <a:spLocks noGrp="1"/>
          </p:cNvSpPr>
          <p:nvPr>
            <p:ph idx="1"/>
          </p:nvPr>
        </p:nvSpPr>
        <p:spPr>
          <a:xfrm>
            <a:off x="838200" y="1437698"/>
            <a:ext cx="10515600" cy="4351338"/>
          </a:xfrm>
        </p:spPr>
        <p:txBody>
          <a:bodyPr/>
          <a:lstStyle/>
          <a:p>
            <a:r>
              <a:rPr lang="en-US" dirty="0"/>
              <a:t> Bibliographic Reference Portion</a:t>
            </a:r>
          </a:p>
          <a:p>
            <a:pPr marL="0" indent="0">
              <a:buNone/>
            </a:pPr>
            <a:r>
              <a:rPr lang="en-US" dirty="0"/>
              <a:t>1. Author</a:t>
            </a:r>
          </a:p>
          <a:p>
            <a:pPr marL="0" indent="0">
              <a:buNone/>
            </a:pPr>
            <a:r>
              <a:rPr lang="en-US" dirty="0"/>
              <a:t>2. Author Affiliation</a:t>
            </a:r>
          </a:p>
          <a:p>
            <a:pPr marL="0" indent="0">
              <a:buNone/>
            </a:pPr>
            <a:r>
              <a:rPr lang="en-US" dirty="0"/>
              <a:t>3. Title of the Document</a:t>
            </a:r>
          </a:p>
          <a:p>
            <a:pPr marL="0" indent="0">
              <a:buNone/>
            </a:pPr>
            <a:r>
              <a:rPr lang="en-US" dirty="0"/>
              <a:t>4. Source-Volume </a:t>
            </a:r>
            <a:r>
              <a:rPr lang="en-US" dirty="0" err="1"/>
              <a:t>No.,Issue</a:t>
            </a:r>
            <a:r>
              <a:rPr lang="en-US" dirty="0"/>
              <a:t> </a:t>
            </a:r>
            <a:r>
              <a:rPr lang="en-US" dirty="0" err="1"/>
              <a:t>No.,Date</a:t>
            </a:r>
            <a:r>
              <a:rPr lang="en-US" dirty="0"/>
              <a:t> </a:t>
            </a:r>
            <a:r>
              <a:rPr lang="en-US" dirty="0" err="1"/>
              <a:t>ofPublication</a:t>
            </a:r>
            <a:r>
              <a:rPr lang="en-US" dirty="0"/>
              <a:t>, Specific Pages</a:t>
            </a:r>
          </a:p>
          <a:p>
            <a:pPr marL="0" indent="0">
              <a:buNone/>
            </a:pPr>
            <a:r>
              <a:rPr lang="en-US" dirty="0"/>
              <a:t>5. Original Language (Other than English)</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sym typeface="+mn-ea"/>
              </a:rPr>
              <a:t>PARTS OF AN ABSTRACT</a:t>
            </a:r>
            <a:r>
              <a:rPr lang="en-US"/>
              <a:t/>
            </a:r>
            <a:br>
              <a:rPr lang="en-US"/>
            </a:br>
            <a:endParaRPr lang="en-US"/>
          </a:p>
        </p:txBody>
      </p:sp>
      <p:sp>
        <p:nvSpPr>
          <p:cNvPr id="3" name="Content Placeholder 2"/>
          <p:cNvSpPr>
            <a:spLocks noGrp="1"/>
          </p:cNvSpPr>
          <p:nvPr>
            <p:ph idx="1"/>
          </p:nvPr>
        </p:nvSpPr>
        <p:spPr>
          <a:xfrm>
            <a:off x="838200" y="1362075"/>
            <a:ext cx="10515600" cy="5496560"/>
          </a:xfrm>
        </p:spPr>
        <p:txBody>
          <a:bodyPr>
            <a:normAutofit fontScale="40000" lnSpcReduction="20000"/>
          </a:bodyPr>
          <a:lstStyle/>
          <a:p>
            <a:r>
              <a:rPr lang="en-US" sz="12800" dirty="0" smtClean="0"/>
              <a:t> </a:t>
            </a:r>
            <a:r>
              <a:rPr lang="en-US" sz="10000" dirty="0"/>
              <a:t>Body of an Abstract</a:t>
            </a:r>
          </a:p>
          <a:p>
            <a:pPr marL="457200" lvl="1" indent="0">
              <a:buNone/>
            </a:pPr>
            <a:r>
              <a:rPr lang="en-US" sz="10000" dirty="0"/>
              <a:t>1. Scope – 3% (What of the study)</a:t>
            </a:r>
          </a:p>
          <a:p>
            <a:pPr marL="457200" lvl="1" indent="0">
              <a:buNone/>
            </a:pPr>
            <a:r>
              <a:rPr lang="en-US" sz="10000" dirty="0"/>
              <a:t>2. Objectives – 7% (Why of the study)</a:t>
            </a:r>
          </a:p>
          <a:p>
            <a:pPr marL="457200" lvl="1" indent="0">
              <a:buNone/>
            </a:pPr>
            <a:r>
              <a:rPr lang="en-US" sz="10000" dirty="0"/>
              <a:t>3. Methodology  –  15% (Techniques used)</a:t>
            </a:r>
          </a:p>
          <a:p>
            <a:pPr marL="457200" lvl="1" indent="0">
              <a:buNone/>
            </a:pPr>
            <a:r>
              <a:rPr lang="en-US" sz="10000" dirty="0"/>
              <a:t>4. Findings – 70% (Results of the study)</a:t>
            </a:r>
          </a:p>
          <a:p>
            <a:pPr marL="457200" lvl="1" indent="0">
              <a:buNone/>
            </a:pPr>
            <a:r>
              <a:rPr lang="en-US" sz="10000" dirty="0"/>
              <a:t>5. Conclusion – 5%</a:t>
            </a:r>
          </a:p>
          <a:p>
            <a:pPr marL="0" indent="0"/>
            <a:r>
              <a:rPr lang="en-US" sz="10000" dirty="0"/>
              <a:t> Signature - initials</a:t>
            </a:r>
          </a:p>
          <a:p>
            <a:r>
              <a:rPr lang="en-US" sz="10000" dirty="0"/>
              <a:t>Descriptor’s Portion – subject matter </a:t>
            </a:r>
            <a:r>
              <a:rPr lang="en-US" sz="10000" dirty="0" smtClean="0"/>
              <a:t>of the </a:t>
            </a:r>
            <a:r>
              <a:rPr lang="en-US" sz="10000" dirty="0"/>
              <a:t>document or keywords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2034540" y="1595120"/>
            <a:ext cx="9067800" cy="3969385"/>
          </a:xfrm>
          <a:prstGeom prst="rect">
            <a:avLst/>
          </a:prstGeom>
          <a:noFill/>
        </p:spPr>
        <p:txBody>
          <a:bodyPr wrap="square" rtlCol="0" anchor="t">
            <a:spAutoFit/>
          </a:bodyPr>
          <a:lstStyle/>
          <a:p>
            <a:r>
              <a:rPr lang="en-US" sz="3600"/>
              <a:t>• Step 1  –  Read the document.</a:t>
            </a:r>
          </a:p>
          <a:p>
            <a:r>
              <a:rPr lang="en-US" sz="3600"/>
              <a:t>• Step 2 – Note down key information.</a:t>
            </a:r>
          </a:p>
          <a:p>
            <a:r>
              <a:rPr lang="en-US" sz="3600"/>
              <a:t>• Step 3 - Organize the key information.</a:t>
            </a:r>
          </a:p>
          <a:p>
            <a:r>
              <a:rPr lang="en-US" sz="3600"/>
              <a:t>• Step 4 -  Follow standard abstract format.</a:t>
            </a:r>
          </a:p>
          <a:p>
            <a:r>
              <a:rPr lang="en-US" sz="3600"/>
              <a:t>• Step 5- Check the draft abstract.</a:t>
            </a:r>
          </a:p>
          <a:p>
            <a:r>
              <a:rPr lang="en-US" sz="3600"/>
              <a:t>• Step 6 – Edit and polish.</a:t>
            </a:r>
          </a:p>
          <a:p>
            <a:r>
              <a:rPr lang="en-US" sz="3600"/>
              <a:t>• Step 7 –  Write the final abstract</a:t>
            </a:r>
          </a:p>
        </p:txBody>
      </p:sp>
      <p:sp>
        <p:nvSpPr>
          <p:cNvPr id="5" name="Title 4"/>
          <p:cNvSpPr>
            <a:spLocks noGrp="1"/>
          </p:cNvSpPr>
          <p:nvPr>
            <p:ph type="title"/>
          </p:nvPr>
        </p:nvSpPr>
        <p:spPr/>
        <p:txBody>
          <a:bodyPr>
            <a:normAutofit/>
          </a:bodyPr>
          <a:lstStyle/>
          <a:p>
            <a:r>
              <a:rPr lang="en-US">
                <a:sym typeface="+mn-ea"/>
              </a:rPr>
              <a:t>STEPS IN WRITING THE ABSTRACT PROPER </a:t>
            </a: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sym typeface="+mn-ea"/>
              </a:rPr>
              <a:t>DO’S AND DON’TS IN WRITING AN ABSTRACT</a:t>
            </a:r>
            <a:r>
              <a:rPr lang="en-US"/>
              <a:t/>
            </a:r>
            <a:br>
              <a:rPr lang="en-US"/>
            </a:br>
            <a:endParaRPr lang="en-US"/>
          </a:p>
        </p:txBody>
      </p:sp>
      <p:sp>
        <p:nvSpPr>
          <p:cNvPr id="3" name="Content Placeholder 2"/>
          <p:cNvSpPr>
            <a:spLocks noGrp="1"/>
          </p:cNvSpPr>
          <p:nvPr>
            <p:ph idx="1"/>
          </p:nvPr>
        </p:nvSpPr>
        <p:spPr>
          <a:xfrm>
            <a:off x="838200" y="1124585"/>
            <a:ext cx="10515600" cy="5733415"/>
          </a:xfrm>
        </p:spPr>
        <p:txBody>
          <a:bodyPr>
            <a:normAutofit fontScale="77500" lnSpcReduction="10000"/>
          </a:bodyPr>
          <a:lstStyle/>
          <a:p>
            <a:r>
              <a:rPr lang="en-US"/>
              <a:t> Simple and Short sentences should be used.</a:t>
            </a:r>
          </a:p>
          <a:p>
            <a:r>
              <a:rPr lang="en-US"/>
              <a:t> Do use abbreviations commonly understoodor easy intelligible. For example: kg., km.,in., ft., cm., wt., Mss., Ss., etc.</a:t>
            </a:r>
          </a:p>
          <a:p>
            <a:r>
              <a:rPr lang="en-US"/>
              <a:t> Do not include history or background.</a:t>
            </a:r>
          </a:p>
          <a:p>
            <a:r>
              <a:rPr lang="en-US"/>
              <a:t> Abbreviations and symbols to be usedshould be defined the first time they occurin the abstract. For example: less developcountry (LDC)</a:t>
            </a:r>
          </a:p>
          <a:p>
            <a:r>
              <a:rPr lang="en-US"/>
              <a:t>Abstract proper should be written in one paragraph only. This should be coherent paragraph and not series of disjoint sentences. Do not label the components of the abstract, for example: Objectives,Methodology, Findings, Conclusions</a:t>
            </a:r>
          </a:p>
          <a:p>
            <a:r>
              <a:rPr lang="en-US"/>
              <a:t>Do not use colloquial words. For example:boob tubes for television, bread for money,etc.</a:t>
            </a:r>
          </a:p>
          <a:p>
            <a:r>
              <a:rPr lang="en-US"/>
              <a:t>Since brevity is the essence of abstracting,verbosity and redundancy should be avoided. Forexample: the phrase “has been found to increase” can be shortened to a single word “increased”  or the phrase  “blue  in color”  can be shortened to oneword  “blue” </a:t>
            </a:r>
          </a:p>
          <a:p>
            <a:r>
              <a:rPr lang="en-US"/>
              <a:t> Additional information such as tables, figures,references, illustrations, charts, and graphs shouldbe included at the end of the abstract proper and enclosed in parenthesis. For example: (4 tables; 4 figs.; 8 charts; 5 photos; 6 graphs)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415680" y="593280"/>
            <a:ext cx="11360160" cy="763200"/>
          </a:xfrm>
          <a:prstGeom prst="rect">
            <a:avLst/>
          </a:prstGeom>
          <a:noFill/>
          <a:ln w="0">
            <a:noFill/>
          </a:ln>
        </p:spPr>
        <p:txBody>
          <a:bodyPr lIns="121917" tIns="121917" rIns="121917" bIns="121917" anchor="t">
            <a:normAutofit/>
          </a:bodyPr>
          <a:lstStyle/>
          <a:p>
            <a:pPr>
              <a:lnSpc>
                <a:spcPct val="100000"/>
              </a:lnSpc>
              <a:tabLst>
                <a:tab pos="0" algn="l"/>
              </a:tabLst>
            </a:pPr>
            <a:r>
              <a:rPr lang="en" sz="3000" b="1" spc="-1" dirty="0">
                <a:solidFill>
                  <a:schemeClr val="dk1"/>
                </a:solidFill>
                <a:latin typeface="Arial"/>
                <a:ea typeface="Arial"/>
              </a:rPr>
              <a:t>Benefits of using indexing and abstracting services</a:t>
            </a:r>
            <a:endParaRPr lang="en-IN" sz="3000" spc="-1" dirty="0">
              <a:solidFill>
                <a:srgbClr val="000000"/>
              </a:solidFill>
              <a:latin typeface="Arial"/>
            </a:endParaRPr>
          </a:p>
        </p:txBody>
      </p:sp>
      <p:sp>
        <p:nvSpPr>
          <p:cNvPr id="145" name="PlaceHolder 2"/>
          <p:cNvSpPr>
            <a:spLocks noGrp="1"/>
          </p:cNvSpPr>
          <p:nvPr>
            <p:ph/>
          </p:nvPr>
        </p:nvSpPr>
        <p:spPr>
          <a:xfrm>
            <a:off x="415680" y="1536480"/>
            <a:ext cx="11360160" cy="4554720"/>
          </a:xfrm>
          <a:prstGeom prst="rect">
            <a:avLst/>
          </a:prstGeom>
          <a:noFill/>
          <a:ln w="0">
            <a:noFill/>
          </a:ln>
        </p:spPr>
        <p:txBody>
          <a:bodyPr lIns="121917" tIns="121917" rIns="121917" bIns="121917" anchor="t">
            <a:normAutofit/>
          </a:bodyPr>
          <a:lstStyle/>
          <a:p>
            <a:pPr marL="609585" indent="-457429" algn="just">
              <a:lnSpc>
                <a:spcPct val="115000"/>
              </a:lnSpc>
              <a:buClr>
                <a:srgbClr val="000000"/>
              </a:buClr>
              <a:buFont typeface="Arial"/>
              <a:buChar char="●"/>
              <a:tabLst>
                <a:tab pos="0" algn="l"/>
              </a:tabLst>
            </a:pPr>
            <a:r>
              <a:rPr lang="en" sz="2400" dirty="0" smtClean="0">
                <a:latin typeface="+mn-lt"/>
              </a:rPr>
              <a:t>Find relevant information quickly and easily.</a:t>
            </a:r>
            <a:endParaRPr lang="en-IN" sz="2400" dirty="0" smtClean="0">
              <a:latin typeface="+mn-lt"/>
            </a:endParaRPr>
          </a:p>
          <a:p>
            <a:pPr marL="609585" indent="-457429" algn="just">
              <a:lnSpc>
                <a:spcPct val="115000"/>
              </a:lnSpc>
              <a:buClr>
                <a:srgbClr val="000000"/>
              </a:buClr>
              <a:buFont typeface="Arial"/>
              <a:buChar char="●"/>
              <a:tabLst>
                <a:tab pos="0" algn="l"/>
              </a:tabLst>
            </a:pPr>
            <a:r>
              <a:rPr lang="en" sz="2400" dirty="0" smtClean="0">
                <a:latin typeface="+mn-lt"/>
              </a:rPr>
              <a:t>Save time by eliminating the need to read through irrelevant documents.</a:t>
            </a:r>
            <a:endParaRPr lang="en-IN" sz="2400" dirty="0" smtClean="0">
              <a:latin typeface="+mn-lt"/>
            </a:endParaRPr>
          </a:p>
          <a:p>
            <a:pPr marL="609585" indent="-457429" algn="just">
              <a:lnSpc>
                <a:spcPct val="115000"/>
              </a:lnSpc>
              <a:buClr>
                <a:srgbClr val="000000"/>
              </a:buClr>
              <a:buFont typeface="Arial"/>
              <a:buChar char="●"/>
              <a:tabLst>
                <a:tab pos="0" algn="l"/>
              </a:tabLst>
            </a:pPr>
            <a:r>
              <a:rPr lang="en" sz="2400" dirty="0" smtClean="0">
                <a:latin typeface="+mn-lt"/>
              </a:rPr>
              <a:t>Get up-to-date on the latest research in your field.</a:t>
            </a:r>
            <a:endParaRPr lang="en-IN" sz="2400" dirty="0" smtClean="0">
              <a:latin typeface="+mn-lt"/>
            </a:endParaRPr>
          </a:p>
          <a:p>
            <a:pPr marL="609585" indent="-457429" algn="just">
              <a:lnSpc>
                <a:spcPct val="115000"/>
              </a:lnSpc>
              <a:buClr>
                <a:srgbClr val="000000"/>
              </a:buClr>
              <a:buFont typeface="Arial"/>
              <a:buChar char="●"/>
              <a:tabLst>
                <a:tab pos="0" algn="l"/>
              </a:tabLst>
            </a:pPr>
            <a:r>
              <a:rPr lang="en" sz="2400" dirty="0" smtClean="0">
                <a:latin typeface="+mn-lt"/>
              </a:rPr>
              <a:t>Identify gaps in the literature.</a:t>
            </a:r>
            <a:endParaRPr lang="en-IN" sz="2400" dirty="0" smtClean="0">
              <a:latin typeface="+mn-lt"/>
            </a:endParaRPr>
          </a:p>
          <a:p>
            <a:pPr marL="609585" indent="-457429" algn="just">
              <a:lnSpc>
                <a:spcPct val="115000"/>
              </a:lnSpc>
              <a:buClr>
                <a:srgbClr val="000000"/>
              </a:buClr>
              <a:buFont typeface="Arial"/>
              <a:buChar char="●"/>
              <a:tabLst>
                <a:tab pos="0" algn="l"/>
              </a:tabLst>
            </a:pPr>
            <a:r>
              <a:rPr lang="en" sz="2400" dirty="0" smtClean="0">
                <a:latin typeface="+mn-lt"/>
              </a:rPr>
              <a:t>Find information that is not easily accessible, such as patents and grey literature </a:t>
            </a:r>
          </a:p>
          <a:p>
            <a:pPr marL="609585" indent="-457429" algn="just">
              <a:lnSpc>
                <a:spcPct val="115000"/>
              </a:lnSpc>
              <a:buClr>
                <a:srgbClr val="000000"/>
              </a:buClr>
            </a:pPr>
            <a:r>
              <a:rPr lang="en" sz="2400" spc="-1" dirty="0" smtClean="0">
                <a:solidFill>
                  <a:schemeClr val="dk1"/>
                </a:solidFill>
                <a:highlight>
                  <a:srgbClr val="FFFFFF"/>
                </a:highlight>
                <a:latin typeface="+mn-lt"/>
              </a:rPr>
              <a:t>	</a:t>
            </a:r>
            <a:r>
              <a:rPr lang="en-US" sz="2400" dirty="0" smtClean="0">
                <a:latin typeface="+mn-lt"/>
              </a:rPr>
              <a:t>Grey </a:t>
            </a:r>
            <a:r>
              <a:rPr lang="en-US" sz="2400" dirty="0" smtClean="0">
                <a:latin typeface="+mn-lt"/>
              </a:rPr>
              <a:t>literature consists of reports, data, government publications, dissertations, and other documents produced by organizations outside of traditional commercial or academic publishing channels, often offering unique perspectives and being more up-to-date than journal articles.</a:t>
            </a:r>
            <a:endParaRPr lang="en-IN" sz="2400" spc="-1" dirty="0">
              <a:solidFill>
                <a:srgbClr val="000000"/>
              </a:solidFill>
              <a:latin typeface="+mn-lt"/>
            </a:endParaRPr>
          </a:p>
          <a:p>
            <a:pPr algn="just">
              <a:lnSpc>
                <a:spcPct val="115000"/>
              </a:lnSpc>
              <a:spcBef>
                <a:spcPts val="1467"/>
              </a:spcBef>
              <a:spcAft>
                <a:spcPts val="1599"/>
              </a:spcAft>
              <a:tabLst>
                <a:tab pos="0" algn="l"/>
              </a:tabLst>
            </a:pPr>
            <a:endParaRPr lang="en-IN" sz="2400" spc="-1" dirty="0">
              <a:solidFill>
                <a:srgbClr val="000000"/>
              </a:solidFill>
              <a:latin typeface="Aria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0" y="106080"/>
            <a:ext cx="11360160" cy="763200"/>
          </a:xfrm>
          <a:prstGeom prst="rect">
            <a:avLst/>
          </a:prstGeom>
          <a:noFill/>
          <a:ln w="0">
            <a:noFill/>
          </a:ln>
        </p:spPr>
        <p:txBody>
          <a:bodyPr lIns="121917" tIns="121917" rIns="121917" bIns="121917" anchor="t">
            <a:normAutofit/>
          </a:bodyPr>
          <a:lstStyle/>
          <a:p>
            <a:pPr algn="ctr">
              <a:lnSpc>
                <a:spcPct val="100000"/>
              </a:lnSpc>
              <a:tabLst>
                <a:tab pos="0" algn="l"/>
              </a:tabLst>
            </a:pPr>
            <a:r>
              <a:rPr lang="en" sz="3000" b="1" spc="-1" dirty="0">
                <a:solidFill>
                  <a:schemeClr val="dk1"/>
                </a:solidFill>
                <a:latin typeface="Arial"/>
                <a:ea typeface="Arial"/>
              </a:rPr>
              <a:t>Indexing Services</a:t>
            </a:r>
            <a:endParaRPr lang="en-IN" sz="3000" spc="-1" dirty="0">
              <a:solidFill>
                <a:srgbClr val="000000"/>
              </a:solidFill>
              <a:latin typeface="Arial"/>
            </a:endParaRPr>
          </a:p>
        </p:txBody>
      </p:sp>
      <p:sp>
        <p:nvSpPr>
          <p:cNvPr id="147" name="PlaceHolder 2"/>
          <p:cNvSpPr>
            <a:spLocks noGrp="1"/>
          </p:cNvSpPr>
          <p:nvPr>
            <p:ph/>
          </p:nvPr>
        </p:nvSpPr>
        <p:spPr>
          <a:xfrm>
            <a:off x="0" y="730560"/>
            <a:ext cx="11863200" cy="6009120"/>
          </a:xfrm>
          <a:prstGeom prst="rect">
            <a:avLst/>
          </a:prstGeom>
          <a:noFill/>
          <a:ln w="0">
            <a:noFill/>
          </a:ln>
        </p:spPr>
        <p:txBody>
          <a:bodyPr lIns="121917" tIns="121917" rIns="121917" bIns="121917" anchor="t">
            <a:noAutofit/>
          </a:bodyPr>
          <a:lstStyle/>
          <a:p>
            <a:pPr marL="609585" indent="-457429" algn="just">
              <a:lnSpc>
                <a:spcPct val="115000"/>
              </a:lnSpc>
              <a:spcBef>
                <a:spcPts val="2000"/>
              </a:spcBef>
              <a:buClr>
                <a:srgbClr val="000000"/>
              </a:buClr>
              <a:buFont typeface="Arial"/>
              <a:buChar char="●"/>
              <a:tabLst>
                <a:tab pos="0" algn="l"/>
              </a:tabLst>
            </a:pPr>
            <a:r>
              <a:rPr lang="en" sz="2200" b="1" dirty="0">
                <a:latin typeface="+mn-lt"/>
                <a:ea typeface="+mn-ea"/>
                <a:cs typeface="+mn-cs"/>
              </a:rPr>
              <a:t>PubMed: </a:t>
            </a:r>
            <a:r>
              <a:rPr lang="en" sz="2200" dirty="0">
                <a:latin typeface="+mn-lt"/>
                <a:ea typeface="+mn-ea"/>
                <a:cs typeface="+mn-cs"/>
              </a:rPr>
              <a:t>Indexes biomedical literature, including articles from medical journals, life sciences, and healthcare literature.</a:t>
            </a:r>
            <a:endParaRPr lang="en-IN" sz="2200" dirty="0">
              <a:latin typeface="+mn-lt"/>
              <a:ea typeface="+mn-ea"/>
              <a:cs typeface="+mn-cs"/>
            </a:endParaRPr>
          </a:p>
          <a:p>
            <a:pPr marL="609585" indent="-457429" algn="just">
              <a:lnSpc>
                <a:spcPct val="115000"/>
              </a:lnSpc>
              <a:buClr>
                <a:srgbClr val="000000"/>
              </a:buClr>
              <a:buFont typeface="Arial"/>
              <a:buChar char="●"/>
              <a:tabLst>
                <a:tab pos="0" algn="l"/>
              </a:tabLst>
            </a:pPr>
            <a:r>
              <a:rPr lang="en" sz="2200" b="1" dirty="0">
                <a:latin typeface="+mn-lt"/>
                <a:ea typeface="+mn-ea"/>
                <a:cs typeface="+mn-cs"/>
              </a:rPr>
              <a:t>IEEE Xplore: </a:t>
            </a:r>
            <a:r>
              <a:rPr lang="en" sz="2200" dirty="0">
                <a:latin typeface="+mn-lt"/>
                <a:ea typeface="+mn-ea"/>
                <a:cs typeface="+mn-cs"/>
              </a:rPr>
              <a:t>Indexes articles, conference papers, and standards in the fields of engineering, electronics, and </a:t>
            </a:r>
            <a:r>
              <a:rPr lang="en" sz="2200" dirty="0" smtClean="0">
                <a:latin typeface="+mn-lt"/>
              </a:rPr>
              <a:t>computer science.</a:t>
            </a:r>
            <a:endParaRPr lang="en-IN" sz="2200" dirty="0" smtClean="0">
              <a:latin typeface="+mn-lt"/>
            </a:endParaRPr>
          </a:p>
          <a:p>
            <a:pPr marL="609585" indent="-457429" algn="just">
              <a:lnSpc>
                <a:spcPct val="115000"/>
              </a:lnSpc>
              <a:buClr>
                <a:srgbClr val="000000"/>
              </a:buClr>
              <a:buFont typeface="Arial"/>
              <a:buChar char="●"/>
              <a:tabLst>
                <a:tab pos="0" algn="l"/>
              </a:tabLst>
            </a:pPr>
            <a:r>
              <a:rPr lang="en" sz="2200" b="1" dirty="0" smtClean="0">
                <a:latin typeface="+mn-lt"/>
              </a:rPr>
              <a:t>ERIC</a:t>
            </a:r>
            <a:r>
              <a:rPr lang="en" sz="2200" dirty="0" smtClean="0">
                <a:latin typeface="+mn-lt"/>
              </a:rPr>
              <a:t> (Education </a:t>
            </a:r>
            <a:r>
              <a:rPr lang="en" sz="2200" dirty="0">
                <a:latin typeface="+mn-lt"/>
                <a:ea typeface="+mn-ea"/>
                <a:cs typeface="+mn-cs"/>
              </a:rPr>
              <a:t>Resources Information Center): Indexes education-related literature, including journal articles, research reports, and conference papers.</a:t>
            </a:r>
            <a:endParaRPr lang="en-IN" sz="2200" dirty="0">
              <a:latin typeface="+mn-lt"/>
              <a:ea typeface="+mn-ea"/>
              <a:cs typeface="+mn-cs"/>
            </a:endParaRPr>
          </a:p>
          <a:p>
            <a:pPr marL="609585" indent="-457429" algn="just">
              <a:lnSpc>
                <a:spcPct val="115000"/>
              </a:lnSpc>
              <a:buClr>
                <a:srgbClr val="000000"/>
              </a:buClr>
              <a:buFont typeface="Arial"/>
              <a:buChar char="●"/>
              <a:tabLst>
                <a:tab pos="0" algn="l"/>
              </a:tabLst>
            </a:pPr>
            <a:r>
              <a:rPr lang="en" sz="2200" b="1" dirty="0">
                <a:latin typeface="+mn-lt"/>
                <a:ea typeface="+mn-ea"/>
                <a:cs typeface="+mn-cs"/>
              </a:rPr>
              <a:t>sycINFOP</a:t>
            </a:r>
            <a:r>
              <a:rPr lang="en" sz="2200" dirty="0">
                <a:latin typeface="+mn-lt"/>
                <a:ea typeface="+mn-ea"/>
                <a:cs typeface="+mn-cs"/>
              </a:rPr>
              <a:t>: Indexes literature in psychology and related fields, including journals, books, and dissertations.</a:t>
            </a:r>
            <a:endParaRPr lang="en-IN" sz="2200" dirty="0">
              <a:latin typeface="+mn-lt"/>
              <a:ea typeface="+mn-ea"/>
              <a:cs typeface="+mn-cs"/>
            </a:endParaRPr>
          </a:p>
          <a:p>
            <a:pPr marL="609585" indent="-457429" algn="just">
              <a:lnSpc>
                <a:spcPct val="115000"/>
              </a:lnSpc>
              <a:buClr>
                <a:srgbClr val="000000"/>
              </a:buClr>
              <a:buFont typeface="Arial"/>
              <a:buChar char="●"/>
              <a:tabLst>
                <a:tab pos="0" algn="l"/>
              </a:tabLst>
            </a:pPr>
            <a:r>
              <a:rPr lang="en" sz="2200" b="1" dirty="0">
                <a:latin typeface="+mn-lt"/>
                <a:ea typeface="+mn-ea"/>
                <a:cs typeface="+mn-cs"/>
              </a:rPr>
              <a:t>Scopus:</a:t>
            </a:r>
            <a:r>
              <a:rPr lang="en" sz="2200" dirty="0">
                <a:latin typeface="+mn-lt"/>
                <a:ea typeface="+mn-ea"/>
                <a:cs typeface="+mn-cs"/>
              </a:rPr>
              <a:t> Multidisciplinary abstract and citation database covering a wide range of subject areas.</a:t>
            </a:r>
            <a:endParaRPr lang="en-IN" sz="2200" dirty="0">
              <a:latin typeface="+mn-lt"/>
              <a:ea typeface="+mn-ea"/>
              <a:cs typeface="+mn-cs"/>
            </a:endParaRPr>
          </a:p>
          <a:p>
            <a:pPr marL="609585" indent="-457429" algn="just">
              <a:lnSpc>
                <a:spcPct val="115000"/>
              </a:lnSpc>
              <a:buClr>
                <a:srgbClr val="000000"/>
              </a:buClr>
              <a:buFont typeface="Arial"/>
              <a:buChar char="●"/>
              <a:tabLst>
                <a:tab pos="0" algn="l"/>
              </a:tabLst>
            </a:pPr>
            <a:r>
              <a:rPr lang="en" sz="2200" b="1" dirty="0">
                <a:latin typeface="+mn-lt"/>
                <a:ea typeface="+mn-ea"/>
                <a:cs typeface="+mn-cs"/>
              </a:rPr>
              <a:t>Web of Science: </a:t>
            </a:r>
            <a:r>
              <a:rPr lang="en" sz="2200" dirty="0">
                <a:latin typeface="+mn-lt"/>
                <a:ea typeface="+mn-ea"/>
                <a:cs typeface="+mn-cs"/>
              </a:rPr>
              <a:t>Provides citation indexing for scholarly articles in various disciplines.</a:t>
            </a:r>
            <a:endParaRPr lang="en-IN" sz="2200" dirty="0">
              <a:latin typeface="+mn-lt"/>
              <a:ea typeface="+mn-ea"/>
              <a:cs typeface="+mn-cs"/>
            </a:endParaRPr>
          </a:p>
          <a:p>
            <a:pPr marL="609585" indent="-457429" algn="just">
              <a:lnSpc>
                <a:spcPct val="115000"/>
              </a:lnSpc>
              <a:buClr>
                <a:srgbClr val="000000"/>
              </a:buClr>
              <a:buFont typeface="Arial"/>
              <a:buChar char="●"/>
              <a:tabLst>
                <a:tab pos="0" algn="l"/>
              </a:tabLst>
            </a:pPr>
            <a:r>
              <a:rPr lang="en" sz="2200" b="1" dirty="0">
                <a:latin typeface="+mn-lt"/>
                <a:ea typeface="+mn-ea"/>
                <a:cs typeface="+mn-cs"/>
              </a:rPr>
              <a:t>MEDLINE:</a:t>
            </a:r>
            <a:r>
              <a:rPr lang="en" sz="2200" dirty="0">
                <a:latin typeface="+mn-lt"/>
                <a:ea typeface="+mn-ea"/>
                <a:cs typeface="+mn-cs"/>
              </a:rPr>
              <a:t> Focuses on medical literature, including clinical research, biochemistry, and related fields</a:t>
            </a:r>
            <a:r>
              <a:rPr lang="en" sz="2200" dirty="0" smtClean="0">
                <a:latin typeface="+mn-lt"/>
                <a:ea typeface="+mn-ea"/>
                <a:cs typeface="+mn-cs"/>
              </a:rPr>
              <a:t>.</a:t>
            </a:r>
          </a:p>
          <a:p>
            <a:pPr marL="609585" indent="-457429" algn="just">
              <a:lnSpc>
                <a:spcPct val="115000"/>
              </a:lnSpc>
              <a:buClr>
                <a:srgbClr val="000000"/>
              </a:buClr>
              <a:buFont typeface="Arial"/>
              <a:buChar char="●"/>
              <a:tabLst>
                <a:tab pos="0" algn="l"/>
              </a:tabLst>
            </a:pPr>
            <a:r>
              <a:rPr lang="fr-FR" sz="2200" b="1" dirty="0" smtClean="0">
                <a:latin typeface="+mn-lt"/>
                <a:ea typeface="+mn-ea"/>
                <a:cs typeface="+mn-cs"/>
              </a:rPr>
              <a:t>Social Science Citation Index (SSCI): </a:t>
            </a:r>
            <a:r>
              <a:rPr lang="fr-FR" sz="2200" b="1" dirty="0" smtClean="0">
                <a:latin typeface="+mn-lt"/>
                <a:ea typeface="+mn-ea"/>
                <a:cs typeface="+mn-cs"/>
              </a:rPr>
              <a:t> </a:t>
            </a:r>
            <a:r>
              <a:rPr lang="en-US" sz="2200" dirty="0" smtClean="0">
                <a:latin typeface="+mn-lt"/>
              </a:rPr>
              <a:t>An </a:t>
            </a:r>
            <a:r>
              <a:rPr lang="en-US" sz="2200" dirty="0" smtClean="0">
                <a:latin typeface="+mn-lt"/>
              </a:rPr>
              <a:t>ISI-created index for the social sciences. </a:t>
            </a:r>
            <a:endParaRPr lang="en-US" sz="2200" dirty="0" smtClean="0">
              <a:latin typeface="+mn-lt"/>
            </a:endParaRPr>
          </a:p>
          <a:p>
            <a:pPr marL="609585" indent="-457429" algn="just">
              <a:lnSpc>
                <a:spcPct val="115000"/>
              </a:lnSpc>
              <a:buClr>
                <a:srgbClr val="000000"/>
              </a:buClr>
              <a:buFont typeface="Arial"/>
              <a:buChar char="●"/>
              <a:tabLst>
                <a:tab pos="0" algn="l"/>
              </a:tabLst>
            </a:pPr>
            <a:r>
              <a:rPr lang="en-US" sz="2200" b="1" dirty="0" smtClean="0">
                <a:latin typeface="+mn-lt"/>
              </a:rPr>
              <a:t>Arts </a:t>
            </a:r>
            <a:r>
              <a:rPr lang="en-US" sz="2200" b="1" dirty="0" smtClean="0">
                <a:latin typeface="+mn-lt"/>
              </a:rPr>
              <a:t>and Humanities Citation Index (AHCI):</a:t>
            </a:r>
            <a:r>
              <a:rPr lang="en-US" sz="2200" dirty="0" smtClean="0">
                <a:latin typeface="+mn-lt"/>
              </a:rPr>
              <a:t> Also an ISI-created index for the arts and humanities. </a:t>
            </a:r>
          </a:p>
          <a:p>
            <a:pPr marL="609585" indent="-457429" algn="just">
              <a:lnSpc>
                <a:spcPct val="115000"/>
              </a:lnSpc>
              <a:buClr>
                <a:srgbClr val="000000"/>
              </a:buClr>
              <a:buFont typeface="Arial"/>
              <a:buChar char="●"/>
              <a:tabLst>
                <a:tab pos="0" algn="l"/>
              </a:tabLst>
            </a:pPr>
            <a:endParaRPr lang="en-IN" sz="2000" dirty="0">
              <a:latin typeface="+mn-lt"/>
              <a:ea typeface="+mn-ea"/>
              <a:cs typeface="+mn-cs"/>
            </a:endParaRPr>
          </a:p>
          <a:p>
            <a:pPr algn="just">
              <a:lnSpc>
                <a:spcPct val="115000"/>
              </a:lnSpc>
              <a:spcBef>
                <a:spcPts val="2000"/>
              </a:spcBef>
              <a:spcAft>
                <a:spcPts val="1599"/>
              </a:spcAft>
              <a:tabLst>
                <a:tab pos="0" algn="l"/>
              </a:tabLst>
            </a:pPr>
            <a:endParaRPr lang="en-IN" sz="2000" spc="-1" dirty="0">
              <a:solidFill>
                <a:srgbClr val="000000"/>
              </a:solidFill>
              <a:latin typeface="+mn-lt"/>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241440" y="262560"/>
            <a:ext cx="11360160" cy="763200"/>
          </a:xfrm>
          <a:prstGeom prst="rect">
            <a:avLst/>
          </a:prstGeom>
          <a:noFill/>
          <a:ln w="0">
            <a:noFill/>
          </a:ln>
        </p:spPr>
        <p:txBody>
          <a:bodyPr lIns="121917" tIns="121917" rIns="121917" bIns="121917" anchor="t">
            <a:normAutofit/>
          </a:bodyPr>
          <a:lstStyle/>
          <a:p>
            <a:pPr algn="ctr">
              <a:lnSpc>
                <a:spcPct val="100000"/>
              </a:lnSpc>
              <a:tabLst>
                <a:tab pos="0" algn="l"/>
              </a:tabLst>
            </a:pPr>
            <a:r>
              <a:rPr lang="en" sz="3000" b="1" spc="-1" dirty="0">
                <a:solidFill>
                  <a:schemeClr val="dk1"/>
                </a:solidFill>
                <a:latin typeface="Arial"/>
                <a:ea typeface="Arial"/>
              </a:rPr>
              <a:t>Abstracting Services</a:t>
            </a:r>
            <a:endParaRPr lang="en-IN" sz="3000" spc="-1" dirty="0">
              <a:solidFill>
                <a:srgbClr val="000000"/>
              </a:solidFill>
              <a:latin typeface="Arial"/>
            </a:endParaRPr>
          </a:p>
        </p:txBody>
      </p:sp>
      <p:sp>
        <p:nvSpPr>
          <p:cNvPr id="149" name="PlaceHolder 2"/>
          <p:cNvSpPr>
            <a:spLocks noGrp="1"/>
          </p:cNvSpPr>
          <p:nvPr>
            <p:ph/>
          </p:nvPr>
        </p:nvSpPr>
        <p:spPr>
          <a:xfrm>
            <a:off x="415680" y="1026240"/>
            <a:ext cx="11360160" cy="5626080"/>
          </a:xfrm>
          <a:prstGeom prst="rect">
            <a:avLst/>
          </a:prstGeom>
          <a:noFill/>
          <a:ln w="0">
            <a:noFill/>
          </a:ln>
        </p:spPr>
        <p:txBody>
          <a:bodyPr lIns="121917" tIns="121917" rIns="121917" bIns="121917" anchor="t">
            <a:noAutofit/>
          </a:bodyPr>
          <a:lstStyle/>
          <a:p>
            <a:pPr marL="609585" indent="-457429" algn="just">
              <a:lnSpc>
                <a:spcPct val="115000"/>
              </a:lnSpc>
              <a:spcBef>
                <a:spcPts val="2000"/>
              </a:spcBef>
              <a:buClr>
                <a:srgbClr val="000000"/>
              </a:buClr>
              <a:buFont typeface="Arial"/>
              <a:buChar char="●"/>
              <a:tabLst>
                <a:tab pos="0" algn="l"/>
              </a:tabLst>
            </a:pPr>
            <a:r>
              <a:rPr lang="en" sz="2400" dirty="0">
                <a:latin typeface="+mn-lt"/>
                <a:ea typeface="+mn-ea"/>
                <a:cs typeface="+mn-cs"/>
              </a:rPr>
              <a:t>ScienceDirect: Offers abstracts and full-text access to scientific articles from various disciplines.</a:t>
            </a:r>
            <a:endParaRPr lang="en-IN" sz="2400" dirty="0">
              <a:latin typeface="+mn-lt"/>
              <a:ea typeface="+mn-ea"/>
              <a:cs typeface="+mn-cs"/>
            </a:endParaRPr>
          </a:p>
          <a:p>
            <a:pPr marL="609585" indent="-457429" algn="just">
              <a:lnSpc>
                <a:spcPct val="115000"/>
              </a:lnSpc>
              <a:buClr>
                <a:srgbClr val="000000"/>
              </a:buClr>
              <a:buFont typeface="Arial"/>
              <a:buChar char="●"/>
              <a:tabLst>
                <a:tab pos="0" algn="l"/>
              </a:tabLst>
            </a:pPr>
            <a:r>
              <a:rPr lang="en" sz="2400" dirty="0">
                <a:latin typeface="+mn-lt"/>
                <a:ea typeface="+mn-ea"/>
                <a:cs typeface="+mn-cs"/>
              </a:rPr>
              <a:t>MathSciNet: Abstracts and reviews mathematical literature.</a:t>
            </a:r>
            <a:endParaRPr lang="en-IN" sz="2400" dirty="0">
              <a:latin typeface="+mn-lt"/>
              <a:ea typeface="+mn-ea"/>
              <a:cs typeface="+mn-cs"/>
            </a:endParaRPr>
          </a:p>
          <a:p>
            <a:pPr marL="609585" indent="-457429" algn="just">
              <a:lnSpc>
                <a:spcPct val="115000"/>
              </a:lnSpc>
              <a:buClr>
                <a:srgbClr val="000000"/>
              </a:buClr>
              <a:buFont typeface="Arial"/>
              <a:buChar char="●"/>
              <a:tabLst>
                <a:tab pos="0" algn="l"/>
              </a:tabLst>
            </a:pPr>
            <a:r>
              <a:rPr lang="en" sz="2400" dirty="0">
                <a:latin typeface="+mn-lt"/>
                <a:ea typeface="+mn-ea"/>
                <a:cs typeface="+mn-cs"/>
              </a:rPr>
              <a:t>Social Science Research Network (SSRN): Provides abstracts and working papers in the social sciences.</a:t>
            </a:r>
            <a:endParaRPr lang="en-IN" sz="2400" dirty="0">
              <a:latin typeface="+mn-lt"/>
              <a:ea typeface="+mn-ea"/>
              <a:cs typeface="+mn-cs"/>
            </a:endParaRPr>
          </a:p>
          <a:p>
            <a:pPr marL="609585" indent="-457429" algn="just">
              <a:lnSpc>
                <a:spcPct val="115000"/>
              </a:lnSpc>
              <a:buClr>
                <a:srgbClr val="000000"/>
              </a:buClr>
              <a:buFont typeface="Arial"/>
              <a:buChar char="●"/>
              <a:tabLst>
                <a:tab pos="0" algn="l"/>
              </a:tabLst>
            </a:pPr>
            <a:r>
              <a:rPr lang="en" sz="2400" dirty="0">
                <a:latin typeface="+mn-lt"/>
                <a:ea typeface="+mn-ea"/>
                <a:cs typeface="+mn-cs"/>
              </a:rPr>
              <a:t>INSPEC: Covers abstracts and literature in physics, engineering, and technology.</a:t>
            </a:r>
            <a:endParaRPr lang="en-IN" sz="2400" dirty="0">
              <a:latin typeface="+mn-lt"/>
              <a:ea typeface="+mn-ea"/>
              <a:cs typeface="+mn-cs"/>
            </a:endParaRPr>
          </a:p>
          <a:p>
            <a:pPr marL="609585" indent="-457429" algn="just">
              <a:lnSpc>
                <a:spcPct val="115000"/>
              </a:lnSpc>
              <a:buClr>
                <a:srgbClr val="000000"/>
              </a:buClr>
              <a:buFont typeface="Arial"/>
              <a:buChar char="●"/>
              <a:tabLst>
                <a:tab pos="0" algn="l"/>
              </a:tabLst>
            </a:pPr>
            <a:r>
              <a:rPr lang="en" sz="2400" dirty="0">
                <a:latin typeface="+mn-lt"/>
                <a:ea typeface="+mn-ea"/>
                <a:cs typeface="+mn-cs"/>
              </a:rPr>
              <a:t>Anthropological Index Online: Abstracts and indexes anthropology-related literature.</a:t>
            </a:r>
            <a:endParaRPr lang="en-IN" sz="2400" dirty="0">
              <a:latin typeface="+mn-lt"/>
              <a:ea typeface="+mn-ea"/>
              <a:cs typeface="+mn-cs"/>
            </a:endParaRPr>
          </a:p>
          <a:p>
            <a:pPr marL="609585" indent="-457429" algn="just">
              <a:lnSpc>
                <a:spcPct val="115000"/>
              </a:lnSpc>
              <a:buClr>
                <a:srgbClr val="000000"/>
              </a:buClr>
              <a:buFont typeface="Arial"/>
              <a:buChar char="●"/>
              <a:tabLst>
                <a:tab pos="0" algn="l"/>
              </a:tabLst>
            </a:pPr>
            <a:r>
              <a:rPr lang="en" sz="2400" dirty="0">
                <a:latin typeface="+mn-lt"/>
                <a:ea typeface="+mn-ea"/>
                <a:cs typeface="+mn-cs"/>
              </a:rPr>
              <a:t>Business Source Complete: Abstracts and full-text access to business-related literature.</a:t>
            </a:r>
            <a:endParaRPr lang="en-IN" sz="2400" dirty="0">
              <a:latin typeface="+mn-lt"/>
              <a:ea typeface="+mn-ea"/>
              <a:cs typeface="+mn-cs"/>
            </a:endParaRPr>
          </a:p>
          <a:p>
            <a:pPr marL="609585" indent="-457429" algn="just">
              <a:lnSpc>
                <a:spcPct val="115000"/>
              </a:lnSpc>
              <a:buClr>
                <a:srgbClr val="000000"/>
              </a:buClr>
              <a:buFont typeface="Arial"/>
              <a:buChar char="●"/>
              <a:tabLst>
                <a:tab pos="0" algn="l"/>
              </a:tabLst>
            </a:pPr>
            <a:r>
              <a:rPr lang="en" sz="2400" dirty="0">
                <a:latin typeface="+mn-lt"/>
                <a:ea typeface="+mn-ea"/>
                <a:cs typeface="+mn-cs"/>
              </a:rPr>
              <a:t>PsycINFO: Alongside indexing, it also provides abstracts of psychology-related articles.</a:t>
            </a:r>
            <a:endParaRPr lang="en-IN" sz="2400" dirty="0">
              <a:latin typeface="+mn-lt"/>
              <a:ea typeface="+mn-ea"/>
              <a:cs typeface="+mn-cs"/>
            </a:endParaRPr>
          </a:p>
          <a:p>
            <a:pPr algn="just">
              <a:lnSpc>
                <a:spcPct val="115000"/>
              </a:lnSpc>
              <a:spcBef>
                <a:spcPts val="2000"/>
              </a:spcBef>
              <a:spcAft>
                <a:spcPts val="1599"/>
              </a:spcAft>
              <a:tabLst>
                <a:tab pos="0" algn="l"/>
              </a:tabLst>
            </a:pPr>
            <a:endParaRPr lang="en-IN" sz="2400" spc="-1" dirty="0">
              <a:solidFill>
                <a:srgbClr val="000000"/>
              </a:solidFill>
              <a:latin typeface="Aria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415680" y="696480"/>
            <a:ext cx="11360160" cy="763200"/>
          </a:xfrm>
          <a:prstGeom prst="rect">
            <a:avLst/>
          </a:prstGeom>
          <a:noFill/>
          <a:ln w="0">
            <a:noFill/>
          </a:ln>
        </p:spPr>
        <p:txBody>
          <a:bodyPr lIns="121917" tIns="121917" rIns="121917" bIns="121917" anchor="t">
            <a:normAutofit/>
          </a:bodyPr>
          <a:lstStyle/>
          <a:p>
            <a:pPr algn="ctr">
              <a:lnSpc>
                <a:spcPct val="100000"/>
              </a:lnSpc>
              <a:tabLst>
                <a:tab pos="0" algn="l"/>
              </a:tabLst>
            </a:pPr>
            <a:r>
              <a:rPr lang="en" sz="3000" b="1" spc="-1" dirty="0">
                <a:solidFill>
                  <a:schemeClr val="dk1"/>
                </a:solidFill>
                <a:latin typeface="Arial"/>
                <a:ea typeface="Arial"/>
              </a:rPr>
              <a:t>Citation Indexes</a:t>
            </a:r>
            <a:endParaRPr lang="en-IN" sz="3000" spc="-1" dirty="0">
              <a:solidFill>
                <a:srgbClr val="000000"/>
              </a:solidFill>
              <a:latin typeface="Arial"/>
            </a:endParaRPr>
          </a:p>
        </p:txBody>
      </p:sp>
      <p:sp>
        <p:nvSpPr>
          <p:cNvPr id="151" name="PlaceHolder 2"/>
          <p:cNvSpPr>
            <a:spLocks noGrp="1"/>
          </p:cNvSpPr>
          <p:nvPr>
            <p:ph/>
          </p:nvPr>
        </p:nvSpPr>
        <p:spPr>
          <a:xfrm>
            <a:off x="436800" y="1744320"/>
            <a:ext cx="11076480" cy="4524960"/>
          </a:xfrm>
          <a:prstGeom prst="rect">
            <a:avLst/>
          </a:prstGeom>
          <a:noFill/>
          <a:ln w="0">
            <a:noFill/>
          </a:ln>
        </p:spPr>
        <p:txBody>
          <a:bodyPr lIns="121917" tIns="121917" rIns="121917" bIns="121917" anchor="t">
            <a:normAutofit/>
          </a:bodyPr>
          <a:lstStyle/>
          <a:p>
            <a:pPr marL="609585" indent="-457429" algn="just">
              <a:lnSpc>
                <a:spcPct val="115000"/>
              </a:lnSpc>
              <a:spcBef>
                <a:spcPts val="2000"/>
              </a:spcBef>
              <a:buClr>
                <a:srgbClr val="000000"/>
              </a:buClr>
              <a:buFont typeface="Arial"/>
              <a:buChar char="●"/>
            </a:pPr>
            <a:r>
              <a:rPr lang="en" sz="2400" dirty="0">
                <a:latin typeface="+mn-lt"/>
                <a:ea typeface="+mn-ea"/>
                <a:cs typeface="+mn-cs"/>
              </a:rPr>
              <a:t>Citation indexes are specialized databases that track and catalog citations found within scholarly articles, conference papers, books, and other academic publications. </a:t>
            </a:r>
            <a:endParaRPr lang="en-IN" sz="2400" dirty="0">
              <a:latin typeface="+mn-lt"/>
              <a:ea typeface="+mn-ea"/>
              <a:cs typeface="+mn-cs"/>
            </a:endParaRPr>
          </a:p>
          <a:p>
            <a:pPr marL="609585" indent="-457429" algn="just">
              <a:lnSpc>
                <a:spcPct val="115000"/>
              </a:lnSpc>
              <a:buClr>
                <a:srgbClr val="000000"/>
              </a:buClr>
              <a:buFont typeface="Arial"/>
              <a:buChar char="●"/>
            </a:pPr>
            <a:r>
              <a:rPr lang="en" sz="2400" dirty="0">
                <a:latin typeface="+mn-lt"/>
                <a:ea typeface="+mn-ea"/>
                <a:cs typeface="+mn-cs"/>
              </a:rPr>
              <a:t>These indexes provide information about which articles cite a particular work and which works a particular article has cited. </a:t>
            </a:r>
            <a:endParaRPr lang="en-IN" sz="2400" dirty="0">
              <a:latin typeface="+mn-lt"/>
              <a:ea typeface="+mn-ea"/>
              <a:cs typeface="+mn-cs"/>
            </a:endParaRPr>
          </a:p>
          <a:p>
            <a:pPr marL="609585" indent="-457429" algn="just">
              <a:lnSpc>
                <a:spcPct val="115000"/>
              </a:lnSpc>
              <a:buClr>
                <a:srgbClr val="000000"/>
              </a:buClr>
              <a:buFont typeface="Arial"/>
              <a:buChar char="●"/>
            </a:pPr>
            <a:r>
              <a:rPr lang="en" sz="2400" dirty="0">
                <a:latin typeface="+mn-lt"/>
                <a:ea typeface="+mn-ea"/>
                <a:cs typeface="+mn-cs"/>
              </a:rPr>
              <a:t>In essence, citation indexes create networks of citations, allowing researchers to explore the relationships between different research papers and authors.</a:t>
            </a:r>
            <a:endParaRPr lang="en-IN" sz="2400" dirty="0">
              <a:latin typeface="+mn-lt"/>
              <a:ea typeface="+mn-ea"/>
              <a:cs typeface="+mn-cs"/>
            </a:endParaRPr>
          </a:p>
          <a:p>
            <a:pPr algn="just">
              <a:lnSpc>
                <a:spcPct val="115000"/>
              </a:lnSpc>
              <a:spcBef>
                <a:spcPts val="2000"/>
              </a:spcBef>
              <a:spcAft>
                <a:spcPts val="1599"/>
              </a:spcAft>
              <a:tabLst>
                <a:tab pos="0" algn="l"/>
              </a:tabLst>
            </a:pPr>
            <a:endParaRPr lang="en-IN" sz="1600" spc="-1" dirty="0">
              <a:solidFill>
                <a:srgbClr val="000000"/>
              </a:solidFill>
              <a:latin typeface="Aria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76320" y="0"/>
            <a:ext cx="11360160" cy="763200"/>
          </a:xfrm>
          <a:prstGeom prst="rect">
            <a:avLst/>
          </a:prstGeom>
          <a:noFill/>
          <a:ln w="0">
            <a:noFill/>
          </a:ln>
        </p:spPr>
        <p:txBody>
          <a:bodyPr lIns="121917" tIns="121917" rIns="121917" bIns="121917" anchor="t">
            <a:normAutofit/>
          </a:bodyPr>
          <a:lstStyle/>
          <a:p>
            <a:pPr algn="ctr">
              <a:lnSpc>
                <a:spcPct val="100000"/>
              </a:lnSpc>
              <a:tabLst>
                <a:tab pos="0" algn="l"/>
              </a:tabLst>
            </a:pPr>
            <a:r>
              <a:rPr lang="en" sz="3000" b="1" spc="-1" dirty="0">
                <a:solidFill>
                  <a:schemeClr val="dk1"/>
                </a:solidFill>
                <a:latin typeface="Arial"/>
                <a:ea typeface="Arial"/>
              </a:rPr>
              <a:t>Citation Indexes Examples</a:t>
            </a:r>
            <a:endParaRPr lang="en-IN" sz="3000" spc="-1" dirty="0">
              <a:solidFill>
                <a:srgbClr val="000000"/>
              </a:solidFill>
              <a:latin typeface="Arial"/>
            </a:endParaRPr>
          </a:p>
        </p:txBody>
      </p:sp>
      <p:sp>
        <p:nvSpPr>
          <p:cNvPr id="155" name="PlaceHolder 2"/>
          <p:cNvSpPr>
            <a:spLocks noGrp="1"/>
          </p:cNvSpPr>
          <p:nvPr>
            <p:ph/>
          </p:nvPr>
        </p:nvSpPr>
        <p:spPr>
          <a:xfrm>
            <a:off x="149760" y="615840"/>
            <a:ext cx="11643360" cy="6106080"/>
          </a:xfrm>
          <a:prstGeom prst="rect">
            <a:avLst/>
          </a:prstGeom>
          <a:noFill/>
          <a:ln w="0">
            <a:noFill/>
          </a:ln>
        </p:spPr>
        <p:txBody>
          <a:bodyPr lIns="121917" tIns="121917" rIns="121917" bIns="121917" anchor="t">
            <a:noAutofit/>
          </a:bodyPr>
          <a:lstStyle/>
          <a:p>
            <a:pPr algn="just">
              <a:lnSpc>
                <a:spcPct val="115000"/>
              </a:lnSpc>
              <a:buFont typeface="Arial" pitchFamily="34" charset="0"/>
              <a:buChar char="•"/>
              <a:tabLst>
                <a:tab pos="0" algn="l"/>
                <a:tab pos="6234113" algn="l"/>
              </a:tabLst>
            </a:pPr>
            <a:r>
              <a:rPr lang="en" sz="2000" b="1" dirty="0">
                <a:latin typeface="+mn-lt"/>
                <a:ea typeface="+mn-ea"/>
                <a:cs typeface="+mn-cs"/>
              </a:rPr>
              <a:t>Web of Science</a:t>
            </a:r>
            <a:r>
              <a:rPr lang="en" sz="2000" dirty="0">
                <a:latin typeface="+mn-lt"/>
                <a:ea typeface="+mn-ea"/>
                <a:cs typeface="+mn-cs"/>
              </a:rPr>
              <a:t>: Web of Science is a subscription-based service that provides citation data for scholarly publications. It covers a wide range of disciplines and is one of the most comprehensive citation indexes available.</a:t>
            </a:r>
            <a:endParaRPr lang="en-IN" sz="2000" dirty="0">
              <a:latin typeface="+mn-lt"/>
              <a:ea typeface="+mn-ea"/>
              <a:cs typeface="+mn-cs"/>
            </a:endParaRPr>
          </a:p>
          <a:p>
            <a:pPr algn="just">
              <a:lnSpc>
                <a:spcPct val="115000"/>
              </a:lnSpc>
              <a:spcBef>
                <a:spcPts val="1599"/>
              </a:spcBef>
              <a:buFont typeface="Arial" pitchFamily="34" charset="0"/>
              <a:buChar char="•"/>
              <a:tabLst>
                <a:tab pos="0" algn="l"/>
                <a:tab pos="6234113" algn="l"/>
              </a:tabLst>
            </a:pPr>
            <a:r>
              <a:rPr lang="en" sz="2000" b="1" dirty="0">
                <a:latin typeface="+mn-lt"/>
                <a:ea typeface="+mn-ea"/>
                <a:cs typeface="+mn-cs"/>
              </a:rPr>
              <a:t>Scopus:</a:t>
            </a:r>
            <a:r>
              <a:rPr lang="en" sz="2000" dirty="0">
                <a:latin typeface="+mn-lt"/>
                <a:ea typeface="+mn-ea"/>
                <a:cs typeface="+mn-cs"/>
              </a:rPr>
              <a:t> Scopus is another subscription-based service that provides citation data for scholarly publications. It covers a wider range of disciplines than Web of Science and also includes information on conference proceedings and patents.</a:t>
            </a:r>
            <a:endParaRPr lang="en-IN" sz="2000" dirty="0">
              <a:latin typeface="+mn-lt"/>
              <a:ea typeface="+mn-ea"/>
              <a:cs typeface="+mn-cs"/>
            </a:endParaRPr>
          </a:p>
          <a:p>
            <a:pPr algn="just">
              <a:lnSpc>
                <a:spcPct val="115000"/>
              </a:lnSpc>
              <a:spcBef>
                <a:spcPts val="1599"/>
              </a:spcBef>
              <a:buFont typeface="Arial" pitchFamily="34" charset="0"/>
              <a:buChar char="•"/>
              <a:tabLst>
                <a:tab pos="0" algn="l"/>
                <a:tab pos="6234113" algn="l"/>
              </a:tabLst>
            </a:pPr>
            <a:r>
              <a:rPr lang="en" sz="2000" b="1" dirty="0">
                <a:latin typeface="+mn-lt"/>
                <a:ea typeface="+mn-ea"/>
                <a:cs typeface="+mn-cs"/>
              </a:rPr>
              <a:t>EBSCOhost:</a:t>
            </a:r>
            <a:r>
              <a:rPr lang="en" sz="2000" dirty="0">
                <a:latin typeface="+mn-lt"/>
                <a:ea typeface="+mn-ea"/>
                <a:cs typeface="+mn-cs"/>
              </a:rPr>
              <a:t> EBSCOhost is a subscription-based service that provides citation data for scholarly publications, as well as full-text articles for some publications. It covers a wide range of disciplines and is a good option for researchers who need access to full-text articles.</a:t>
            </a:r>
            <a:endParaRPr lang="en-IN" sz="2000" dirty="0">
              <a:latin typeface="+mn-lt"/>
              <a:ea typeface="+mn-ea"/>
              <a:cs typeface="+mn-cs"/>
            </a:endParaRPr>
          </a:p>
          <a:p>
            <a:pPr algn="just">
              <a:lnSpc>
                <a:spcPct val="115000"/>
              </a:lnSpc>
              <a:spcBef>
                <a:spcPts val="1599"/>
              </a:spcBef>
              <a:buFont typeface="Arial" pitchFamily="34" charset="0"/>
              <a:buChar char="•"/>
              <a:tabLst>
                <a:tab pos="0" algn="l"/>
                <a:tab pos="6234113" algn="l"/>
              </a:tabLst>
            </a:pPr>
            <a:r>
              <a:rPr lang="en" sz="2000" b="1" dirty="0">
                <a:latin typeface="+mn-lt"/>
                <a:ea typeface="+mn-ea"/>
                <a:cs typeface="+mn-cs"/>
              </a:rPr>
              <a:t>Google Scholar: </a:t>
            </a:r>
            <a:r>
              <a:rPr lang="en" sz="2000" dirty="0">
                <a:latin typeface="+mn-lt"/>
                <a:ea typeface="+mn-ea"/>
                <a:cs typeface="+mn-cs"/>
              </a:rPr>
              <a:t>Google Scholar is a free service that provides citation data for scholarly publications. </a:t>
            </a:r>
            <a:r>
              <a:rPr lang="en" sz="2000" dirty="0">
                <a:latin typeface="+mn-lt"/>
                <a:ea typeface="+mn-ea"/>
                <a:cs typeface="+mn-cs"/>
              </a:rPr>
              <a:t>It does not cover as many disciplines as Web of Science or Scopus, but it is a good option for researchers who are looking for free access to information</a:t>
            </a:r>
            <a:r>
              <a:rPr lang="en" sz="2000" dirty="0" smtClean="0">
                <a:latin typeface="+mn-lt"/>
                <a:ea typeface="+mn-ea"/>
                <a:cs typeface="+mn-cs"/>
              </a:rPr>
              <a:t>. </a:t>
            </a:r>
            <a:r>
              <a:rPr lang="en-US" sz="2000" dirty="0" smtClean="0">
                <a:latin typeface="+mn-lt"/>
                <a:ea typeface="+mn-ea"/>
                <a:cs typeface="+mn-cs"/>
              </a:rPr>
              <a:t>A popular tool that also functions as a citation index and provides metrics like the h-index. </a:t>
            </a:r>
            <a:endParaRPr lang="en-IN" sz="2000" dirty="0">
              <a:latin typeface="+mn-lt"/>
              <a:ea typeface="+mn-ea"/>
              <a:cs typeface="+mn-cs"/>
            </a:endParaRPr>
          </a:p>
          <a:p>
            <a:pPr algn="just">
              <a:lnSpc>
                <a:spcPct val="115000"/>
              </a:lnSpc>
              <a:spcBef>
                <a:spcPts val="1599"/>
              </a:spcBef>
              <a:buFont typeface="Arial" pitchFamily="34" charset="0"/>
              <a:buChar char="•"/>
              <a:tabLst>
                <a:tab pos="0" algn="l"/>
                <a:tab pos="6234113" algn="l"/>
              </a:tabLst>
            </a:pPr>
            <a:r>
              <a:rPr lang="en" sz="2000" b="1" dirty="0">
                <a:latin typeface="+mn-lt"/>
                <a:ea typeface="+mn-ea"/>
                <a:cs typeface="+mn-cs"/>
              </a:rPr>
              <a:t>Dimensions:</a:t>
            </a:r>
            <a:r>
              <a:rPr lang="en" sz="2000" dirty="0">
                <a:latin typeface="+mn-lt"/>
                <a:ea typeface="+mn-ea"/>
                <a:cs typeface="+mn-cs"/>
              </a:rPr>
              <a:t> Dimensions is a free service that provides citation data for scholarly publications. It is a good option for researchers who are looking for a free and comprehensive citation index.</a:t>
            </a:r>
            <a:endParaRPr lang="en-IN" sz="2000" dirty="0">
              <a:latin typeface="+mn-lt"/>
              <a:ea typeface="+mn-ea"/>
              <a:cs typeface="+mn-cs"/>
            </a:endParaRPr>
          </a:p>
          <a:p>
            <a:pPr algn="just">
              <a:lnSpc>
                <a:spcPct val="115000"/>
              </a:lnSpc>
              <a:spcBef>
                <a:spcPts val="1599"/>
              </a:spcBef>
              <a:spcAft>
                <a:spcPts val="1599"/>
              </a:spcAft>
              <a:tabLst>
                <a:tab pos="0" algn="l"/>
              </a:tabLst>
            </a:pPr>
            <a:endParaRPr lang="en-IN" sz="2400" dirty="0">
              <a:latin typeface="+mn-lt"/>
              <a:ea typeface="+mn-ea"/>
              <a:cs typeface="+mn-cs"/>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277</TotalTime>
  <Words>1170</Words>
  <Application>WPS Presentation</Application>
  <PresentationFormat>Custom</PresentationFormat>
  <Paragraphs>79</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Abstracting and Indexing </vt:lpstr>
      <vt:lpstr>Abstracting and Indexing</vt:lpstr>
      <vt:lpstr>What is an Abstract?</vt:lpstr>
      <vt:lpstr>PARTS OF AN ABSTRACT </vt:lpstr>
      <vt:lpstr>PARTS OF AN ABSTRACT </vt:lpstr>
      <vt:lpstr>STEPS IN WRITING THE ABSTRACT PROPER </vt:lpstr>
      <vt:lpstr>DO’S AND DON’TS IN WRITING AN ABSTRACT </vt:lpstr>
      <vt:lpstr>Benefits of using indexing and abstracting services</vt:lpstr>
      <vt:lpstr>Indexing Services</vt:lpstr>
      <vt:lpstr>Abstracting Services</vt:lpstr>
      <vt:lpstr>Citation Indexes</vt:lpstr>
      <vt:lpstr>Citation Indexes Examples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A</cp:lastModifiedBy>
  <cp:revision>20</cp:revision>
  <dcterms:created xsi:type="dcterms:W3CDTF">2023-09-13T08:13:00Z</dcterms:created>
  <dcterms:modified xsi:type="dcterms:W3CDTF">2025-09-18T23:03:04Z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D6BB583F053744F38E9B50CC3BA5A591</vt:lpwstr>
  </property>
  <property fmtid="{D5CDD505-2E9C-101B-9397-08002B2CF9AE}" pid="3" name="KSOProductBuildVer">
    <vt:lpwstr>1033-11.2.0.11417</vt:lpwstr>
  </property>
</Properties>
</file>