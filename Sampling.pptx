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981" autoAdjust="0"/>
    <p:restoredTop sz="93907" autoAdjust="0"/>
  </p:normalViewPr>
  <p:slideViewPr>
    <p:cSldViewPr snapToGrid="0">
      <p:cViewPr varScale="1">
        <p:scale>
          <a:sx n="65" d="100"/>
          <a:sy n="65" d="100"/>
        </p:scale>
        <p:origin x="-804"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10/15/2025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10/15/2025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Sampling</a:t>
            </a:r>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What Is Sampling?</a:t>
            </a:r>
            <a:endParaRPr lang="en-US"/>
          </a:p>
        </p:txBody>
      </p:sp>
      <p:sp>
        <p:nvSpPr>
          <p:cNvPr id="3" name="Content Placeholder 2"/>
          <p:cNvSpPr>
            <a:spLocks noGrp="1"/>
          </p:cNvSpPr>
          <p:nvPr>
            <p:ph idx="1"/>
          </p:nvPr>
        </p:nvSpPr>
        <p:spPr/>
        <p:txBody>
          <a:bodyPr/>
          <a:lstStyle/>
          <a:p>
            <a:pPr algn="just"/>
            <a:r>
              <a:rPr lang="en-US" dirty="0"/>
              <a:t>Sampling is a process in statistical analysis where researchers take a predetermined number of observations from a larger population. Sampling allows researchers to conduct studies about a large group by using a small portion of the population. </a:t>
            </a:r>
            <a:endParaRPr lang="en-US" dirty="0" smtClean="0"/>
          </a:p>
          <a:p>
            <a:pPr algn="just"/>
            <a:r>
              <a:rPr lang="en-US" dirty="0" smtClean="0"/>
              <a:t>The </a:t>
            </a:r>
            <a:r>
              <a:rPr lang="en-US" dirty="0"/>
              <a:t>method of sampling depends on the type of analysis being </a:t>
            </a:r>
            <a:r>
              <a:rPr lang="en-US" dirty="0" smtClean="0"/>
              <a:t>performed, but it may include simple random sampling or systematic sampling. </a:t>
            </a:r>
          </a:p>
          <a:p>
            <a:pPr algn="just"/>
            <a:r>
              <a:rPr lang="en-US" dirty="0" smtClean="0"/>
              <a:t>Sampling </a:t>
            </a:r>
            <a:r>
              <a:rPr lang="en-US" dirty="0"/>
              <a:t>is commonly done in statistics, psychology, and the financial industry.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Purpose of Sampling</a:t>
            </a:r>
          </a:p>
        </p:txBody>
      </p:sp>
      <p:sp>
        <p:nvSpPr>
          <p:cNvPr id="3" name="Content Placeholder 2"/>
          <p:cNvSpPr>
            <a:spLocks noGrp="1"/>
          </p:cNvSpPr>
          <p:nvPr>
            <p:ph idx="1"/>
          </p:nvPr>
        </p:nvSpPr>
        <p:spPr/>
        <p:txBody>
          <a:bodyPr>
            <a:normAutofit lnSpcReduction="10000"/>
          </a:bodyPr>
          <a:lstStyle/>
          <a:p>
            <a:pPr algn="just"/>
            <a:r>
              <a:rPr lang="en-US"/>
              <a:t>Sampling allows researchers to use a small group from a larger population to make observations and determinations.</a:t>
            </a:r>
          </a:p>
          <a:p>
            <a:pPr algn="just"/>
            <a:r>
              <a:rPr lang="en-US"/>
              <a:t>Types of sampling include random sampling, block sampling, judgment sampling, and systematic sampling.</a:t>
            </a:r>
          </a:p>
          <a:p>
            <a:pPr algn="just"/>
            <a:r>
              <a:rPr lang="en-US"/>
              <a:t>Researchers should be aware of sampling errors, which may be the result of random sampling or bias.</a:t>
            </a:r>
          </a:p>
          <a:p>
            <a:pPr algn="just"/>
            <a:r>
              <a:rPr lang="en-US"/>
              <a:t>Companies use sampling as a marketing tool to identify the needs and wants of their target market.</a:t>
            </a:r>
          </a:p>
          <a:p>
            <a:pPr algn="just"/>
            <a:r>
              <a:rPr lang="en-US"/>
              <a:t>Certified public accountants use sampling during audits to determine the accuracy and completeness of account balances.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Process of Sampling</a:t>
            </a:r>
          </a:p>
        </p:txBody>
      </p:sp>
      <p:sp>
        <p:nvSpPr>
          <p:cNvPr id="3" name="Content Placeholder 2"/>
          <p:cNvSpPr>
            <a:spLocks noGrp="1"/>
          </p:cNvSpPr>
          <p:nvPr>
            <p:ph idx="1"/>
          </p:nvPr>
        </p:nvSpPr>
        <p:spPr/>
        <p:txBody>
          <a:bodyPr>
            <a:normAutofit fontScale="87500" lnSpcReduction="20000"/>
          </a:bodyPr>
          <a:lstStyle/>
          <a:p>
            <a:pPr marL="457200" indent="-457200">
              <a:buAutoNum type="arabicPeriod"/>
            </a:pPr>
            <a:r>
              <a:rPr lang="en-US"/>
              <a:t>Identifying the Population set.</a:t>
            </a:r>
          </a:p>
          <a:p>
            <a:pPr marL="457200" indent="-457200">
              <a:buAutoNum type="arabicPeriod"/>
            </a:pPr>
            <a:r>
              <a:rPr lang="en-US"/>
              <a:t>Determination of the size of our sample set.</a:t>
            </a:r>
          </a:p>
          <a:p>
            <a:pPr marL="457200" indent="-457200">
              <a:buAutoNum type="arabicPeriod"/>
            </a:pPr>
            <a:r>
              <a:rPr lang="en-US"/>
              <a:t>Providing a medium for the basis of selection of samples from the Population medium.</a:t>
            </a:r>
          </a:p>
          <a:p>
            <a:pPr marL="457200" indent="-457200">
              <a:buAutoNum type="arabicPeriod"/>
            </a:pPr>
            <a:r>
              <a:rPr lang="en-US"/>
              <a:t>Picking out samples from the medium using one of many Sampling techniques like Simple Random, Systematic or Stratified Sampling.</a:t>
            </a:r>
          </a:p>
          <a:p>
            <a:pPr marL="457200" indent="-457200">
              <a:buAutoNum type="arabicPeriod"/>
            </a:pPr>
            <a:r>
              <a:rPr lang="en-US"/>
              <a:t>Checking whether the formed sample set, contains elements actually matches the different attributes of population set, without large variations in between.</a:t>
            </a:r>
          </a:p>
          <a:p>
            <a:pPr marL="457200" indent="-457200">
              <a:buAutoNum type="arabicPeriod"/>
            </a:pPr>
            <a:r>
              <a:rPr lang="en-US"/>
              <a:t>Checking for errors or inaccurate estimations in the formed sample set, that may or may not have occurred</a:t>
            </a:r>
          </a:p>
          <a:p>
            <a:pPr marL="457200" indent="-457200">
              <a:buAutoNum type="arabicPeriod"/>
            </a:pPr>
            <a:r>
              <a:rPr lang="en-US"/>
              <a:t>The set which we get after performing the above steps actually contributes to the Sample Set.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p:cNvGraphicFramePr>
          <p:nvPr>
            <p:ph idx="1"/>
          </p:nvPr>
        </p:nvGraphicFramePr>
        <p:xfrm>
          <a:off x="1707515" y="1390015"/>
          <a:ext cx="7388225" cy="3381375"/>
        </p:xfrm>
        <a:graphic>
          <a:graphicData uri="http://schemas.openxmlformats.org/presentationml/2006/ole">
            <p:oleObj spid="_x0000_s1025" r:id="rId3" imgW="6001588" imgH="3381847" progId="PBrush">
              <p:embed/>
            </p:oleObj>
          </a:graphicData>
        </a:graphic>
      </p:graphicFrame>
      <p:sp>
        <p:nvSpPr>
          <p:cNvPr id="6" name="Text Box 5"/>
          <p:cNvSpPr txBox="1"/>
          <p:nvPr/>
        </p:nvSpPr>
        <p:spPr>
          <a:xfrm>
            <a:off x="1007745" y="5280025"/>
            <a:ext cx="9825355" cy="368300"/>
          </a:xfrm>
          <a:prstGeom prst="rect">
            <a:avLst/>
          </a:prstGeom>
          <a:noFill/>
        </p:spPr>
        <p:txBody>
          <a:bodyPr wrap="square" rtlCol="0" anchor="t">
            <a:spAutoFit/>
          </a:bodyPr>
          <a:lstStyle/>
          <a:p>
            <a:r>
              <a:rPr lang="en-US"/>
              <a:t>Population is the whole set of variables, elements, entities which are considered for a statistical study. </a:t>
            </a:r>
          </a:p>
        </p:txBody>
      </p:sp>
      <p:sp>
        <p:nvSpPr>
          <p:cNvPr id="7" name="Text Box 6"/>
          <p:cNvSpPr txBox="1"/>
          <p:nvPr/>
        </p:nvSpPr>
        <p:spPr>
          <a:xfrm>
            <a:off x="1007745" y="5798820"/>
            <a:ext cx="9641840" cy="645160"/>
          </a:xfrm>
          <a:prstGeom prst="rect">
            <a:avLst/>
          </a:prstGeom>
          <a:noFill/>
        </p:spPr>
        <p:txBody>
          <a:bodyPr wrap="square" rtlCol="0" anchor="t">
            <a:spAutoFit/>
          </a:bodyPr>
          <a:lstStyle/>
          <a:p>
            <a:r>
              <a:rPr lang="en-US"/>
              <a:t>Sampling Frame is the basis of the sample medium. It is a collection of all the sample elements taken into observation.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Sampling Method</a:t>
            </a:r>
          </a:p>
        </p:txBody>
      </p:sp>
      <p:graphicFrame>
        <p:nvGraphicFramePr>
          <p:cNvPr id="4" name="Content Placeholder 3"/>
          <p:cNvGraphicFramePr>
            <a:graphicFrameLocks/>
          </p:cNvGraphicFramePr>
          <p:nvPr>
            <p:ph idx="1"/>
          </p:nvPr>
        </p:nvGraphicFramePr>
        <p:xfrm>
          <a:off x="986155" y="1849755"/>
          <a:ext cx="9818370" cy="4194175"/>
        </p:xfrm>
        <a:graphic>
          <a:graphicData uri="http://schemas.openxmlformats.org/presentationml/2006/ole">
            <p:oleObj spid="_x0000_s19457" r:id="rId3" imgW="5971429" imgH="2514286" progId="PBrush">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What is Probability Sampling?</a:t>
            </a:r>
            <a:endParaRPr lang="en-US"/>
          </a:p>
        </p:txBody>
      </p:sp>
      <p:sp>
        <p:nvSpPr>
          <p:cNvPr id="3" name="Content Placeholder 2"/>
          <p:cNvSpPr>
            <a:spLocks noGrp="1"/>
          </p:cNvSpPr>
          <p:nvPr>
            <p:ph idx="1"/>
          </p:nvPr>
        </p:nvSpPr>
        <p:spPr/>
        <p:txBody>
          <a:bodyPr>
            <a:normAutofit/>
          </a:bodyPr>
          <a:lstStyle/>
          <a:p>
            <a:r>
              <a:rPr lang="en-US"/>
              <a:t>The probability sampling method utilizes some form of random selection. In this method, all the eligible individuals have a chance of selecting the sample from the whole sample space. This method is more time consuming and expensive than the non-probability sampling method. The benefit of using probability sampling is that it guarantees the sample that should be the representative of the population.</a:t>
            </a:r>
          </a:p>
          <a:p>
            <a:r>
              <a:rPr lang="en-US"/>
              <a:t>Probability Sampling Types: Probability Sampling methods are further classified into different types, such as simple random sampling, systematic sampling, stratified sampling, and clustered sampling.</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Simple Random Sampling</a:t>
            </a:r>
            <a:endParaRPr lang="en-US"/>
          </a:p>
        </p:txBody>
      </p:sp>
      <p:sp>
        <p:nvSpPr>
          <p:cNvPr id="3" name="Content Placeholder 2"/>
          <p:cNvSpPr>
            <a:spLocks noGrp="1"/>
          </p:cNvSpPr>
          <p:nvPr>
            <p:ph idx="1"/>
          </p:nvPr>
        </p:nvSpPr>
        <p:spPr/>
        <p:txBody>
          <a:bodyPr>
            <a:normAutofit fontScale="97500"/>
          </a:bodyPr>
          <a:lstStyle/>
          <a:p>
            <a:pPr algn="just"/>
            <a:r>
              <a:rPr lang="en-US" dirty="0"/>
              <a:t>In simple random sampling technique, every item in the population has an equal and likely chance of being selected in the sample. Since the item selection entirely depends on the chance, this method is known as “Method of chance Selection”. As the sample size is large, and the item is chosen randomly, it is known as “Representative Sampling”.</a:t>
            </a:r>
          </a:p>
          <a:p>
            <a:r>
              <a:rPr lang="en-US" dirty="0"/>
              <a:t>Example:</a:t>
            </a:r>
          </a:p>
          <a:p>
            <a:pPr marL="0" indent="457200" algn="just">
              <a:buNone/>
            </a:pPr>
            <a:r>
              <a:rPr lang="en-US" dirty="0"/>
              <a:t>Suppose we want to select a simple random sample of 200 students from a school. Here, we can assign a number to every student in the school database from 1 to 500 and use a random number generator to select a sample of 200 numbers.</a:t>
            </a:r>
          </a:p>
          <a:p>
            <a:endParaRPr lang="en-US" dirty="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Systematic Sampling</a:t>
            </a:r>
            <a:endParaRPr lang="en-US"/>
          </a:p>
        </p:txBody>
      </p:sp>
      <p:sp>
        <p:nvSpPr>
          <p:cNvPr id="3" name="Content Placeholder 2"/>
          <p:cNvSpPr>
            <a:spLocks noGrp="1"/>
          </p:cNvSpPr>
          <p:nvPr>
            <p:ph idx="1"/>
          </p:nvPr>
        </p:nvSpPr>
        <p:spPr/>
        <p:txBody>
          <a:bodyPr>
            <a:normAutofit fontScale="90000"/>
          </a:bodyPr>
          <a:lstStyle/>
          <a:p>
            <a:pPr algn="just"/>
            <a:r>
              <a:rPr lang="en-US" dirty="0"/>
              <a:t>In the systematic sampling method, the items are selected from the target population by selecting the random selection point and selecting the other methods after a fixed sample interval. It is calculated by dividing the total population size by the desired population size.</a:t>
            </a:r>
          </a:p>
          <a:p>
            <a:endParaRPr lang="en-US" dirty="0"/>
          </a:p>
          <a:p>
            <a:r>
              <a:rPr lang="en-US" dirty="0"/>
              <a:t>Example:</a:t>
            </a:r>
          </a:p>
          <a:p>
            <a:pPr marL="0" indent="457200" algn="just">
              <a:buNone/>
            </a:pPr>
            <a:r>
              <a:rPr lang="en-US" dirty="0"/>
              <a:t>Suppose the names of 300 students of a school are sorted in the reverse alphabetical order. To select a sample in a systematic sampling method, we have to choose some 15 students by randomly selecting a starting number, say 5.  From number 5 onwards, will select every 15th person from the sorted list. Finally, we can end up with a sample of some students.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Stratified Sampling</a:t>
            </a:r>
            <a:endParaRPr lang="en-US"/>
          </a:p>
        </p:txBody>
      </p:sp>
      <p:sp>
        <p:nvSpPr>
          <p:cNvPr id="3" name="Content Placeholder 2"/>
          <p:cNvSpPr>
            <a:spLocks noGrp="1"/>
          </p:cNvSpPr>
          <p:nvPr>
            <p:ph idx="1"/>
          </p:nvPr>
        </p:nvSpPr>
        <p:spPr/>
        <p:txBody>
          <a:bodyPr>
            <a:normAutofit lnSpcReduction="10000"/>
          </a:bodyPr>
          <a:lstStyle/>
          <a:p>
            <a:pPr algn="just"/>
            <a:r>
              <a:rPr lang="en-US" dirty="0"/>
              <a:t>In a stratified sampling method, the total population is divided into smaller groups to complete the sampling process. The small group is formed based on a few characteristics in the population. After separating the population into a smaller group, the statisticians randomly select the sample.</a:t>
            </a:r>
          </a:p>
          <a:p>
            <a:endParaRPr lang="en-US" dirty="0"/>
          </a:p>
          <a:p>
            <a:pPr algn="just"/>
            <a:r>
              <a:rPr lang="en-US" dirty="0"/>
              <a:t>For example,  there are three bags (A, B and C), each with different balls. Bag A has 50 balls, bag B has 100 balls, and bag C has 200 balls. We have to choose a sample of balls from each bag proportionally. Suppose 5 balls from bag A, 10 balls from bag B and 20 balls from bag C.</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Clustered Sampling</a:t>
            </a:r>
            <a:endParaRPr lang="en-US"/>
          </a:p>
        </p:txBody>
      </p:sp>
      <p:sp>
        <p:nvSpPr>
          <p:cNvPr id="3" name="Content Placeholder 2"/>
          <p:cNvSpPr>
            <a:spLocks noGrp="1"/>
          </p:cNvSpPr>
          <p:nvPr>
            <p:ph idx="1"/>
          </p:nvPr>
        </p:nvSpPr>
        <p:spPr/>
        <p:txBody>
          <a:bodyPr>
            <a:normAutofit fontScale="90000"/>
          </a:bodyPr>
          <a:lstStyle/>
          <a:p>
            <a:pPr algn="just"/>
            <a:r>
              <a:rPr lang="en-US" dirty="0"/>
              <a:t>In the clustered sampling method, the cluster or group of people are formed from the population set. The group has similar </a:t>
            </a:r>
            <a:r>
              <a:rPr lang="en-US" dirty="0" err="1"/>
              <a:t>significatory</a:t>
            </a:r>
            <a:r>
              <a:rPr lang="en-US" dirty="0"/>
              <a:t> characteristics. Also, they have an equal chance of being a part of the sample. This method uses simple random sampling for the cluster of population.</a:t>
            </a:r>
          </a:p>
          <a:p>
            <a:endParaRPr lang="en-US" dirty="0"/>
          </a:p>
          <a:p>
            <a:r>
              <a:rPr lang="en-US" dirty="0"/>
              <a:t>Example:</a:t>
            </a:r>
          </a:p>
          <a:p>
            <a:pPr marL="0" indent="457200" algn="just">
              <a:buNone/>
            </a:pPr>
            <a:r>
              <a:rPr lang="en-US" dirty="0"/>
              <a:t>An educational institution has ten branches across the country with almost the number of students. If we want to collect some data regarding facilities and other things, we can’t travel to every unit to collect the required data. Hence, we can use random sampling to select three or four branches as clusters.</a:t>
            </a:r>
          </a:p>
          <a:p>
            <a:endParaRPr lang="en-US" dirty="0"/>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5" name="Content Placeholder 4"/>
          <p:cNvGraphicFramePr>
            <a:graphicFrameLocks/>
          </p:cNvGraphicFramePr>
          <p:nvPr>
            <p:ph idx="1"/>
          </p:nvPr>
        </p:nvGraphicFramePr>
        <p:xfrm>
          <a:off x="838200" y="365125"/>
          <a:ext cx="10076180" cy="6176645"/>
        </p:xfrm>
        <a:graphic>
          <a:graphicData uri="http://schemas.openxmlformats.org/presentationml/2006/ole">
            <p:oleObj spid="_x0000_s20481" r:id="rId3" imgW="6087325" imgH="4409524" progId="PBrush">
              <p:embed/>
            </p:oleObj>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What is Non-Probability Sampling?</a:t>
            </a:r>
            <a:endParaRPr lang="en-US"/>
          </a:p>
        </p:txBody>
      </p:sp>
      <p:sp>
        <p:nvSpPr>
          <p:cNvPr id="3" name="Content Placeholder 2"/>
          <p:cNvSpPr>
            <a:spLocks noGrp="1"/>
          </p:cNvSpPr>
          <p:nvPr>
            <p:ph idx="1"/>
          </p:nvPr>
        </p:nvSpPr>
        <p:spPr/>
        <p:txBody>
          <a:bodyPr>
            <a:normAutofit/>
          </a:bodyPr>
          <a:lstStyle/>
          <a:p>
            <a:pPr algn="just"/>
            <a:r>
              <a:rPr lang="en-US" dirty="0"/>
              <a:t>The non-probability sampling method is a technique in which the researcher selects the sample based on subjective judgment rather than the random selection. In this method, not all the members of the population have a chance to participate in the study.</a:t>
            </a:r>
          </a:p>
          <a:p>
            <a:pPr algn="just"/>
            <a:endParaRPr lang="en-US" dirty="0"/>
          </a:p>
          <a:p>
            <a:pPr algn="just"/>
            <a:r>
              <a:rPr lang="en-US" dirty="0"/>
              <a:t>Non-Probability Sampling Types: Non-probability Sampling methods are further classified into different types, such as convenience sampling, consecutive sampling, quota sampling, judgmental sampling, snowball sampling.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Convenience Sampling</a:t>
            </a:r>
            <a:endParaRPr lang="en-US"/>
          </a:p>
        </p:txBody>
      </p:sp>
      <p:sp>
        <p:nvSpPr>
          <p:cNvPr id="3" name="Content Placeholder 2"/>
          <p:cNvSpPr>
            <a:spLocks noGrp="1"/>
          </p:cNvSpPr>
          <p:nvPr>
            <p:ph idx="1"/>
          </p:nvPr>
        </p:nvSpPr>
        <p:spPr/>
        <p:txBody>
          <a:bodyPr>
            <a:normAutofit fontScale="90000" lnSpcReduction="10000"/>
          </a:bodyPr>
          <a:lstStyle/>
          <a:p>
            <a:pPr algn="just"/>
            <a:r>
              <a:rPr lang="en-US" dirty="0"/>
              <a:t>In a convenience sampling method, the samples are selected from the population directly because they are conveniently available for the researcher. </a:t>
            </a:r>
            <a:endParaRPr lang="en-US" dirty="0" smtClean="0"/>
          </a:p>
          <a:p>
            <a:pPr algn="just"/>
            <a:r>
              <a:rPr lang="en-US" dirty="0" smtClean="0"/>
              <a:t>The </a:t>
            </a:r>
            <a:r>
              <a:rPr lang="en-US" dirty="0"/>
              <a:t>samples are easy to select, and the researcher did not choose the sample that outlines the entire population.</a:t>
            </a:r>
          </a:p>
          <a:p>
            <a:pPr algn="just"/>
            <a:endParaRPr lang="en-US" dirty="0"/>
          </a:p>
          <a:p>
            <a:pPr algn="just"/>
            <a:r>
              <a:rPr lang="en-US" dirty="0"/>
              <a:t>Example:</a:t>
            </a:r>
          </a:p>
          <a:p>
            <a:pPr marL="0" indent="0" algn="just">
              <a:buNone/>
            </a:pPr>
            <a:r>
              <a:rPr lang="en-US" dirty="0"/>
              <a:t> 	In researching customer support services in a particular region, we ask your few customers to complete a survey on the products after the purchase. This is a convenient way to collect data. Still, as we only surveyed customers taking the same product. At the same time, the sample is not representative of all the customers in that area.</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Consecutive Sampling</a:t>
            </a:r>
            <a:endParaRPr lang="en-US" dirty="0"/>
          </a:p>
        </p:txBody>
      </p:sp>
      <p:sp>
        <p:nvSpPr>
          <p:cNvPr id="3" name="Content Placeholder 2"/>
          <p:cNvSpPr>
            <a:spLocks noGrp="1"/>
          </p:cNvSpPr>
          <p:nvPr>
            <p:ph idx="1"/>
          </p:nvPr>
        </p:nvSpPr>
        <p:spPr/>
        <p:txBody>
          <a:bodyPr/>
          <a:lstStyle/>
          <a:p>
            <a:pPr algn="just"/>
            <a:r>
              <a:rPr lang="en-US" dirty="0"/>
              <a:t>Consecutive sampling is similar to convenience sampling with a slight variation. </a:t>
            </a:r>
            <a:endParaRPr lang="en-US" dirty="0" smtClean="0"/>
          </a:p>
          <a:p>
            <a:pPr algn="just"/>
            <a:r>
              <a:rPr lang="en-US" dirty="0" smtClean="0"/>
              <a:t>The </a:t>
            </a:r>
            <a:r>
              <a:rPr lang="en-US" dirty="0"/>
              <a:t>researcher picks a single person or a group of people for sampling. </a:t>
            </a:r>
            <a:endParaRPr lang="en-US" dirty="0" smtClean="0"/>
          </a:p>
          <a:p>
            <a:pPr algn="just"/>
            <a:r>
              <a:rPr lang="en-US" dirty="0" smtClean="0"/>
              <a:t>Then </a:t>
            </a:r>
            <a:r>
              <a:rPr lang="en-US" dirty="0"/>
              <a:t>the researcher researches for a period of time to analyze the result and move to another group if needed.</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Quota Sampling</a:t>
            </a:r>
            <a:endParaRPr lang="en-US"/>
          </a:p>
        </p:txBody>
      </p:sp>
      <p:sp>
        <p:nvSpPr>
          <p:cNvPr id="3" name="Content Placeholder 2"/>
          <p:cNvSpPr>
            <a:spLocks noGrp="1"/>
          </p:cNvSpPr>
          <p:nvPr>
            <p:ph idx="1"/>
          </p:nvPr>
        </p:nvSpPr>
        <p:spPr/>
        <p:txBody>
          <a:bodyPr/>
          <a:lstStyle/>
          <a:p>
            <a:pPr algn="just"/>
            <a:r>
              <a:rPr lang="en-US" dirty="0"/>
              <a:t>In the quota sampling method, the researcher forms a sample that involves the individuals to represent the population based on specific traits or qualities. </a:t>
            </a:r>
            <a:endParaRPr lang="en-US" dirty="0" smtClean="0"/>
          </a:p>
          <a:p>
            <a:pPr algn="just"/>
            <a:r>
              <a:rPr lang="en-US" dirty="0" smtClean="0"/>
              <a:t>The </a:t>
            </a:r>
            <a:r>
              <a:rPr lang="en-US" dirty="0"/>
              <a:t>researcher chooses the sample subsets that bring the useful collection of data that generalizes the entire population.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Purposive or Judgmental Sampling</a:t>
            </a:r>
            <a:endParaRPr lang="en-US"/>
          </a:p>
        </p:txBody>
      </p:sp>
      <p:sp>
        <p:nvSpPr>
          <p:cNvPr id="3" name="Content Placeholder 2"/>
          <p:cNvSpPr>
            <a:spLocks noGrp="1"/>
          </p:cNvSpPr>
          <p:nvPr>
            <p:ph idx="1"/>
          </p:nvPr>
        </p:nvSpPr>
        <p:spPr/>
        <p:txBody>
          <a:bodyPr/>
          <a:lstStyle/>
          <a:p>
            <a:pPr algn="just"/>
            <a:r>
              <a:rPr lang="en-US" dirty="0"/>
              <a:t>In purposive sampling, the samples are selected only based on the researcher’s knowledge. </a:t>
            </a:r>
            <a:endParaRPr lang="en-US" dirty="0" smtClean="0"/>
          </a:p>
          <a:p>
            <a:pPr algn="just"/>
            <a:r>
              <a:rPr lang="en-US" dirty="0" smtClean="0"/>
              <a:t>As </a:t>
            </a:r>
            <a:r>
              <a:rPr lang="en-US" dirty="0"/>
              <a:t>their knowledge is instrumental in creating the samples, there are the chances of obtaining highly accurate answers with a minimum marginal error. </a:t>
            </a:r>
            <a:endParaRPr lang="en-US" dirty="0" smtClean="0"/>
          </a:p>
          <a:p>
            <a:pPr algn="just"/>
            <a:r>
              <a:rPr lang="en-US" dirty="0" smtClean="0"/>
              <a:t>It </a:t>
            </a:r>
            <a:r>
              <a:rPr lang="en-US" dirty="0"/>
              <a:t>is also known as judgmental sampling or authoritative sampling.</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Snowball Sampling</a:t>
            </a:r>
            <a:endParaRPr lang="en-US"/>
          </a:p>
        </p:txBody>
      </p:sp>
      <p:sp>
        <p:nvSpPr>
          <p:cNvPr id="3" name="Content Placeholder 2"/>
          <p:cNvSpPr>
            <a:spLocks noGrp="1"/>
          </p:cNvSpPr>
          <p:nvPr>
            <p:ph idx="1"/>
          </p:nvPr>
        </p:nvSpPr>
        <p:spPr/>
        <p:txBody>
          <a:bodyPr/>
          <a:lstStyle/>
          <a:p>
            <a:pPr algn="just"/>
            <a:r>
              <a:rPr lang="en-US" dirty="0"/>
              <a:t>Snowball sampling is also known as a chain-referral sampling technique. </a:t>
            </a:r>
            <a:endParaRPr lang="en-US" dirty="0" smtClean="0"/>
          </a:p>
          <a:p>
            <a:pPr algn="just"/>
            <a:r>
              <a:rPr lang="en-US" dirty="0" smtClean="0"/>
              <a:t>In </a:t>
            </a:r>
            <a:r>
              <a:rPr lang="en-US" dirty="0"/>
              <a:t>this method, the samples have traits that are difficult to find. So, each identified member of a population is asked to find the other sampling units</a:t>
            </a:r>
            <a:r>
              <a:rPr lang="en-US"/>
              <a:t>. </a:t>
            </a:r>
            <a:r>
              <a:rPr lang="en-US" smtClean="0"/>
              <a:t>Those </a:t>
            </a:r>
            <a:r>
              <a:rPr lang="en-US" dirty="0"/>
              <a:t>sampling units also belong to the same targeted population.</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sampling error?</a:t>
            </a:r>
          </a:p>
        </p:txBody>
      </p:sp>
      <p:graphicFrame>
        <p:nvGraphicFramePr>
          <p:cNvPr id="4" name="Content Placeholder 3"/>
          <p:cNvGraphicFramePr>
            <a:graphicFrameLocks/>
          </p:cNvGraphicFramePr>
          <p:nvPr>
            <p:ph idx="1"/>
          </p:nvPr>
        </p:nvGraphicFramePr>
        <p:xfrm>
          <a:off x="3486785" y="3429000"/>
          <a:ext cx="5524500" cy="2971800"/>
        </p:xfrm>
        <a:graphic>
          <a:graphicData uri="http://schemas.openxmlformats.org/presentationml/2006/ole">
            <p:oleObj spid="_x0000_s26625" r:id="rId3" imgW="5525271" imgH="2971429" progId="PBrush">
              <p:embed/>
            </p:oleObj>
          </a:graphicData>
        </a:graphic>
      </p:graphicFrame>
      <p:sp>
        <p:nvSpPr>
          <p:cNvPr id="6" name="Text Box 5"/>
          <p:cNvSpPr txBox="1"/>
          <p:nvPr/>
        </p:nvSpPr>
        <p:spPr>
          <a:xfrm>
            <a:off x="838200" y="1531620"/>
            <a:ext cx="10880725" cy="1502410"/>
          </a:xfrm>
          <a:prstGeom prst="rect">
            <a:avLst/>
          </a:prstGeom>
          <a:noFill/>
        </p:spPr>
        <p:txBody>
          <a:bodyPr wrap="square" rtlCol="0" anchor="t">
            <a:noAutofit/>
          </a:bodyPr>
          <a:lstStyle/>
          <a:p>
            <a:pPr algn="just"/>
            <a:r>
              <a:rPr lang="en-US" sz="2800"/>
              <a:t>A sampling error is a statistical error that occurs when an analyst does not select a sample that represents the entire population of data. As a result, the results found in the sample do not represent the results that would be obtained from the entire population.</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Purpose and Types</a:t>
            </a:r>
          </a:p>
        </p:txBody>
      </p:sp>
      <p:sp>
        <p:nvSpPr>
          <p:cNvPr id="3" name="Content Placeholder 2"/>
          <p:cNvSpPr>
            <a:spLocks noGrp="1"/>
          </p:cNvSpPr>
          <p:nvPr>
            <p:ph idx="1"/>
          </p:nvPr>
        </p:nvSpPr>
        <p:spPr/>
        <p:txBody>
          <a:bodyPr>
            <a:normAutofit fontScale="92500" lnSpcReduction="10000"/>
          </a:bodyPr>
          <a:lstStyle/>
          <a:p>
            <a:pPr algn="just"/>
            <a:r>
              <a:rPr lang="en-US" dirty="0"/>
              <a:t>A sampling error occurs when the sample used in the study is not representative of the whole population. </a:t>
            </a:r>
          </a:p>
          <a:p>
            <a:pPr algn="just"/>
            <a:r>
              <a:rPr lang="en-US" dirty="0"/>
              <a:t>Sampling is an analysis performed by selecting a number of observations from a larger population.</a:t>
            </a:r>
          </a:p>
          <a:p>
            <a:pPr algn="just"/>
            <a:r>
              <a:rPr lang="en-US" dirty="0"/>
              <a:t>Even randomized samples will have some degree of sampling error because a sample is only an approximation of the population from which it is drawn.</a:t>
            </a:r>
          </a:p>
          <a:p>
            <a:pPr algn="just"/>
            <a:r>
              <a:rPr lang="en-US" dirty="0"/>
              <a:t>The prevalence of sampling errors can be reduced by increasing the sample size.</a:t>
            </a:r>
          </a:p>
          <a:p>
            <a:pPr algn="just"/>
            <a:r>
              <a:rPr lang="en-US" dirty="0"/>
              <a:t>In general, sampling errors can be placed into four categories: population-specific error, selection error, sample frame error, or non-response error.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Understanding Sampling Errors</a:t>
            </a:r>
            <a:endParaRPr lang="en-US"/>
          </a:p>
        </p:txBody>
      </p:sp>
      <p:sp>
        <p:nvSpPr>
          <p:cNvPr id="3" name="Content Placeholder 2"/>
          <p:cNvSpPr>
            <a:spLocks noGrp="1"/>
          </p:cNvSpPr>
          <p:nvPr>
            <p:ph idx="1"/>
          </p:nvPr>
        </p:nvSpPr>
        <p:spPr/>
        <p:txBody>
          <a:bodyPr>
            <a:normAutofit/>
          </a:bodyPr>
          <a:lstStyle/>
          <a:p>
            <a:pPr algn="just"/>
            <a:r>
              <a:rPr lang="en-US" dirty="0"/>
              <a:t>A sampling error is a deviation in the sampled value versus the true population value</a:t>
            </a:r>
            <a:r>
              <a:rPr lang="en-US" dirty="0" smtClean="0"/>
              <a:t>.</a:t>
            </a:r>
          </a:p>
          <a:p>
            <a:pPr algn="just"/>
            <a:r>
              <a:rPr lang="en-US" dirty="0" smtClean="0"/>
              <a:t>Sampling </a:t>
            </a:r>
            <a:r>
              <a:rPr lang="en-US" dirty="0"/>
              <a:t>errors occur because the sample is not representative of the population or is biased in some way. </a:t>
            </a:r>
            <a:endParaRPr lang="en-US" dirty="0" smtClean="0"/>
          </a:p>
          <a:p>
            <a:pPr algn="just"/>
            <a:r>
              <a:rPr lang="en-US" dirty="0" smtClean="0"/>
              <a:t>Even </a:t>
            </a:r>
            <a:r>
              <a:rPr lang="en-US" dirty="0"/>
              <a:t>randomized samples will have some degree of sampling error because a sample is only an approximation of the population from which it is drawn.</a:t>
            </a:r>
          </a:p>
          <a:p>
            <a:pPr algn="just"/>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Calculating Sampling Error</a:t>
            </a:r>
            <a:endParaRPr lang="en-US"/>
          </a:p>
        </p:txBody>
      </p:sp>
      <p:sp>
        <p:nvSpPr>
          <p:cNvPr id="3" name="Content Placeholder 2"/>
          <p:cNvSpPr>
            <a:spLocks noGrp="1"/>
          </p:cNvSpPr>
          <p:nvPr>
            <p:ph sz="half" idx="1"/>
          </p:nvPr>
        </p:nvSpPr>
        <p:spPr>
          <a:xfrm>
            <a:off x="838200" y="1501775"/>
            <a:ext cx="10688955" cy="2732405"/>
          </a:xfrm>
        </p:spPr>
        <p:txBody>
          <a:bodyPr/>
          <a:lstStyle/>
          <a:p>
            <a:pPr algn="just"/>
            <a:r>
              <a:rPr lang="en-US" dirty="0">
                <a:sym typeface="+mn-ea"/>
              </a:rPr>
              <a:t>The sampling error formula is used to calculate the overall sampling error in statistical analysis. The sampling error is calculated by dividing the standard deviation of the population by the square root of the size of the sample and then multiplying the resultant with the Z-score value, which is based on the confidence interval.</a:t>
            </a:r>
            <a:endParaRPr lang="en-US" dirty="0"/>
          </a:p>
          <a:p>
            <a:endParaRPr lang="en-US" dirty="0"/>
          </a:p>
        </p:txBody>
      </p:sp>
      <p:graphicFrame>
        <p:nvGraphicFramePr>
          <p:cNvPr id="4" name="Content Placeholder 3"/>
          <p:cNvGraphicFramePr>
            <a:graphicFrameLocks/>
          </p:cNvGraphicFramePr>
          <p:nvPr>
            <p:ph sz="half" idx="2"/>
          </p:nvPr>
        </p:nvGraphicFramePr>
        <p:xfrm>
          <a:off x="3556000" y="3510115"/>
          <a:ext cx="4702175" cy="3038169"/>
        </p:xfrm>
        <a:graphic>
          <a:graphicData uri="http://schemas.openxmlformats.org/presentationml/2006/ole">
            <p:oleObj spid="_x0000_s34817" r:id="rId3" imgW="4715533" imgH="2438095" progId="PBrush">
              <p:embed/>
            </p:oleObj>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Sampling Errors</a:t>
            </a:r>
          </a:p>
        </p:txBody>
      </p:sp>
      <p:sp>
        <p:nvSpPr>
          <p:cNvPr id="5" name="Text Box 4"/>
          <p:cNvSpPr txBox="1"/>
          <p:nvPr/>
        </p:nvSpPr>
        <p:spPr>
          <a:xfrm>
            <a:off x="728980" y="1534160"/>
            <a:ext cx="10624820" cy="4638675"/>
          </a:xfrm>
          <a:prstGeom prst="rect">
            <a:avLst/>
          </a:prstGeom>
          <a:noFill/>
        </p:spPr>
        <p:txBody>
          <a:bodyPr wrap="square" rtlCol="0" anchor="t">
            <a:noAutofit/>
          </a:bodyPr>
          <a:lstStyle/>
          <a:p>
            <a:pPr algn="just"/>
            <a:r>
              <a:rPr lang="en-US" sz="2000" b="1" dirty="0"/>
              <a:t>Population-Specific Error</a:t>
            </a:r>
          </a:p>
          <a:p>
            <a:pPr algn="just"/>
            <a:r>
              <a:rPr lang="en-US" sz="2000" dirty="0"/>
              <a:t>A population-specific error occurs when a researcher doesn't understand who to survey.</a:t>
            </a:r>
          </a:p>
          <a:p>
            <a:pPr algn="just"/>
            <a:endParaRPr lang="en-US" sz="2000" dirty="0"/>
          </a:p>
          <a:p>
            <a:pPr algn="just"/>
            <a:r>
              <a:rPr lang="en-US" sz="2000" b="1" dirty="0"/>
              <a:t>Selection Error</a:t>
            </a:r>
          </a:p>
          <a:p>
            <a:pPr algn="just"/>
            <a:r>
              <a:rPr lang="en-US" sz="2000" dirty="0"/>
              <a:t>Selection error occurs when the survey is self-selected, or when only those participants who are interested in the survey respond to the questions. Researchers can attempt to overcome selection error by finding ways to encourage participation.</a:t>
            </a:r>
          </a:p>
          <a:p>
            <a:pPr algn="just"/>
            <a:endParaRPr lang="en-US" sz="2000" dirty="0"/>
          </a:p>
          <a:p>
            <a:pPr algn="just"/>
            <a:r>
              <a:rPr lang="en-US" sz="2000" b="1" dirty="0"/>
              <a:t>Sample Frame Error</a:t>
            </a:r>
          </a:p>
          <a:p>
            <a:pPr algn="just"/>
            <a:r>
              <a:rPr lang="en-US" sz="2000" dirty="0"/>
              <a:t>A sample frame error occurs when a sample is selected from the wrong population data.</a:t>
            </a:r>
          </a:p>
          <a:p>
            <a:pPr algn="just"/>
            <a:endParaRPr lang="en-US" sz="2000" dirty="0"/>
          </a:p>
          <a:p>
            <a:pPr algn="just"/>
            <a:r>
              <a:rPr lang="en-US" sz="2000" b="1" dirty="0"/>
              <a:t>Non-response Error</a:t>
            </a:r>
          </a:p>
          <a:p>
            <a:pPr algn="just"/>
            <a:r>
              <a:rPr lang="en-US" sz="2000" dirty="0"/>
              <a:t>A non-response error occurs when a useful response is not obtained from the surveys because researchers were unable to contact potential respondents (or potential respondents refused to respond).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Eliminating Sampling Errors</a:t>
            </a:r>
          </a:p>
        </p:txBody>
      </p:sp>
      <p:sp>
        <p:nvSpPr>
          <p:cNvPr id="5" name="Content Placeholder 4"/>
          <p:cNvSpPr>
            <a:spLocks noGrp="1"/>
          </p:cNvSpPr>
          <p:nvPr>
            <p:ph idx="1"/>
          </p:nvPr>
        </p:nvSpPr>
        <p:spPr/>
        <p:txBody>
          <a:bodyPr/>
          <a:lstStyle/>
          <a:p>
            <a:pPr algn="just"/>
            <a:r>
              <a:rPr lang="en-US" dirty="0"/>
              <a:t>The prevalence of sampling errors can be reduced by increasing the sample size. As the sample size increases, the sample gets closer to the actual population, which decreases the potential for deviations from the actual population. </a:t>
            </a:r>
          </a:p>
          <a:p>
            <a:pPr algn="just"/>
            <a:r>
              <a:rPr lang="en-US" dirty="0"/>
              <a:t>Researchers might attempt to reduce sampling errors by replicating their study.</a:t>
            </a:r>
          </a:p>
          <a:p>
            <a:pPr algn="just"/>
            <a:r>
              <a:rPr lang="en-US" dirty="0"/>
              <a:t>Random sampling is an additional way to minimize the occurrence of sampling errors.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90" y="97790"/>
            <a:ext cx="10515600" cy="354965"/>
          </a:xfrm>
        </p:spPr>
        <p:txBody>
          <a:bodyPr>
            <a:normAutofit fontScale="90000"/>
          </a:bodyPr>
          <a:lstStyle/>
          <a:p>
            <a:r>
              <a:rPr lang="en-US" sz="3555"/>
              <a:t>Measures of Central Tendency and Variation</a:t>
            </a:r>
          </a:p>
        </p:txBody>
      </p:sp>
      <p:graphicFrame>
        <p:nvGraphicFramePr>
          <p:cNvPr id="4" name="Content Placeholder 3"/>
          <p:cNvGraphicFramePr>
            <a:graphicFrameLocks/>
          </p:cNvGraphicFramePr>
          <p:nvPr>
            <p:ph idx="1"/>
          </p:nvPr>
        </p:nvGraphicFramePr>
        <p:xfrm>
          <a:off x="2189480" y="550545"/>
          <a:ext cx="8098790" cy="6197600"/>
        </p:xfrm>
        <a:graphic>
          <a:graphicData uri="http://schemas.openxmlformats.org/presentationml/2006/ole">
            <p:oleObj spid="_x0000_s37889" r:id="rId3" imgW="5800000" imgH="5125165" progId="PBrush">
              <p:embed/>
            </p:oleObj>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1716</Words>
  <Application>WPS Presentation</Application>
  <PresentationFormat>Custom</PresentationFormat>
  <Paragraphs>98</Paragraphs>
  <Slides>25</Slides>
  <Notes>0</Notes>
  <HiddenSlides>0</HiddenSlides>
  <MMClips>0</MMClips>
  <ScaleCrop>false</ScaleCrop>
  <HeadingPairs>
    <vt:vector size="6" baseType="variant">
      <vt:variant>
        <vt:lpstr>Theme</vt:lpstr>
      </vt:variant>
      <vt:variant>
        <vt:i4>1</vt:i4>
      </vt:variant>
      <vt:variant>
        <vt:lpstr>Embedded OLE Servers</vt:lpstr>
      </vt:variant>
      <vt:variant>
        <vt:i4>0</vt:i4>
      </vt:variant>
      <vt:variant>
        <vt:lpstr>Slide Titles</vt:lpstr>
      </vt:variant>
      <vt:variant>
        <vt:i4>25</vt:i4>
      </vt:variant>
    </vt:vector>
  </HeadingPairs>
  <TitlesOfParts>
    <vt:vector size="26" baseType="lpstr">
      <vt:lpstr>Office Theme</vt:lpstr>
      <vt:lpstr>Sampling</vt:lpstr>
      <vt:lpstr>What Is Sampling?</vt:lpstr>
      <vt:lpstr>Purpose of Sampling</vt:lpstr>
      <vt:lpstr>Process of Sampling</vt:lpstr>
      <vt:lpstr>Slide 5</vt:lpstr>
      <vt:lpstr>Types of Sampling Method</vt:lpstr>
      <vt:lpstr>What is Probability Sampling?</vt:lpstr>
      <vt:lpstr>Simple Random Sampling</vt:lpstr>
      <vt:lpstr>Systematic Sampling</vt:lpstr>
      <vt:lpstr>Stratified Sampling</vt:lpstr>
      <vt:lpstr>Clustered Sampling</vt:lpstr>
      <vt:lpstr>Slide 12</vt:lpstr>
      <vt:lpstr>What is Non-Probability Sampling?</vt:lpstr>
      <vt:lpstr>Convenience Sampling</vt:lpstr>
      <vt:lpstr>Consecutive Sampling</vt:lpstr>
      <vt:lpstr>Quota Sampling</vt:lpstr>
      <vt:lpstr>Purposive or Judgmental Sampling</vt:lpstr>
      <vt:lpstr>Snowball Sampling</vt:lpstr>
      <vt:lpstr>What is sampling error?</vt:lpstr>
      <vt:lpstr>Purpose and Types</vt:lpstr>
      <vt:lpstr>Understanding Sampling Errors</vt:lpstr>
      <vt:lpstr>Calculating Sampling Error</vt:lpstr>
      <vt:lpstr>Types of Sampling Errors</vt:lpstr>
      <vt:lpstr>Eliminating Sampling Errors</vt:lpstr>
      <vt:lpstr>Measures of Central Tendency and Variation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Sampling</dc:title>
  <dc:creator>cs</dc:creator>
  <cp:lastModifiedBy>A</cp:lastModifiedBy>
  <cp:revision>23</cp:revision>
  <dcterms:created xsi:type="dcterms:W3CDTF">2023-11-08T07:08:00Z</dcterms:created>
  <dcterms:modified xsi:type="dcterms:W3CDTF">2025-10-16T07:42:13Z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04AC5B803E0F4F92AA38F88A9B9A828C_13</vt:lpwstr>
  </property>
  <property fmtid="{D5CDD505-2E9C-101B-9397-08002B2CF9AE}" pid="3" name="KSOProductBuildVer">
    <vt:lpwstr>1033-12.2.0.13266</vt:lpwstr>
  </property>
</Properties>
</file>