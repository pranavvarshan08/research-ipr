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0" roundtripDataSignature="AMtx7mjduVlNXccQCB/6UvyQ8xvcLX8e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p:nvPr>
            <p:ph idx="2" type="pic"/>
          </p:nvPr>
        </p:nvSpPr>
        <p:spPr>
          <a:xfrm>
            <a:off x="5183188" y="987425"/>
            <a:ext cx="6172200" cy="4873625"/>
          </a:xfrm>
          <a:prstGeom prst="rect">
            <a:avLst/>
          </a:prstGeom>
          <a:noFill/>
          <a:ln>
            <a:noFill/>
          </a:ln>
        </p:spPr>
      </p:sp>
      <p:sp>
        <p:nvSpPr>
          <p:cNvPr id="64" name="Google Shape;64;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424605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Times New Roman"/>
              <a:buNone/>
            </a:pPr>
            <a:r>
              <a:rPr b="1" lang="en-US">
                <a:latin typeface="Times New Roman"/>
                <a:ea typeface="Times New Roman"/>
                <a:cs typeface="Times New Roman"/>
                <a:sym typeface="Times New Roman"/>
              </a:rPr>
              <a:t>RM5151 </a:t>
            </a:r>
            <a:br>
              <a:rPr b="1" lang="en-US">
                <a:latin typeface="Times New Roman"/>
                <a:ea typeface="Times New Roman"/>
                <a:cs typeface="Times New Roman"/>
                <a:sym typeface="Times New Roman"/>
              </a:rPr>
            </a:b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RESEARCH METHODOLOGY AND IPR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1029929" y="241515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000"/>
              <a:buFont typeface="Times New Roman"/>
              <a:buNone/>
            </a:pPr>
            <a:r>
              <a:rPr b="1" lang="en-US" sz="5000">
                <a:latin typeface="Times New Roman"/>
                <a:ea typeface="Times New Roman"/>
                <a:cs typeface="Times New Roman"/>
                <a:sym typeface="Times New Roman"/>
              </a:rPr>
              <a:t>RESEARCH PROBLEM</a:t>
            </a:r>
            <a:endParaRPr b="1" sz="5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Meaning of Research Problem</a:t>
            </a:r>
            <a:endParaRPr b="1">
              <a:latin typeface="Times New Roman"/>
              <a:ea typeface="Times New Roman"/>
              <a:cs typeface="Times New Roman"/>
              <a:sym typeface="Times New Roman"/>
            </a:endParaRPr>
          </a:p>
        </p:txBody>
      </p:sp>
      <p:sp>
        <p:nvSpPr>
          <p:cNvPr id="95" name="Google Shape;95;p3"/>
          <p:cNvSpPr txBox="1"/>
          <p:nvPr>
            <p:ph idx="1" type="body"/>
          </p:nvPr>
        </p:nvSpPr>
        <p:spPr>
          <a:xfrm>
            <a:off x="838200" y="1312606"/>
            <a:ext cx="10515600" cy="4864357"/>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The formulation of a research problem is the first and most important step of the research process.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It is like the identification of a destination before undertaking a journey. In the absence of a destination, it is impossible to identify the shortest – or indeed any – route.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Similarly, in the absence of a clear research problem, a clear and economical plan is impossible.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To use another analogy, a research problem is like the foundation of a building. The type and design of the building are dependent upon the foundation.</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 If the foundation is well designed and strong you can expect the building to be also.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research problem serves as the foundation of a research study: if it is well formulated, you can expect a good research work.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Meaning of Research Problem</a:t>
            </a:r>
            <a:endParaRPr b="1">
              <a:latin typeface="Times New Roman"/>
              <a:ea typeface="Times New Roman"/>
              <a:cs typeface="Times New Roman"/>
              <a:sym typeface="Times New Roman"/>
            </a:endParaRPr>
          </a:p>
        </p:txBody>
      </p:sp>
      <p:sp>
        <p:nvSpPr>
          <p:cNvPr id="101" name="Google Shape;101;p4"/>
          <p:cNvSpPr txBox="1"/>
          <p:nvPr>
            <p:ph idx="1" type="body"/>
          </p:nvPr>
        </p:nvSpPr>
        <p:spPr>
          <a:xfrm>
            <a:off x="838200" y="1312606"/>
            <a:ext cx="10515600" cy="4864357"/>
          </a:xfrm>
          <a:prstGeom prst="rect">
            <a:avLst/>
          </a:prstGeom>
          <a:noFill/>
          <a:ln>
            <a:noFill/>
          </a:ln>
        </p:spPr>
        <p:txBody>
          <a:bodyPr anchorCtr="0" anchor="t" bIns="45700" lIns="91425" spcFirstLastPara="1" rIns="91425" wrap="square" tIns="45700">
            <a:normAutofit fontScale="92500"/>
          </a:bodyPr>
          <a:lstStyle/>
          <a:p>
            <a:pPr indent="-228600" lvl="0" marL="228600" rtl="0" algn="just">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According to Kerlinger: “If one wants to solve a problem, one must generally know what the problem is. It can be said that a large part of the problem lies in knowing what one is trying to do (1986: 17)”</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A research problem may take a number of forms, from the very simple to the very complex.</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way you formulate a problem determines almost every step that follows: the type of study design that can be used; the type of sampling strategy that can be employed; the research instrument that can be used or developed; and the type of analysis that can be undertaken.</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formulation of a problem is like the ‘input’ to a study, and the ‘output’ – the quality of the contents of the research report and the validity of the associations– is entirely dependent upon 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Meaning of Research Problem</a:t>
            </a:r>
            <a:endParaRPr b="1">
              <a:latin typeface="Times New Roman"/>
              <a:ea typeface="Times New Roman"/>
              <a:cs typeface="Times New Roman"/>
              <a:sym typeface="Times New Roman"/>
            </a:endParaRPr>
          </a:p>
        </p:txBody>
      </p:sp>
      <p:sp>
        <p:nvSpPr>
          <p:cNvPr id="107" name="Google Shape;107;p5"/>
          <p:cNvSpPr txBox="1"/>
          <p:nvPr>
            <p:ph idx="1" type="body"/>
          </p:nvPr>
        </p:nvSpPr>
        <p:spPr>
          <a:xfrm>
            <a:off x="838200" y="1312606"/>
            <a:ext cx="10515600" cy="4864357"/>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Suppose your area of interest is depression. Further suppose you want to conduct a research study regarding services available to patients with depression living in a community.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If your focus is to find out the types of service available to patients with depression, the study will dominantly be descriptive and qualitative in nature.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These types of studies fall in the category of qualitative research and are carried out using qualitative research methodologies.</a:t>
            </a:r>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On the other hand, if you want to find out the extent of use of these services, that is the number of people using them, it will dominantly use quantitative methodologies even though it is descriptive in nature describing the number of people using a service.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txBox="1"/>
          <p:nvPr>
            <p:ph type="title"/>
          </p:nvPr>
        </p:nvSpPr>
        <p:spPr>
          <a:xfrm>
            <a:off x="779207" y="250364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Sources of Research Problems</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Sources of research problems</a:t>
            </a:r>
            <a:endParaRPr/>
          </a:p>
        </p:txBody>
      </p:sp>
      <p:sp>
        <p:nvSpPr>
          <p:cNvPr id="118" name="Google Shape;118;p7"/>
          <p:cNvSpPr txBox="1"/>
          <p:nvPr>
            <p:ph idx="1" type="body"/>
          </p:nvPr>
        </p:nvSpPr>
        <p:spPr>
          <a:xfrm>
            <a:off x="838200" y="1312606"/>
            <a:ext cx="10515600" cy="486435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This is about particular relevance if you have not yet selected a research topic and do not know where to start.</a:t>
            </a:r>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If you have already selected your topic or question, go to the next section.</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Most research in the humanities revolves around four Ps:</a:t>
            </a:r>
            <a:endParaRPr/>
          </a:p>
          <a:p>
            <a:pPr indent="-515937" lvl="0" marL="1371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People;</a:t>
            </a:r>
            <a:endParaRPr/>
          </a:p>
          <a:p>
            <a:pPr indent="-515937" lvl="0" marL="1371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Problems;</a:t>
            </a:r>
            <a:endParaRPr/>
          </a:p>
          <a:p>
            <a:pPr indent="-515937" lvl="0" marL="1371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Programmes;</a:t>
            </a:r>
            <a:endParaRPr/>
          </a:p>
          <a:p>
            <a:pPr indent="-515937" lvl="0" marL="1371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Phenomena.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Sources of research problems</a:t>
            </a:r>
            <a:endParaRPr/>
          </a:p>
        </p:txBody>
      </p:sp>
      <p:sp>
        <p:nvSpPr>
          <p:cNvPr id="124" name="Google Shape;124;p8"/>
          <p:cNvSpPr txBox="1"/>
          <p:nvPr>
            <p:ph idx="1" type="body"/>
          </p:nvPr>
        </p:nvSpPr>
        <p:spPr>
          <a:xfrm>
            <a:off x="838200" y="1312606"/>
            <a:ext cx="10515600" cy="5353665"/>
          </a:xfrm>
          <a:prstGeom prst="rect">
            <a:avLst/>
          </a:prstGeom>
          <a:noFill/>
          <a:ln>
            <a:noFill/>
          </a:ln>
        </p:spPr>
        <p:txBody>
          <a:bodyPr anchorCtr="0" anchor="t" bIns="45700" lIns="91425" spcFirstLastPara="1" rIns="91425" wrap="square" tIns="45700">
            <a:normAutofit/>
          </a:bodyPr>
          <a:lstStyle/>
          <a:p>
            <a:pPr indent="-457200" lvl="0" marL="457200" rtl="0" algn="just">
              <a:lnSpc>
                <a:spcPct val="90000"/>
              </a:lnSpc>
              <a:spcBef>
                <a:spcPts val="0"/>
              </a:spcBef>
              <a:spcAft>
                <a:spcPts val="0"/>
              </a:spcAft>
              <a:buClr>
                <a:schemeClr val="dk1"/>
              </a:buClr>
              <a:buSzPts val="2800"/>
              <a:buFont typeface="Times New Roman"/>
              <a:buChar char="•"/>
            </a:pPr>
            <a:r>
              <a:rPr lang="en-US">
                <a:latin typeface="Times New Roman"/>
                <a:ea typeface="Times New Roman"/>
                <a:cs typeface="Times New Roman"/>
                <a:sym typeface="Times New Roman"/>
              </a:rPr>
              <a:t>In practice, most research studies are based upon at least a combination of two Ps. </a:t>
            </a:r>
            <a:endParaRPr>
              <a:latin typeface="Times New Roman"/>
              <a:ea typeface="Times New Roman"/>
              <a:cs typeface="Times New Roman"/>
              <a:sym typeface="Times New Roman"/>
            </a:endParaRPr>
          </a:p>
          <a:p>
            <a:pPr indent="-457200" lvl="0" marL="457200" rtl="0" algn="just">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You may select a group of individuals (a group of individuals – or a community as such – ‘people’), to examine the existence of certain issues or problems relating to their lives, </a:t>
            </a:r>
            <a:endParaRPr>
              <a:latin typeface="Times New Roman"/>
              <a:ea typeface="Times New Roman"/>
              <a:cs typeface="Times New Roman"/>
              <a:sym typeface="Times New Roman"/>
            </a:endParaRPr>
          </a:p>
          <a:p>
            <a:pPr indent="-457200" lvl="0" marL="457200" rtl="0" algn="just">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to ascertain their attitude towards an issue (‘problem’),</a:t>
            </a:r>
            <a:endParaRPr>
              <a:latin typeface="Times New Roman"/>
              <a:ea typeface="Times New Roman"/>
              <a:cs typeface="Times New Roman"/>
              <a:sym typeface="Times New Roman"/>
            </a:endParaRPr>
          </a:p>
          <a:p>
            <a:pPr indent="-457200" lvl="0" marL="457200" rtl="0" algn="just">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to establish the existence of a regularity (‘phenomenon’) or </a:t>
            </a:r>
            <a:endParaRPr>
              <a:latin typeface="Times New Roman"/>
              <a:ea typeface="Times New Roman"/>
              <a:cs typeface="Times New Roman"/>
              <a:sym typeface="Times New Roman"/>
            </a:endParaRPr>
          </a:p>
          <a:p>
            <a:pPr indent="-457200" lvl="0" marL="457200" rtl="0" algn="just">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to evaluate the effectiveness of an intervention (‘programme’).</a:t>
            </a:r>
            <a:endParaRPr>
              <a:latin typeface="Times New Roman"/>
              <a:ea typeface="Times New Roman"/>
              <a:cs typeface="Times New Roman"/>
              <a:sym typeface="Times New Roman"/>
            </a:endParaRPr>
          </a:p>
          <a:p>
            <a:pPr indent="-457200" lvl="0" marL="457200" rtl="0" algn="just">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For example, the relationship between unemployment and street crime, smoking and cancer. </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9"/>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None/>
            </a:pPr>
            <a:r>
              <a:rPr b="1" lang="en-US" sz="4000">
                <a:latin typeface="Times New Roman"/>
                <a:ea typeface="Times New Roman"/>
                <a:cs typeface="Times New Roman"/>
                <a:sym typeface="Times New Roman"/>
              </a:rPr>
              <a:t>A</a:t>
            </a:r>
            <a:r>
              <a:rPr b="1" lang="en-US" sz="4000">
                <a:latin typeface="Times New Roman"/>
                <a:ea typeface="Times New Roman"/>
                <a:cs typeface="Times New Roman"/>
                <a:sym typeface="Times New Roman"/>
              </a:rPr>
              <a:t>spects of Research Study</a:t>
            </a:r>
            <a:endParaRPr b="1" sz="4000"/>
          </a:p>
        </p:txBody>
      </p:sp>
      <p:sp>
        <p:nvSpPr>
          <p:cNvPr id="130" name="Google Shape;130;p9"/>
          <p:cNvSpPr txBox="1"/>
          <p:nvPr>
            <p:ph idx="1" type="body"/>
          </p:nvPr>
        </p:nvSpPr>
        <p:spPr>
          <a:xfrm>
            <a:off x="838200" y="1312606"/>
            <a:ext cx="10515600" cy="535366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000"/>
              <a:buChar char="•"/>
            </a:pPr>
            <a:r>
              <a:rPr lang="en-US" sz="3000">
                <a:latin typeface="Times New Roman"/>
                <a:ea typeface="Times New Roman"/>
                <a:cs typeface="Times New Roman"/>
                <a:sym typeface="Times New Roman"/>
              </a:rPr>
              <a:t>Every research study has two aspects: the people provide you with the ‘study population’, whereas the other three Ps furnish the ‘subject areas’. </a:t>
            </a:r>
            <a:endParaRPr sz="3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3000"/>
              <a:buChar char="•"/>
            </a:pPr>
            <a:r>
              <a:rPr lang="en-US" sz="3000">
                <a:latin typeface="Times New Roman"/>
                <a:ea typeface="Times New Roman"/>
                <a:cs typeface="Times New Roman"/>
                <a:sym typeface="Times New Roman"/>
              </a:rPr>
              <a:t>Your study population – individuals, groups and communities – is the people from whom the information is collected. </a:t>
            </a:r>
            <a:endParaRPr sz="3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3000"/>
              <a:buChar char="•"/>
            </a:pPr>
            <a:r>
              <a:rPr lang="en-US" sz="3000">
                <a:latin typeface="Times New Roman"/>
                <a:ea typeface="Times New Roman"/>
                <a:cs typeface="Times New Roman"/>
                <a:sym typeface="Times New Roman"/>
              </a:rPr>
              <a:t>Your subject area is a problem, programme or phenomenon about which the information is collected.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10"/>
          <p:cNvPicPr preferRelativeResize="0"/>
          <p:nvPr>
            <p:ph idx="1" type="body"/>
          </p:nvPr>
        </p:nvPicPr>
        <p:blipFill rotWithShape="1">
          <a:blip r:embed="rId3">
            <a:alphaModFix/>
          </a:blip>
          <a:srcRect b="0" l="0" r="0" t="0"/>
          <a:stretch/>
        </p:blipFill>
        <p:spPr>
          <a:xfrm>
            <a:off x="471948" y="560439"/>
            <a:ext cx="11120284" cy="58993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Sources of research problems</a:t>
            </a:r>
            <a:endParaRPr/>
          </a:p>
        </p:txBody>
      </p:sp>
      <p:sp>
        <p:nvSpPr>
          <p:cNvPr id="141" name="Google Shape;141;p11"/>
          <p:cNvSpPr txBox="1"/>
          <p:nvPr>
            <p:ph idx="1" type="body"/>
          </p:nvPr>
        </p:nvSpPr>
        <p:spPr>
          <a:xfrm>
            <a:off x="838200" y="1312606"/>
            <a:ext cx="10515600" cy="5353665"/>
          </a:xfrm>
          <a:prstGeom prst="rect">
            <a:avLst/>
          </a:prstGeom>
          <a:noFill/>
          <a:ln>
            <a:noFill/>
          </a:ln>
        </p:spPr>
        <p:txBody>
          <a:bodyPr anchorCtr="0" anchor="t" bIns="45700" lIns="91425" spcFirstLastPara="1" rIns="91425" wrap="square" tIns="45700">
            <a:normAutofit/>
          </a:bodyPr>
          <a:lstStyle/>
          <a:p>
            <a:pPr indent="-463550" lvl="0" marL="4572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You can study a problem, a programme or a phenomenon in any academic field or from any professional perspective. </a:t>
            </a:r>
            <a:endParaRPr>
              <a:latin typeface="Times New Roman"/>
              <a:ea typeface="Times New Roman"/>
              <a:cs typeface="Times New Roman"/>
              <a:sym typeface="Times New Roman"/>
            </a:endParaRPr>
          </a:p>
          <a:p>
            <a:pPr indent="-463550" lvl="0" marL="4572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For example, you can measure the effectiveness of a programme in the field of health, education, social work, industrial management, public health, nursing, health promotion or welfare.</a:t>
            </a:r>
            <a:endParaRPr/>
          </a:p>
          <a:p>
            <a:pPr indent="-476250" lvl="0" marL="457200" rtl="0" algn="just">
              <a:lnSpc>
                <a:spcPct val="90000"/>
              </a:lnSpc>
              <a:spcBef>
                <a:spcPts val="1000"/>
              </a:spcBef>
              <a:spcAft>
                <a:spcPts val="0"/>
              </a:spcAft>
              <a:buClr>
                <a:schemeClr val="dk1"/>
              </a:buClr>
              <a:buSzPts val="3000"/>
              <a:buChar char="•"/>
            </a:pPr>
            <a:r>
              <a:rPr lang="en-US" sz="3000">
                <a:latin typeface="Times New Roman"/>
                <a:ea typeface="Times New Roman"/>
                <a:cs typeface="Times New Roman"/>
                <a:sym typeface="Times New Roman"/>
              </a:rPr>
              <a:t>The concept of 4Ps is applicable to both quantitative and qualitative research.</a:t>
            </a:r>
            <a:endParaRPr/>
          </a:p>
          <a:p>
            <a:pPr indent="-476250" lvl="0" marL="457200" rtl="0" algn="just">
              <a:lnSpc>
                <a:spcPct val="90000"/>
              </a:lnSpc>
              <a:spcBef>
                <a:spcPts val="1000"/>
              </a:spcBef>
              <a:spcAft>
                <a:spcPts val="0"/>
              </a:spcAft>
              <a:buClr>
                <a:schemeClr val="dk1"/>
              </a:buClr>
              <a:buSzPts val="3000"/>
              <a:buChar char="•"/>
            </a:pPr>
            <a:r>
              <a:rPr lang="en-US" sz="3000">
                <a:latin typeface="Times New Roman"/>
                <a:ea typeface="Times New Roman"/>
                <a:cs typeface="Times New Roman"/>
                <a:sym typeface="Times New Roman"/>
              </a:rPr>
              <a:t>The main difference at this stage is the extent of their specificity, dissection, precision, and focus.</a:t>
            </a:r>
            <a:endParaRPr/>
          </a:p>
          <a:p>
            <a:pPr indent="-38100" lvl="0" marL="228600" rtl="0" algn="just">
              <a:lnSpc>
                <a:spcPct val="90000"/>
              </a:lnSpc>
              <a:spcBef>
                <a:spcPts val="1000"/>
              </a:spcBef>
              <a:spcAft>
                <a:spcPts val="0"/>
              </a:spcAft>
              <a:buClr>
                <a:schemeClr val="dk1"/>
              </a:buClr>
              <a:buSzPts val="3000"/>
              <a:buNone/>
            </a:pPr>
            <a:r>
              <a:t/>
            </a:r>
            <a:endParaRPr sz="30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779206" y="2857603"/>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SzPct val="100000"/>
              <a:buNone/>
            </a:pPr>
            <a:r>
              <a:rPr b="1" lang="en-US">
                <a:latin typeface="Times New Roman"/>
                <a:ea typeface="Times New Roman"/>
                <a:cs typeface="Times New Roman"/>
                <a:sym typeface="Times New Roman"/>
              </a:rPr>
              <a:t>Considerations in selecting a research problem</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838200" y="365126"/>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Considerations in selecting a research problem</a:t>
            </a:r>
            <a:endParaRPr/>
          </a:p>
        </p:txBody>
      </p:sp>
      <p:sp>
        <p:nvSpPr>
          <p:cNvPr id="152" name="Google Shape;152;p25"/>
          <p:cNvSpPr txBox="1"/>
          <p:nvPr>
            <p:ph idx="1" type="body"/>
          </p:nvPr>
        </p:nvSpPr>
        <p:spPr>
          <a:xfrm>
            <a:off x="838200" y="1312606"/>
            <a:ext cx="10515600" cy="5353665"/>
          </a:xfrm>
          <a:prstGeom prst="rect">
            <a:avLst/>
          </a:prstGeom>
          <a:noFill/>
          <a:ln>
            <a:noFill/>
          </a:ln>
        </p:spPr>
        <p:txBody>
          <a:bodyPr anchorCtr="0" anchor="t" bIns="45700" lIns="91425" spcFirstLastPara="1" rIns="91425" wrap="square" tIns="45700">
            <a:normAutofit lnSpcReduction="10000"/>
          </a:bodyPr>
          <a:lstStyle/>
          <a:p>
            <a:pPr indent="0" lvl="0" marL="114300" rtl="0" algn="l">
              <a:lnSpc>
                <a:spcPct val="90000"/>
              </a:lnSpc>
              <a:spcBef>
                <a:spcPts val="1000"/>
              </a:spcBef>
              <a:spcAft>
                <a:spcPts val="0"/>
              </a:spcAft>
              <a:buSzPts val="1800"/>
              <a:buNone/>
            </a:pPr>
            <a:r>
              <a:rPr b="1" lang="en-US">
                <a:latin typeface="Times New Roman"/>
                <a:ea typeface="Times New Roman"/>
                <a:cs typeface="Times New Roman"/>
                <a:sym typeface="Times New Roman"/>
              </a:rPr>
              <a:t>Interest</a:t>
            </a:r>
            <a:r>
              <a:rPr b="1" lang="en-US"/>
              <a:t> </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Interest should be the most important consideration in selecting a research problem.</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A research endeavour is usually time consuming, and involves hard work and possibly unforeseen problems.</a:t>
            </a:r>
            <a:endParaRPr/>
          </a:p>
          <a:p>
            <a:pPr indent="0" lvl="0" marL="114300" rtl="0" algn="l">
              <a:lnSpc>
                <a:spcPct val="90000"/>
              </a:lnSpc>
              <a:spcBef>
                <a:spcPts val="1000"/>
              </a:spcBef>
              <a:spcAft>
                <a:spcPts val="0"/>
              </a:spcAft>
              <a:buSzPts val="1800"/>
              <a:buNone/>
            </a:pPr>
            <a:r>
              <a:rPr b="1" lang="en-US">
                <a:latin typeface="Times New Roman"/>
                <a:ea typeface="Times New Roman"/>
                <a:cs typeface="Times New Roman"/>
                <a:sym typeface="Times New Roman"/>
              </a:rPr>
              <a:t>Magnitude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You should have sufficient knowledge about the research process to be able to visualize the work involved in completing the proposed study.</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Narrow the topic down to something manageable, specific and clear.</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It is extremely important to select a topic that you can manage within the time and with the resources at your disposal.</a:t>
            </a:r>
            <a:endParaRPr sz="30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Considerations in selecting a research problem</a:t>
            </a:r>
            <a:endParaRPr/>
          </a:p>
        </p:txBody>
      </p:sp>
      <p:sp>
        <p:nvSpPr>
          <p:cNvPr id="158" name="Google Shape;158;p26"/>
          <p:cNvSpPr txBox="1"/>
          <p:nvPr>
            <p:ph idx="1" type="body"/>
          </p:nvPr>
        </p:nvSpPr>
        <p:spPr>
          <a:xfrm>
            <a:off x="838200" y="870156"/>
            <a:ext cx="10515600" cy="5353665"/>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a:latin typeface="Times New Roman"/>
                <a:ea typeface="Times New Roman"/>
                <a:cs typeface="Times New Roman"/>
                <a:sym typeface="Times New Roman"/>
              </a:rPr>
              <a:t>Measurement of concepts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If you are using a quantitative study, make sure you are clear about its indicators and their measurement. </a:t>
            </a:r>
            <a:endParaRPr sz="24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For example, if you plan to measure the effectiveness of a health promotion programme, you must be clear as to determines effectiveness and how it will be measured. </a:t>
            </a:r>
            <a:endParaRPr sz="24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Do not use concepts in your research problem that you are not sure how to measure</a:t>
            </a:r>
            <a:r>
              <a:rPr lang="en-US">
                <a:latin typeface="Times New Roman"/>
                <a:ea typeface="Times New Roman"/>
                <a:cs typeface="Times New Roman"/>
                <a:sym typeface="Times New Roman"/>
              </a:rPr>
              <a:t>.</a:t>
            </a:r>
            <a:endParaRPr/>
          </a:p>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Level of expertise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Make sure you have an adequate level of expertise for the task you are proposing. </a:t>
            </a:r>
            <a:endParaRPr sz="24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Learn during the study and may receive help from your research supervisor and others, but remember that you need to do most of the work yourself.</a:t>
            </a:r>
            <a:endParaRPr sz="24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Considerations in selecting a research problem</a:t>
            </a:r>
            <a:endParaRPr/>
          </a:p>
        </p:txBody>
      </p:sp>
      <p:sp>
        <p:nvSpPr>
          <p:cNvPr id="164" name="Google Shape;164;p27"/>
          <p:cNvSpPr txBox="1"/>
          <p:nvPr>
            <p:ph idx="1" type="body"/>
          </p:nvPr>
        </p:nvSpPr>
        <p:spPr>
          <a:xfrm>
            <a:off x="838200" y="870156"/>
            <a:ext cx="10515600" cy="5353665"/>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Relevance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Select a topic that is of relevance to you as a professional.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Ensure that your study adds to the existing body of knowledge, bridges current gaps or is useful in policy formulation.</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This will help you to sustain interest in the study.</a:t>
            </a:r>
            <a:endParaRPr/>
          </a:p>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Availability of data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If your topic entails collection of information from secondary sources like office records, client records, census or other already-published reports, etc., </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Make sure that this data is available and in the format you want before finalizing your topic.</a:t>
            </a:r>
            <a:endParaRPr sz="2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Considerations in selecting a research problem</a:t>
            </a:r>
            <a:endParaRPr/>
          </a:p>
        </p:txBody>
      </p:sp>
      <p:sp>
        <p:nvSpPr>
          <p:cNvPr id="170" name="Google Shape;170;p28"/>
          <p:cNvSpPr txBox="1"/>
          <p:nvPr>
            <p:ph idx="1" type="body"/>
          </p:nvPr>
        </p:nvSpPr>
        <p:spPr>
          <a:xfrm>
            <a:off x="838200" y="870156"/>
            <a:ext cx="10515600" cy="5353665"/>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a:latin typeface="Times New Roman"/>
                <a:ea typeface="Times New Roman"/>
                <a:cs typeface="Times New Roman"/>
                <a:sym typeface="Times New Roman"/>
              </a:rPr>
              <a:t>Ethical issues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Another important consideration in formulating a research problem is the ethical issues involved.</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In the research study, the study population may be adversely affected directly or indirectly.</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How ethical issues can affect the study population and how ethical problems can be overcome should be thoroughly examined at the problem-formulation stage.</a:t>
            </a:r>
            <a:endParaRPr sz="24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941439" y="269537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a:latin typeface="Times New Roman"/>
                <a:ea typeface="Times New Roman"/>
                <a:cs typeface="Times New Roman"/>
                <a:sym typeface="Times New Roman"/>
              </a:rPr>
              <a:t>Formulating a Research Problem</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181" name="Google Shape;181;p30"/>
          <p:cNvSpPr txBox="1"/>
          <p:nvPr>
            <p:ph idx="1" type="body"/>
          </p:nvPr>
        </p:nvSpPr>
        <p:spPr>
          <a:xfrm>
            <a:off x="838200" y="870156"/>
            <a:ext cx="10515600" cy="5353665"/>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The formulation of a research problem is the most crucial part of the research journey as the quality and relevance of your research project entirely depends upon it.</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The process of formulating a research problem consists of a number of steps.</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Working through these steps presupposes a reasonable level of knowledge in the subject area within which the study is to be undertaken and the research methodology itself.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A brief review of the relevant literature helps enormously in broadening this knowledge base.</a:t>
            </a:r>
            <a:endParaRPr sz="2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187" name="Google Shape;187;p31"/>
          <p:cNvSpPr txBox="1"/>
          <p:nvPr>
            <p:ph idx="1" type="body"/>
          </p:nvPr>
        </p:nvSpPr>
        <p:spPr>
          <a:xfrm>
            <a:off x="838200" y="870156"/>
            <a:ext cx="10515600" cy="5353665"/>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Step 1 : Identify a broad field or subject area of </a:t>
            </a:r>
            <a:r>
              <a:rPr b="1" i="1" lang="en-US">
                <a:latin typeface="Times New Roman"/>
                <a:ea typeface="Times New Roman"/>
                <a:cs typeface="Times New Roman"/>
                <a:sym typeface="Times New Roman"/>
              </a:rPr>
              <a:t>interest </a:t>
            </a:r>
            <a:r>
              <a:rPr b="1" lang="en-US">
                <a:latin typeface="Times New Roman"/>
                <a:ea typeface="Times New Roman"/>
                <a:cs typeface="Times New Roman"/>
                <a:sym typeface="Times New Roman"/>
              </a:rPr>
              <a:t>to you.</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Think about the field in which you would like to work after graduation.</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This will help you to find an interesting topic, and one which may be of use to you in the future.</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For example, if you are a social work student, you might take to research in one of these areas of youth welfare, refugees or domestic violence after graduation,. </a:t>
            </a:r>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Or if you are studying marketing you might be interested in researching consumer behavior.</a:t>
            </a:r>
            <a:endParaRPr sz="2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193" name="Google Shape;193;p32"/>
          <p:cNvSpPr txBox="1"/>
          <p:nvPr>
            <p:ph idx="1" type="body"/>
          </p:nvPr>
        </p:nvSpPr>
        <p:spPr>
          <a:xfrm>
            <a:off x="838200" y="870156"/>
            <a:ext cx="10515600" cy="5869857"/>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Step 2 : </a:t>
            </a:r>
            <a:r>
              <a:rPr b="1" i="1" lang="en-US"/>
              <a:t>Dissect </a:t>
            </a:r>
            <a:r>
              <a:rPr b="1" lang="en-US"/>
              <a:t>the broad area into subareas </a:t>
            </a:r>
            <a:endParaRPr b="1"/>
          </a:p>
          <a:p>
            <a:pPr indent="-342900" lvl="0" marL="457200" rtl="0" algn="l">
              <a:lnSpc>
                <a:spcPct val="90000"/>
              </a:lnSpc>
              <a:spcBef>
                <a:spcPts val="1000"/>
              </a:spcBef>
              <a:spcAft>
                <a:spcPts val="0"/>
              </a:spcAft>
              <a:buClr>
                <a:schemeClr val="dk1"/>
              </a:buClr>
              <a:buSzPts val="1800"/>
              <a:buChar char="•"/>
            </a:pPr>
            <a:r>
              <a:rPr lang="en-US" sz="2200">
                <a:latin typeface="Times New Roman"/>
                <a:ea typeface="Times New Roman"/>
                <a:cs typeface="Times New Roman"/>
                <a:sym typeface="Times New Roman"/>
              </a:rPr>
              <a:t>There are many aspects in broad areas mentioned in the above youth welfare, refugees, domestic violence, consumer behavior.</a:t>
            </a:r>
            <a:endParaRPr/>
          </a:p>
          <a:p>
            <a:pPr indent="-342900" lvl="0" marL="457200" rtl="0" algn="l">
              <a:lnSpc>
                <a:spcPct val="90000"/>
              </a:lnSpc>
              <a:spcBef>
                <a:spcPts val="1000"/>
              </a:spcBef>
              <a:spcAft>
                <a:spcPts val="0"/>
              </a:spcAft>
              <a:buClr>
                <a:schemeClr val="dk1"/>
              </a:buClr>
              <a:buSzPts val="1800"/>
              <a:buChar char="•"/>
            </a:pPr>
            <a:r>
              <a:rPr lang="en-US" sz="2200">
                <a:latin typeface="Times New Roman"/>
                <a:ea typeface="Times New Roman"/>
                <a:cs typeface="Times New Roman"/>
                <a:sym typeface="Times New Roman"/>
              </a:rPr>
              <a:t>For example, there are many aspects and issues in the area of domestic violence, illustrated below</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pic>
        <p:nvPicPr>
          <p:cNvPr id="194" name="Google Shape;194;p32"/>
          <p:cNvPicPr preferRelativeResize="0"/>
          <p:nvPr/>
        </p:nvPicPr>
        <p:blipFill rotWithShape="1">
          <a:blip r:embed="rId3">
            <a:alphaModFix/>
          </a:blip>
          <a:srcRect b="0" l="0" r="0" t="0"/>
          <a:stretch/>
        </p:blipFill>
        <p:spPr>
          <a:xfrm>
            <a:off x="2580969" y="2905433"/>
            <a:ext cx="8155858" cy="363385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200" name="Google Shape;200;p33"/>
          <p:cNvSpPr txBox="1"/>
          <p:nvPr>
            <p:ph idx="1" type="body"/>
          </p:nvPr>
        </p:nvSpPr>
        <p:spPr>
          <a:xfrm>
            <a:off x="838200" y="870156"/>
            <a:ext cx="10515600" cy="5869857"/>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Step 2 : </a:t>
            </a:r>
            <a:r>
              <a:rPr b="1" i="1" lang="en-US"/>
              <a:t>Dissect </a:t>
            </a:r>
            <a:r>
              <a:rPr b="1" lang="en-US"/>
              <a:t>the broad area into subareas </a:t>
            </a:r>
            <a:endParaRPr b="1"/>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Similarly, you can select any subject area from other fields such as community health or consumer research and go through this dissection process.</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While</a:t>
            </a:r>
            <a:r>
              <a:rPr lang="en-US" sz="2200">
                <a:latin typeface="Times New Roman"/>
                <a:ea typeface="Times New Roman"/>
                <a:cs typeface="Times New Roman"/>
                <a:sym typeface="Times New Roman"/>
              </a:rPr>
              <a:t> preparing this list of subareas you should also consult others who have some knowledge of the area and the literature in your subject area. </a:t>
            </a:r>
            <a:endParaRPr sz="22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Once you have developed an exhaustive list of the sub areas from various sources, proceed to the next stage where you select what will become the basis of your enquiry.</a:t>
            </a:r>
            <a:endParaRPr sz="22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206" name="Google Shape;206;p34"/>
          <p:cNvSpPr txBox="1"/>
          <p:nvPr>
            <p:ph idx="1" type="body"/>
          </p:nvPr>
        </p:nvSpPr>
        <p:spPr>
          <a:xfrm>
            <a:off x="838200" y="870156"/>
            <a:ext cx="10515600" cy="5869857"/>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Step 3 : </a:t>
            </a:r>
            <a:r>
              <a:rPr b="1" i="1" lang="en-US"/>
              <a:t>Select </a:t>
            </a:r>
            <a:r>
              <a:rPr b="1" lang="en-US"/>
              <a:t>what is of most interest to you.</a:t>
            </a:r>
            <a:endParaRPr b="1"/>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It is neither advisable nor feasible to study all subareas. Out of this list, select issues or subareas about which you are passionate.</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This is because your interest should be the most important determinant for selection, even though there are some other considerations which have been discussed in the previous section.</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Go through your list and delete all those subareas in which you are not very interested. </a:t>
            </a:r>
            <a:endParaRPr sz="22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You will find that towards the end of this process, it will become very difficult for you to delete anything further.</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Need to continue until you are left with something that is </a:t>
            </a:r>
            <a:r>
              <a:rPr i="1" lang="en-US" sz="2200">
                <a:latin typeface="Times New Roman"/>
                <a:ea typeface="Times New Roman"/>
                <a:cs typeface="Times New Roman"/>
                <a:sym typeface="Times New Roman"/>
              </a:rPr>
              <a:t>manageable </a:t>
            </a:r>
            <a:r>
              <a:rPr lang="en-US" sz="2200">
                <a:latin typeface="Times New Roman"/>
                <a:ea typeface="Times New Roman"/>
                <a:cs typeface="Times New Roman"/>
                <a:sym typeface="Times New Roman"/>
              </a:rPr>
              <a:t>considering the time available to you, your level of expertise and other resources needed to undertake the study.</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Once you are confident that you have selected an issue you are passionate about and can manage, you are ready to go to the next step.</a:t>
            </a:r>
            <a:endParaRPr sz="22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212" name="Google Shape;212;p35"/>
          <p:cNvSpPr txBox="1"/>
          <p:nvPr>
            <p:ph idx="1" type="body"/>
          </p:nvPr>
        </p:nvSpPr>
        <p:spPr>
          <a:xfrm>
            <a:off x="838200" y="870156"/>
            <a:ext cx="10515600" cy="5869857"/>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a:latin typeface="Times New Roman"/>
                <a:ea typeface="Times New Roman"/>
                <a:cs typeface="Times New Roman"/>
                <a:sym typeface="Times New Roman"/>
              </a:rPr>
              <a:t>Step 4 : </a:t>
            </a:r>
            <a:r>
              <a:rPr b="1" lang="en-US"/>
              <a:t>Raise research questions. </a:t>
            </a:r>
            <a:endParaRPr b="1"/>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At this step ask yourself, ‘What is it that I want to find out about in this subarea?’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a:latin typeface="Times New Roman"/>
                <a:ea typeface="Times New Roman"/>
                <a:cs typeface="Times New Roman"/>
                <a:sym typeface="Times New Roman"/>
              </a:rPr>
              <a:t>Make a list of whatever questions come to your mind relating to your chosen subarea. </a:t>
            </a:r>
            <a:endParaRPr sz="22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218" name="Google Shape;218;p36"/>
          <p:cNvSpPr txBox="1"/>
          <p:nvPr>
            <p:ph idx="1" type="body"/>
          </p:nvPr>
        </p:nvSpPr>
        <p:spPr>
          <a:xfrm>
            <a:off x="838200" y="870156"/>
            <a:ext cx="10515600" cy="5869857"/>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a:latin typeface="Times New Roman"/>
                <a:ea typeface="Times New Roman"/>
                <a:cs typeface="Times New Roman"/>
                <a:sym typeface="Times New Roman"/>
              </a:rPr>
              <a:t>Step 5 : </a:t>
            </a:r>
            <a:r>
              <a:rPr b="1" lang="en-US"/>
              <a:t>Formulate objectives. </a:t>
            </a:r>
            <a:endParaRPr/>
          </a:p>
          <a:p>
            <a:pPr indent="-342900" lvl="0" marL="457200" rtl="0" algn="just">
              <a:lnSpc>
                <a:spcPct val="90000"/>
              </a:lnSpc>
              <a:spcBef>
                <a:spcPts val="1000"/>
              </a:spcBef>
              <a:spcAft>
                <a:spcPts val="0"/>
              </a:spcAft>
              <a:buSzPts val="1800"/>
              <a:buChar char="•"/>
            </a:pPr>
            <a:r>
              <a:rPr lang="en-US" sz="2600">
                <a:latin typeface="Times New Roman"/>
                <a:ea typeface="Times New Roman"/>
                <a:cs typeface="Times New Roman"/>
                <a:sym typeface="Times New Roman"/>
              </a:rPr>
              <a:t>M</a:t>
            </a:r>
            <a:r>
              <a:rPr lang="en-US" sz="2600">
                <a:latin typeface="Times New Roman"/>
                <a:ea typeface="Times New Roman"/>
                <a:cs typeface="Times New Roman"/>
                <a:sym typeface="Times New Roman"/>
              </a:rPr>
              <a:t>ain objectives and your sub objectives need to be formulated, which grow out of your research questions. </a:t>
            </a:r>
            <a:endParaRPr sz="26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sz="2600">
                <a:latin typeface="Times New Roman"/>
                <a:ea typeface="Times New Roman"/>
                <a:cs typeface="Times New Roman"/>
                <a:sym typeface="Times New Roman"/>
              </a:rPr>
              <a:t>The main difference between objectives and research questions is the way in which they are written.</a:t>
            </a:r>
            <a:endParaRPr/>
          </a:p>
          <a:p>
            <a:pPr indent="-342900" lvl="0" marL="457200" rtl="0" algn="just">
              <a:lnSpc>
                <a:spcPct val="90000"/>
              </a:lnSpc>
              <a:spcBef>
                <a:spcPts val="1000"/>
              </a:spcBef>
              <a:spcAft>
                <a:spcPts val="0"/>
              </a:spcAft>
              <a:buSzPts val="1800"/>
              <a:buChar char="•"/>
            </a:pPr>
            <a:r>
              <a:rPr lang="en-US" sz="2600">
                <a:latin typeface="Times New Roman"/>
                <a:ea typeface="Times New Roman"/>
                <a:cs typeface="Times New Roman"/>
                <a:sym typeface="Times New Roman"/>
              </a:rPr>
              <a:t>Research questions are obviously that – questions. </a:t>
            </a:r>
            <a:endParaRPr sz="26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sz="2600">
                <a:latin typeface="Times New Roman"/>
                <a:ea typeface="Times New Roman"/>
                <a:cs typeface="Times New Roman"/>
                <a:sym typeface="Times New Roman"/>
              </a:rPr>
              <a:t>Objectives transform these questions into behavioural aims by using action oriented words such as ‘to find out’, ‘to determine’, ‘to ascertain’.</a:t>
            </a:r>
            <a:endParaRPr/>
          </a:p>
          <a:p>
            <a:pPr indent="-342900" lvl="0" marL="457200" rtl="0" algn="just">
              <a:lnSpc>
                <a:spcPct val="90000"/>
              </a:lnSpc>
              <a:spcBef>
                <a:spcPts val="1000"/>
              </a:spcBef>
              <a:spcAft>
                <a:spcPts val="0"/>
              </a:spcAft>
              <a:buSzPts val="1800"/>
              <a:buChar char="•"/>
            </a:pPr>
            <a:r>
              <a:rPr lang="en-US" sz="2600">
                <a:latin typeface="Times New Roman"/>
                <a:ea typeface="Times New Roman"/>
                <a:cs typeface="Times New Roman"/>
                <a:sym typeface="Times New Roman"/>
              </a:rPr>
              <a:t>Some researchers prefer to reverse the process; that is, they start from objectives and formulate research questions from them.</a:t>
            </a:r>
            <a:endParaRPr sz="26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ph type="title"/>
          </p:nvPr>
        </p:nvSpPr>
        <p:spPr>
          <a:xfrm>
            <a:off x="838200" y="217642"/>
            <a:ext cx="10515600" cy="652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None/>
            </a:pPr>
            <a:r>
              <a:rPr b="1" lang="en-US">
                <a:latin typeface="Times New Roman"/>
                <a:ea typeface="Times New Roman"/>
                <a:cs typeface="Times New Roman"/>
                <a:sym typeface="Times New Roman"/>
              </a:rPr>
              <a:t>Steps in Formulating a Research Problem</a:t>
            </a:r>
            <a:endParaRPr/>
          </a:p>
        </p:txBody>
      </p:sp>
      <p:sp>
        <p:nvSpPr>
          <p:cNvPr id="224" name="Google Shape;224;p37"/>
          <p:cNvSpPr txBox="1"/>
          <p:nvPr>
            <p:ph idx="1" type="body"/>
          </p:nvPr>
        </p:nvSpPr>
        <p:spPr>
          <a:xfrm>
            <a:off x="838200" y="870156"/>
            <a:ext cx="10515600" cy="5869857"/>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b="1" lang="en-US">
                <a:latin typeface="Times New Roman"/>
                <a:ea typeface="Times New Roman"/>
                <a:cs typeface="Times New Roman"/>
                <a:sym typeface="Times New Roman"/>
              </a:rPr>
              <a:t>Step 6 : Assess your objectives. </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Now examine your objectives to ascertain the feasibility of achieving them through your research endeavour. </a:t>
            </a:r>
            <a:endParaRPr sz="22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Consider them in the light of the time, resources (financial and human) and technical expertise at your disposal.</a:t>
            </a:r>
            <a:endParaRPr/>
          </a:p>
          <a:p>
            <a:pPr indent="0" lvl="0" marL="114300" rtl="0" algn="just">
              <a:lnSpc>
                <a:spcPct val="90000"/>
              </a:lnSpc>
              <a:spcBef>
                <a:spcPts val="1000"/>
              </a:spcBef>
              <a:spcAft>
                <a:spcPts val="0"/>
              </a:spcAft>
              <a:buSzPts val="1800"/>
              <a:buNone/>
            </a:pPr>
            <a:r>
              <a:t/>
            </a:r>
            <a:endParaRPr b="1" sz="2200">
              <a:latin typeface="Times New Roman"/>
              <a:ea typeface="Times New Roman"/>
              <a:cs typeface="Times New Roman"/>
              <a:sym typeface="Times New Roman"/>
            </a:endParaRPr>
          </a:p>
          <a:p>
            <a:pPr indent="0" lvl="0" marL="114300" rtl="0" algn="just">
              <a:lnSpc>
                <a:spcPct val="90000"/>
              </a:lnSpc>
              <a:spcBef>
                <a:spcPts val="1000"/>
              </a:spcBef>
              <a:spcAft>
                <a:spcPts val="0"/>
              </a:spcAft>
              <a:buSzPts val="1800"/>
              <a:buNone/>
            </a:pPr>
            <a:r>
              <a:rPr b="1" lang="en-US" sz="2400">
                <a:latin typeface="Times New Roman"/>
                <a:ea typeface="Times New Roman"/>
                <a:cs typeface="Times New Roman"/>
                <a:sym typeface="Times New Roman"/>
              </a:rPr>
              <a:t>Step 7 : </a:t>
            </a:r>
            <a:r>
              <a:rPr b="1" lang="en-US" sz="2400">
                <a:latin typeface="Times New Roman"/>
                <a:ea typeface="Times New Roman"/>
                <a:cs typeface="Times New Roman"/>
                <a:sym typeface="Times New Roman"/>
              </a:rPr>
              <a:t>Double-check</a:t>
            </a:r>
            <a:r>
              <a:rPr b="1" lang="en-US" sz="2400">
                <a:latin typeface="Times New Roman"/>
                <a:ea typeface="Times New Roman"/>
                <a:cs typeface="Times New Roman"/>
                <a:sym typeface="Times New Roman"/>
              </a:rPr>
              <a:t>.</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Go back and give final consideration to whether or not you are sufficiently interested in the study, and have adequate resources to undertake it.</a:t>
            </a:r>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 Ask yourself, ‘Am I really enthusiastic about this study?’ and ‘Do I really have enough resources to undertake it?’ </a:t>
            </a:r>
            <a:endParaRPr sz="22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lang="en-US" sz="2200">
                <a:latin typeface="Times New Roman"/>
                <a:ea typeface="Times New Roman"/>
                <a:cs typeface="Times New Roman"/>
                <a:sym typeface="Times New Roman"/>
              </a:rPr>
              <a:t>Answer these questions thoughtfully and realistically. If your answer to one of them is ‘no’, reassess your objectives.</a:t>
            </a:r>
            <a:endParaRPr sz="2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2022-02-08T17:00:46Z</dcterms:created>
  <dc:creator>ArumugaArun R</dc:creator>
</cp:coreProperties>
</file>