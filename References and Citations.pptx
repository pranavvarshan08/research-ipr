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2" d="100"/>
          <a:sy n="62" d="100"/>
        </p:scale>
        <p:origin x="-1398" y="1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722668-5455-4F14-8E80-C2D08A0343DC}" type="datetimeFigureOut">
              <a:rPr lang="en-US" smtClean="0"/>
              <a:pPr/>
              <a:t>10/29/2025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F3F5816-FC88-43C6-BD95-592E9BA7FAC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24fa3d89717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24fa3d8971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4fa3d89717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4fa3d8971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24fa3d89717_0_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24fa3d8971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4fa3d89717_0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24fa3d8971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4fa3d89717_0_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4fa3d89717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4fa3d89717_0_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4fa3d89717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4fa3d89717_0_1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4fa3d89717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24fa3d89717_0_1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24fa3d89717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24fa3d89717_0_1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24fa3d89717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4fa3d89717_0_1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24fa3d89717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80A279F-922A-4D48-BAA8-ABC40F93AEEC}" type="datetimeFigureOut">
              <a:rPr lang="en-US" smtClean="0"/>
              <a:pPr/>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75D818-76AE-47A2-B6A5-E54504D045B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80A279F-922A-4D48-BAA8-ABC40F93AEEC}" type="datetimeFigureOut">
              <a:rPr lang="en-US" smtClean="0"/>
              <a:pPr/>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75D818-76AE-47A2-B6A5-E54504D045B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80A279F-922A-4D48-BAA8-ABC40F93AEEC}" type="datetimeFigureOut">
              <a:rPr lang="en-US" smtClean="0"/>
              <a:pPr/>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75D818-76AE-47A2-B6A5-E54504D045B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80A279F-922A-4D48-BAA8-ABC40F93AEEC}" type="datetimeFigureOut">
              <a:rPr lang="en-US" smtClean="0"/>
              <a:pPr/>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75D818-76AE-47A2-B6A5-E54504D045B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80A279F-922A-4D48-BAA8-ABC40F93AEEC}" type="datetimeFigureOut">
              <a:rPr lang="en-US" smtClean="0"/>
              <a:pPr/>
              <a:t>10/29/2025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75D818-76AE-47A2-B6A5-E54504D045B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80A279F-922A-4D48-BAA8-ABC40F93AEEC}" type="datetimeFigureOut">
              <a:rPr lang="en-US" smtClean="0"/>
              <a:pPr/>
              <a:t>10/29/2025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75D818-76AE-47A2-B6A5-E54504D045B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0A279F-922A-4D48-BAA8-ABC40F93AEEC}" type="datetimeFigureOut">
              <a:rPr lang="en-US" smtClean="0"/>
              <a:pPr/>
              <a:t>10/29/2025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775D818-76AE-47A2-B6A5-E54504D045B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80A279F-922A-4D48-BAA8-ABC40F93AEEC}" type="datetimeFigureOut">
              <a:rPr lang="en-US" smtClean="0"/>
              <a:pPr/>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75D818-76AE-47A2-B6A5-E54504D045B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80A279F-922A-4D48-BAA8-ABC40F93AEEC}" type="datetimeFigureOut">
              <a:rPr lang="en-US" smtClean="0"/>
              <a:pPr/>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75D818-76AE-47A2-B6A5-E54504D045B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80A279F-922A-4D48-BAA8-ABC40F93AEEC}" type="datetimeFigureOut">
              <a:rPr lang="en-US" smtClean="0"/>
              <a:pPr/>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75D818-76AE-47A2-B6A5-E54504D045B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80A279F-922A-4D48-BAA8-ABC40F93AEEC}" type="datetimeFigureOut">
              <a:rPr lang="en-US" smtClean="0"/>
              <a:pPr/>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75D818-76AE-47A2-B6A5-E54504D045BA}"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0A279F-922A-4D48-BAA8-ABC40F93AEEC}" type="datetimeFigureOut">
              <a:rPr lang="en-US" smtClean="0"/>
              <a:pPr/>
              <a:t>10/29/2025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75D818-76AE-47A2-B6A5-E54504D045B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 b="1" dirty="0" smtClean="0"/>
              <a:t>References and Citations</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7"/>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References and Citations</a:t>
            </a:r>
            <a:endParaRPr b="1"/>
          </a:p>
        </p:txBody>
      </p:sp>
      <p:sp>
        <p:nvSpPr>
          <p:cNvPr id="281" name="Google Shape;281;p47"/>
          <p:cNvSpPr txBox="1">
            <a:spLocks noGrp="1"/>
          </p:cNvSpPr>
          <p:nvPr>
            <p:ph type="body" idx="1"/>
          </p:nvPr>
        </p:nvSpPr>
        <p:spPr>
          <a:xfrm>
            <a:off x="457200" y="1536633"/>
            <a:ext cx="7391400" cy="4555200"/>
          </a:xfrm>
          <a:prstGeom prst="rect">
            <a:avLst/>
          </a:prstGeom>
        </p:spPr>
        <p:txBody>
          <a:bodyPr spcFirstLastPara="1" wrap="square" lIns="91425" tIns="91425" rIns="91425" bIns="91425" anchor="t" anchorCtr="0">
            <a:normAutofit lnSpcReduction="10000"/>
          </a:bodyPr>
          <a:lstStyle/>
          <a:p>
            <a:pPr marL="0" indent="0" algn="just">
              <a:spcAft>
                <a:spcPts val="1200"/>
              </a:spcAft>
            </a:pPr>
            <a:r>
              <a:rPr lang="en" sz="2400" dirty="0">
                <a:solidFill>
                  <a:schemeClr val="dk1"/>
                </a:solidFill>
              </a:rPr>
              <a:t>References and citations are integral components of academic and research writing, including technical papers and scholarly articles. </a:t>
            </a:r>
            <a:endParaRPr lang="en" sz="2400" dirty="0" smtClean="0">
              <a:solidFill>
                <a:schemeClr val="dk1"/>
              </a:solidFill>
            </a:endParaRPr>
          </a:p>
          <a:p>
            <a:pPr marL="0" indent="0" algn="just">
              <a:spcAft>
                <a:spcPts val="1200"/>
              </a:spcAft>
            </a:pPr>
            <a:r>
              <a:rPr lang="en" sz="2400" dirty="0" smtClean="0">
                <a:solidFill>
                  <a:schemeClr val="dk1"/>
                </a:solidFill>
              </a:rPr>
              <a:t>They </a:t>
            </a:r>
            <a:r>
              <a:rPr lang="en" sz="2400" dirty="0">
                <a:solidFill>
                  <a:schemeClr val="dk1"/>
                </a:solidFill>
              </a:rPr>
              <a:t>serve the purpose of acknowledging and providing evidence for the sources of information, data, and prior research that have been used in a document. </a:t>
            </a:r>
            <a:endParaRPr lang="en" sz="2400" dirty="0" smtClean="0">
              <a:solidFill>
                <a:schemeClr val="dk1"/>
              </a:solidFill>
            </a:endParaRPr>
          </a:p>
          <a:p>
            <a:pPr marL="0" lvl="0" indent="0" algn="just">
              <a:spcAft>
                <a:spcPts val="1200"/>
              </a:spcAft>
            </a:pPr>
            <a:r>
              <a:rPr lang="en-US" sz="2400" dirty="0" smtClean="0">
                <a:solidFill>
                  <a:schemeClr val="dk1"/>
                </a:solidFill>
              </a:rPr>
              <a:t>Together, citations and references ensure that a document is academically sound, transparent, and credible by attributing credit to original authors and allowing others to access and build upon the cited sources.</a:t>
            </a:r>
            <a:endParaRPr lang="en-US" sz="1600" dirty="0" smtClean="0">
              <a:solidFill>
                <a:schemeClr val="dk1"/>
              </a:solidFill>
              <a:latin typeface="Roboto"/>
              <a:ea typeface="Roboto"/>
              <a:cs typeface="Roboto"/>
              <a:sym typeface="Roboto"/>
            </a:endParaRPr>
          </a:p>
          <a:p>
            <a:pPr marL="0" indent="0" algn="just">
              <a:spcAft>
                <a:spcPts val="1200"/>
              </a:spcAft>
            </a:pPr>
            <a:endParaRPr sz="21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8"/>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Citations</a:t>
            </a:r>
            <a:endParaRPr b="1"/>
          </a:p>
        </p:txBody>
      </p:sp>
      <p:sp>
        <p:nvSpPr>
          <p:cNvPr id="287" name="Google Shape;287;p48"/>
          <p:cNvSpPr txBox="1">
            <a:spLocks noGrp="1"/>
          </p:cNvSpPr>
          <p:nvPr>
            <p:ph type="body" idx="1"/>
          </p:nvPr>
        </p:nvSpPr>
        <p:spPr>
          <a:xfrm>
            <a:off x="533400" y="1524000"/>
            <a:ext cx="8222700" cy="4555200"/>
          </a:xfrm>
          <a:prstGeom prst="rect">
            <a:avLst/>
          </a:prstGeom>
        </p:spPr>
        <p:txBody>
          <a:bodyPr spcFirstLastPara="1" wrap="square" lIns="91425" tIns="91425" rIns="91425" bIns="91425" anchor="t" anchorCtr="0">
            <a:normAutofit fontScale="92500"/>
          </a:bodyPr>
          <a:lstStyle/>
          <a:p>
            <a:pPr marL="0" indent="0" algn="just">
              <a:spcBef>
                <a:spcPts val="1500"/>
              </a:spcBef>
              <a:buClr>
                <a:schemeClr val="dk1"/>
              </a:buClr>
              <a:buSzPct val="52380"/>
              <a:buFont typeface="Wingdings" pitchFamily="2" charset="2"/>
              <a:buChar char="v"/>
            </a:pPr>
            <a:r>
              <a:rPr lang="en" sz="2100" dirty="0">
                <a:solidFill>
                  <a:schemeClr val="dk1"/>
                </a:solidFill>
              </a:rPr>
              <a:t>Citations are specific references to sources within the body of the text, indicating where particular information, ideas, or findings have been drawn from. </a:t>
            </a:r>
            <a:endParaRPr lang="en" sz="2100" dirty="0" smtClean="0">
              <a:solidFill>
                <a:schemeClr val="dk1"/>
              </a:solidFill>
            </a:endParaRPr>
          </a:p>
          <a:p>
            <a:pPr marL="0" indent="0" algn="just">
              <a:spcBef>
                <a:spcPts val="1500"/>
              </a:spcBef>
              <a:buClr>
                <a:schemeClr val="dk1"/>
              </a:buClr>
              <a:buSzPct val="52380"/>
              <a:buFont typeface="Wingdings" pitchFamily="2" charset="2"/>
              <a:buChar char="v"/>
            </a:pPr>
            <a:r>
              <a:rPr lang="en" sz="2100" dirty="0" smtClean="0">
                <a:solidFill>
                  <a:schemeClr val="dk1"/>
                </a:solidFill>
              </a:rPr>
              <a:t>Citations </a:t>
            </a:r>
            <a:r>
              <a:rPr lang="en" sz="2100" dirty="0">
                <a:solidFill>
                  <a:schemeClr val="dk1"/>
                </a:solidFill>
              </a:rPr>
              <a:t>typically include details such as the author's name, publication year, and page numbers (if applicable). The primary functions of citations are:</a:t>
            </a:r>
            <a:endParaRPr sz="2100">
              <a:solidFill>
                <a:schemeClr val="dk1"/>
              </a:solidFill>
            </a:endParaRPr>
          </a:p>
          <a:p>
            <a:pPr marL="457200" lvl="0" indent="-287655" algn="just" rtl="0">
              <a:spcBef>
                <a:spcPts val="1500"/>
              </a:spcBef>
              <a:spcAft>
                <a:spcPts val="0"/>
              </a:spcAft>
              <a:buClr>
                <a:srgbClr val="374151"/>
              </a:buClr>
              <a:buSzPct val="57142"/>
              <a:buFont typeface="Roboto"/>
              <a:buChar char="●"/>
            </a:pPr>
            <a:r>
              <a:rPr lang="en" sz="2100" dirty="0">
                <a:solidFill>
                  <a:schemeClr val="dk1"/>
                </a:solidFill>
              </a:rPr>
              <a:t>To give proper credit to the original authors or sources.</a:t>
            </a:r>
            <a:endParaRPr sz="2100">
              <a:solidFill>
                <a:schemeClr val="dk1"/>
              </a:solidFill>
            </a:endParaRPr>
          </a:p>
          <a:p>
            <a:pPr marL="457200" lvl="0" indent="-287655" algn="just" rtl="0">
              <a:spcBef>
                <a:spcPts val="0"/>
              </a:spcBef>
              <a:spcAft>
                <a:spcPts val="0"/>
              </a:spcAft>
              <a:buClr>
                <a:srgbClr val="374151"/>
              </a:buClr>
              <a:buSzPct val="57142"/>
              <a:buFont typeface="Roboto"/>
              <a:buChar char="●"/>
            </a:pPr>
            <a:r>
              <a:rPr lang="en" sz="2100" dirty="0">
                <a:solidFill>
                  <a:schemeClr val="dk1"/>
                </a:solidFill>
              </a:rPr>
              <a:t>To enable readers to locate and verify the referenced information.</a:t>
            </a:r>
            <a:endParaRPr sz="2100">
              <a:solidFill>
                <a:schemeClr val="dk1"/>
              </a:solidFill>
            </a:endParaRPr>
          </a:p>
          <a:p>
            <a:pPr marL="457200" lvl="0" indent="-287655" algn="just" rtl="0">
              <a:spcBef>
                <a:spcPts val="0"/>
              </a:spcBef>
              <a:spcAft>
                <a:spcPts val="0"/>
              </a:spcAft>
              <a:buClr>
                <a:srgbClr val="374151"/>
              </a:buClr>
              <a:buSzPct val="57142"/>
              <a:buFont typeface="Roboto"/>
              <a:buChar char="●"/>
            </a:pPr>
            <a:r>
              <a:rPr lang="en" sz="2100" dirty="0">
                <a:solidFill>
                  <a:schemeClr val="dk1"/>
                </a:solidFill>
              </a:rPr>
              <a:t>To support the writer's claims or arguments with evidence.</a:t>
            </a:r>
            <a:endParaRPr sz="2100">
              <a:solidFill>
                <a:schemeClr val="dk1"/>
              </a:solidFill>
            </a:endParaRPr>
          </a:p>
          <a:p>
            <a:pPr marL="0" indent="0" algn="just">
              <a:spcBef>
                <a:spcPts val="1500"/>
              </a:spcBef>
              <a:buClr>
                <a:schemeClr val="dk1"/>
              </a:buClr>
              <a:buSzPct val="52380"/>
              <a:buFont typeface="Wingdings" pitchFamily="2" charset="2"/>
              <a:buChar char="v"/>
            </a:pPr>
            <a:r>
              <a:rPr lang="en" sz="2100" dirty="0">
                <a:solidFill>
                  <a:schemeClr val="dk1"/>
                </a:solidFill>
              </a:rPr>
              <a:t>In academic writing, different citation styles are used to format citations in a standardized manner. Some common citation styles include APA, MLA, IEEE, and Chicago, each with its own rules for citing various types of sources.</a:t>
            </a:r>
            <a:endParaRPr sz="1200">
              <a:solidFill>
                <a:srgbClr val="374151"/>
              </a:solidFill>
              <a:highlight>
                <a:srgbClr val="F7F7F8"/>
              </a:highlight>
              <a:latin typeface="Roboto"/>
              <a:ea typeface="Roboto"/>
              <a:cs typeface="Roboto"/>
              <a:sym typeface="Roboto"/>
            </a:endParaRPr>
          </a:p>
          <a:p>
            <a:pPr marL="0" lvl="0" indent="0" algn="just" rtl="0">
              <a:spcBef>
                <a:spcPts val="1500"/>
              </a:spcBef>
              <a:spcAft>
                <a:spcPts val="1200"/>
              </a:spcAft>
              <a:buNone/>
            </a:pP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9"/>
          <p:cNvSpPr txBox="1">
            <a:spLocks noGrp="1"/>
          </p:cNvSpPr>
          <p:nvPr>
            <p:ph type="title"/>
          </p:nvPr>
        </p:nvSpPr>
        <p:spPr>
          <a:xfrm>
            <a:off x="114450" y="0"/>
            <a:ext cx="8520600" cy="763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References</a:t>
            </a:r>
            <a:endParaRPr b="1"/>
          </a:p>
        </p:txBody>
      </p:sp>
      <p:sp>
        <p:nvSpPr>
          <p:cNvPr id="293" name="Google Shape;293;p49"/>
          <p:cNvSpPr txBox="1">
            <a:spLocks noGrp="1"/>
          </p:cNvSpPr>
          <p:nvPr>
            <p:ph type="body" idx="1"/>
          </p:nvPr>
        </p:nvSpPr>
        <p:spPr>
          <a:xfrm>
            <a:off x="311700" y="763600"/>
            <a:ext cx="8520600" cy="6094400"/>
          </a:xfrm>
          <a:prstGeom prst="rect">
            <a:avLst/>
          </a:prstGeom>
        </p:spPr>
        <p:txBody>
          <a:bodyPr spcFirstLastPara="1" wrap="square" lIns="91425" tIns="91425" rIns="91425" bIns="91425" anchor="t" anchorCtr="0">
            <a:normAutofit fontScale="77500" lnSpcReduction="20000"/>
          </a:bodyPr>
          <a:lstStyle/>
          <a:p>
            <a:pPr marL="0" lvl="0" indent="0" algn="just" rtl="0">
              <a:lnSpc>
                <a:spcPct val="100000"/>
              </a:lnSpc>
              <a:spcBef>
                <a:spcPts val="1500"/>
              </a:spcBef>
              <a:spcAft>
                <a:spcPts val="0"/>
              </a:spcAft>
              <a:buClr>
                <a:schemeClr val="dk1"/>
              </a:buClr>
              <a:buSzPct val="41501"/>
              <a:buFont typeface="Wingdings" pitchFamily="2" charset="2"/>
              <a:buChar char="v"/>
            </a:pPr>
            <a:r>
              <a:rPr lang="en" sz="2650" dirty="0">
                <a:solidFill>
                  <a:schemeClr val="dk1"/>
                </a:solidFill>
              </a:rPr>
              <a:t>References, also known as a bibliography or works cited (depending on the citation style), are the list of full citations for all the sources cited in a document. </a:t>
            </a:r>
            <a:endParaRPr lang="en" sz="2650" dirty="0" smtClean="0">
              <a:solidFill>
                <a:schemeClr val="dk1"/>
              </a:solidFill>
            </a:endParaRPr>
          </a:p>
          <a:p>
            <a:pPr marL="0" lvl="0" indent="0" algn="just" rtl="0">
              <a:lnSpc>
                <a:spcPct val="100000"/>
              </a:lnSpc>
              <a:spcBef>
                <a:spcPts val="1500"/>
              </a:spcBef>
              <a:spcAft>
                <a:spcPts val="0"/>
              </a:spcAft>
              <a:buClr>
                <a:schemeClr val="dk1"/>
              </a:buClr>
              <a:buSzPct val="41501"/>
              <a:buFont typeface="Wingdings" pitchFamily="2" charset="2"/>
              <a:buChar char="v"/>
            </a:pPr>
            <a:r>
              <a:rPr lang="en" sz="2650" dirty="0" smtClean="0">
                <a:solidFill>
                  <a:schemeClr val="dk1"/>
                </a:solidFill>
              </a:rPr>
              <a:t>Each </a:t>
            </a:r>
            <a:r>
              <a:rPr lang="en" sz="2650" dirty="0">
                <a:solidFill>
                  <a:schemeClr val="dk1"/>
                </a:solidFill>
              </a:rPr>
              <a:t>entry in the reference list includes complete bibliographic information about the source, such as the author's full name, publication title, journal name, publication date, and other relevant details</a:t>
            </a:r>
            <a:r>
              <a:rPr lang="en" sz="2650" dirty="0" smtClean="0">
                <a:solidFill>
                  <a:schemeClr val="dk1"/>
                </a:solidFill>
              </a:rPr>
              <a:t>.</a:t>
            </a:r>
          </a:p>
          <a:p>
            <a:pPr marL="0" lvl="0" indent="0" algn="just" rtl="0">
              <a:lnSpc>
                <a:spcPct val="100000"/>
              </a:lnSpc>
              <a:spcBef>
                <a:spcPts val="1500"/>
              </a:spcBef>
              <a:spcAft>
                <a:spcPts val="0"/>
              </a:spcAft>
              <a:buClr>
                <a:schemeClr val="dk1"/>
              </a:buClr>
              <a:buSzPct val="41501"/>
              <a:buFont typeface="Wingdings" pitchFamily="2" charset="2"/>
              <a:buChar char="v"/>
            </a:pPr>
            <a:r>
              <a:rPr lang="en" sz="2650" dirty="0" smtClean="0">
                <a:solidFill>
                  <a:schemeClr val="dk1"/>
                </a:solidFill>
              </a:rPr>
              <a:t> </a:t>
            </a:r>
            <a:r>
              <a:rPr lang="en" sz="2650" dirty="0">
                <a:solidFill>
                  <a:schemeClr val="dk1"/>
                </a:solidFill>
              </a:rPr>
              <a:t>The primary functions of references are:</a:t>
            </a:r>
            <a:endParaRPr sz="2650">
              <a:solidFill>
                <a:schemeClr val="dk1"/>
              </a:solidFill>
            </a:endParaRPr>
          </a:p>
          <a:p>
            <a:pPr marL="457200" lvl="0" indent="-294105" algn="just" rtl="0">
              <a:lnSpc>
                <a:spcPct val="100000"/>
              </a:lnSpc>
              <a:spcBef>
                <a:spcPts val="1500"/>
              </a:spcBef>
              <a:spcAft>
                <a:spcPts val="0"/>
              </a:spcAft>
              <a:buClr>
                <a:schemeClr val="dk1"/>
              </a:buClr>
              <a:buSzPct val="62271"/>
              <a:buFont typeface="Roboto"/>
              <a:buChar char="●"/>
            </a:pPr>
            <a:r>
              <a:rPr lang="en" sz="2650" dirty="0">
                <a:solidFill>
                  <a:schemeClr val="dk1"/>
                </a:solidFill>
              </a:rPr>
              <a:t>To provide readers with comprehensive information about the sources.</a:t>
            </a:r>
            <a:endParaRPr sz="2650">
              <a:solidFill>
                <a:schemeClr val="dk1"/>
              </a:solidFill>
            </a:endParaRPr>
          </a:p>
          <a:p>
            <a:pPr marL="457200" lvl="0" indent="-294105" algn="just" rtl="0">
              <a:lnSpc>
                <a:spcPct val="100000"/>
              </a:lnSpc>
              <a:spcBef>
                <a:spcPts val="0"/>
              </a:spcBef>
              <a:spcAft>
                <a:spcPts val="0"/>
              </a:spcAft>
              <a:buClr>
                <a:schemeClr val="dk1"/>
              </a:buClr>
              <a:buSzPct val="62271"/>
              <a:buFont typeface="Roboto"/>
              <a:buChar char="●"/>
            </a:pPr>
            <a:r>
              <a:rPr lang="en" sz="2650" dirty="0">
                <a:solidFill>
                  <a:schemeClr val="dk1"/>
                </a:solidFill>
              </a:rPr>
              <a:t>To facilitate further research or verification of the cited materials.</a:t>
            </a:r>
            <a:endParaRPr sz="2650">
              <a:solidFill>
                <a:schemeClr val="dk1"/>
              </a:solidFill>
            </a:endParaRPr>
          </a:p>
          <a:p>
            <a:pPr marL="457200" lvl="0" indent="-294105" algn="just" rtl="0">
              <a:lnSpc>
                <a:spcPct val="100000"/>
              </a:lnSpc>
              <a:spcBef>
                <a:spcPts val="0"/>
              </a:spcBef>
              <a:spcAft>
                <a:spcPts val="0"/>
              </a:spcAft>
              <a:buClr>
                <a:schemeClr val="dk1"/>
              </a:buClr>
              <a:buSzPct val="62271"/>
              <a:buFont typeface="Roboto"/>
              <a:buChar char="●"/>
            </a:pPr>
            <a:r>
              <a:rPr lang="en" sz="2650" dirty="0">
                <a:solidFill>
                  <a:schemeClr val="dk1"/>
                </a:solidFill>
              </a:rPr>
              <a:t>To demonstrate the depth and breadth of the writer's research and knowledge.</a:t>
            </a:r>
            <a:endParaRPr sz="2650">
              <a:solidFill>
                <a:schemeClr val="dk1"/>
              </a:solidFill>
            </a:endParaRPr>
          </a:p>
          <a:p>
            <a:pPr marL="0" lvl="0" indent="0" algn="just" rtl="0">
              <a:lnSpc>
                <a:spcPct val="100000"/>
              </a:lnSpc>
              <a:spcBef>
                <a:spcPts val="1500"/>
              </a:spcBef>
              <a:spcAft>
                <a:spcPts val="0"/>
              </a:spcAft>
              <a:buClr>
                <a:schemeClr val="dk1"/>
              </a:buClr>
              <a:buSzPct val="41501"/>
              <a:buFont typeface="Wingdings" pitchFamily="2" charset="2"/>
              <a:buChar char="v"/>
            </a:pPr>
            <a:r>
              <a:rPr lang="en" sz="2650" dirty="0">
                <a:solidFill>
                  <a:schemeClr val="dk1"/>
                </a:solidFill>
              </a:rPr>
              <a:t>In technical papers and research articles, references are often arranged in a specific order, following the requirements of a particular citation style. These reference lists usually appear at the end of the document and are organized alphabetically or numerically, depending on the style.</a:t>
            </a:r>
            <a:endParaRPr sz="2650">
              <a:solidFill>
                <a:schemeClr val="dk1"/>
              </a:solidFill>
            </a:endParaRPr>
          </a:p>
          <a:p>
            <a:pPr marL="0" lvl="0" indent="0" algn="just" rtl="0">
              <a:lnSpc>
                <a:spcPct val="100000"/>
              </a:lnSpc>
              <a:spcBef>
                <a:spcPts val="0"/>
              </a:spcBef>
              <a:spcAft>
                <a:spcPts val="1200"/>
              </a:spcAft>
              <a:buNone/>
            </a:pPr>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50"/>
          <p:cNvSpPr txBox="1">
            <a:spLocks noGrp="1"/>
          </p:cNvSpPr>
          <p:nvPr>
            <p:ph type="title"/>
          </p:nvPr>
        </p:nvSpPr>
        <p:spPr>
          <a:xfrm>
            <a:off x="144800" y="0"/>
            <a:ext cx="8520600" cy="763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Reference Styles</a:t>
            </a:r>
            <a:endParaRPr b="1"/>
          </a:p>
        </p:txBody>
      </p:sp>
      <p:sp>
        <p:nvSpPr>
          <p:cNvPr id="299" name="Google Shape;299;p50"/>
          <p:cNvSpPr txBox="1"/>
          <p:nvPr/>
        </p:nvSpPr>
        <p:spPr>
          <a:xfrm>
            <a:off x="202300" y="903600"/>
            <a:ext cx="8520600" cy="56036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r>
              <a:rPr lang="en" sz="1569">
                <a:solidFill>
                  <a:schemeClr val="dk1"/>
                </a:solidFill>
              </a:rPr>
              <a:t>In technical paper writing, referencing styles are essential for properly citing sources and formatting references. The choice of referencing style may depend on the specific field, journal, conference, or institution's guidelines. Here are some common referencing styles used in technical papers:</a:t>
            </a:r>
            <a:endParaRPr sz="1569">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 sz="1569" b="1">
                <a:solidFill>
                  <a:schemeClr val="dk1"/>
                </a:solidFill>
              </a:rPr>
              <a:t>IEEE (Institute of Electrical and Electronics Engineers) Style: </a:t>
            </a:r>
            <a:r>
              <a:rPr lang="en" sz="1569">
                <a:solidFill>
                  <a:schemeClr val="dk1"/>
                </a:solidFill>
              </a:rPr>
              <a:t>Widely used in engineering, computer science, and related fields, IEEE style features numeric in-text citations and a corresponding numbered list of references. It's known for its simplicity and clarity.</a:t>
            </a:r>
            <a:endParaRPr sz="1569">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 sz="1569" b="1">
                <a:solidFill>
                  <a:schemeClr val="dk1"/>
                </a:solidFill>
              </a:rPr>
              <a:t>APA (American Psychological Association) Style: </a:t>
            </a:r>
            <a:r>
              <a:rPr lang="en" sz="1569">
                <a:solidFill>
                  <a:schemeClr val="dk1"/>
                </a:solidFill>
              </a:rPr>
              <a:t>Common in the social sciences, psychology, and education, APA style uses author-date in-text citations and includes a detailed reference list with specific formatting rules.</a:t>
            </a:r>
            <a:endParaRPr sz="1569">
              <a:solidFill>
                <a:schemeClr val="dk1"/>
              </a:solidFill>
            </a:endParaRPr>
          </a:p>
          <a:p>
            <a:pPr marL="0" lvl="0" indent="0" algn="just" rtl="0">
              <a:lnSpc>
                <a:spcPct val="115000"/>
              </a:lnSpc>
              <a:spcBef>
                <a:spcPts val="1200"/>
              </a:spcBef>
              <a:spcAft>
                <a:spcPts val="1200"/>
              </a:spcAft>
              <a:buClr>
                <a:schemeClr val="dk1"/>
              </a:buClr>
              <a:buSzPts val="1100"/>
              <a:buFont typeface="Arial"/>
              <a:buNone/>
            </a:pPr>
            <a:r>
              <a:rPr lang="en" sz="1569" b="1">
                <a:solidFill>
                  <a:schemeClr val="dk1"/>
                </a:solidFill>
              </a:rPr>
              <a:t>ACM (Association for Computing Machinery) Style:</a:t>
            </a:r>
            <a:r>
              <a:rPr lang="en" sz="1569">
                <a:solidFill>
                  <a:schemeClr val="dk1"/>
                </a:solidFill>
              </a:rPr>
              <a:t> ACM style is used for computer science and information technology papers. It employs numeric in-text citations and a numbered reference list, similar to IEEE style.</a:t>
            </a:r>
            <a:endParaRPr sz="20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51"/>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t>Reference Styles</a:t>
            </a:r>
            <a:endParaRPr/>
          </a:p>
        </p:txBody>
      </p:sp>
      <p:sp>
        <p:nvSpPr>
          <p:cNvPr id="305" name="Google Shape;305;p51"/>
          <p:cNvSpPr txBox="1"/>
          <p:nvPr/>
        </p:nvSpPr>
        <p:spPr>
          <a:xfrm>
            <a:off x="278175" y="1530733"/>
            <a:ext cx="8375400" cy="4855200"/>
          </a:xfrm>
          <a:prstGeom prst="rect">
            <a:avLst/>
          </a:prstGeom>
          <a:noFill/>
          <a:ln>
            <a:noFill/>
          </a:ln>
        </p:spPr>
        <p:txBody>
          <a:bodyPr spcFirstLastPara="1" wrap="square" lIns="91425" tIns="91425" rIns="91425" bIns="91425" anchor="t" anchorCtr="0">
            <a:noAutofit/>
          </a:bodyPr>
          <a:lstStyle/>
          <a:p>
            <a:pPr marL="0" lvl="0" indent="0" algn="just" rtl="0">
              <a:spcBef>
                <a:spcPts val="600"/>
              </a:spcBef>
              <a:spcAft>
                <a:spcPts val="600"/>
              </a:spcAft>
              <a:buClr>
                <a:schemeClr val="dk1"/>
              </a:buClr>
              <a:buSzPts val="1100"/>
              <a:buFont typeface="Wingdings" pitchFamily="2" charset="2"/>
              <a:buChar char="v"/>
            </a:pPr>
            <a:r>
              <a:rPr lang="en" b="1" dirty="0">
                <a:latin typeface="+mj-lt"/>
              </a:rPr>
              <a:t>ASME (American Society of Mechanical Engineers) Style: </a:t>
            </a:r>
            <a:r>
              <a:rPr lang="en" dirty="0">
                <a:latin typeface="+mj-lt"/>
              </a:rPr>
              <a:t>This style is used in mechanical and related engineering fields. It features numeric citations in square brackets and a corresponding numbered reference list.</a:t>
            </a:r>
            <a:endParaRPr>
              <a:latin typeface="+mj-lt"/>
            </a:endParaRPr>
          </a:p>
          <a:p>
            <a:pPr marL="0" lvl="0" indent="0" algn="just" rtl="0">
              <a:spcBef>
                <a:spcPts val="600"/>
              </a:spcBef>
              <a:spcAft>
                <a:spcPts val="600"/>
              </a:spcAft>
              <a:buClr>
                <a:schemeClr val="dk1"/>
              </a:buClr>
              <a:buSzPts val="1100"/>
              <a:buFont typeface="Wingdings" pitchFamily="2" charset="2"/>
              <a:buChar char="v"/>
            </a:pPr>
            <a:r>
              <a:rPr lang="en" b="1" dirty="0">
                <a:latin typeface="+mj-lt"/>
              </a:rPr>
              <a:t>AMA (American Medical Association) Style:</a:t>
            </a:r>
            <a:r>
              <a:rPr lang="en" dirty="0">
                <a:latin typeface="+mj-lt"/>
              </a:rPr>
              <a:t> Common in medical and health-related fields, AMA style employs numeric superscript citations in the text and a numerical reference list.</a:t>
            </a:r>
            <a:endParaRPr>
              <a:latin typeface="+mj-lt"/>
            </a:endParaRPr>
          </a:p>
          <a:p>
            <a:pPr marL="0" lvl="0" indent="0" algn="just" rtl="0">
              <a:spcBef>
                <a:spcPts val="600"/>
              </a:spcBef>
              <a:spcAft>
                <a:spcPts val="600"/>
              </a:spcAft>
              <a:buClr>
                <a:schemeClr val="dk1"/>
              </a:buClr>
              <a:buSzPts val="1100"/>
              <a:buFont typeface="Wingdings" pitchFamily="2" charset="2"/>
              <a:buChar char="v"/>
            </a:pPr>
            <a:r>
              <a:rPr lang="en" b="1" dirty="0">
                <a:latin typeface="+mj-lt"/>
              </a:rPr>
              <a:t>Chicago Manual of Style:</a:t>
            </a:r>
            <a:r>
              <a:rPr lang="en" dirty="0">
                <a:latin typeface="+mj-lt"/>
              </a:rPr>
              <a:t> This style is versatile and used in various fields. It offers two systems: the notes and bibliography system, which uses footnotes or endnotes and a bibliography, and the author-date system, which includes in-text citations.</a:t>
            </a:r>
            <a:endParaRPr>
              <a:latin typeface="+mj-lt"/>
            </a:endParaRPr>
          </a:p>
          <a:p>
            <a:pPr marL="0" lvl="0" indent="0" algn="just" rtl="0">
              <a:spcBef>
                <a:spcPts val="600"/>
              </a:spcBef>
              <a:spcAft>
                <a:spcPts val="600"/>
              </a:spcAft>
              <a:buClr>
                <a:schemeClr val="dk1"/>
              </a:buClr>
              <a:buSzPts val="1100"/>
              <a:buFont typeface="Wingdings" pitchFamily="2" charset="2"/>
              <a:buChar char="v"/>
            </a:pPr>
            <a:r>
              <a:rPr lang="en" b="1" dirty="0">
                <a:latin typeface="+mj-lt"/>
              </a:rPr>
              <a:t>Turabian Style:</a:t>
            </a:r>
            <a:r>
              <a:rPr lang="en" dirty="0">
                <a:latin typeface="+mj-lt"/>
              </a:rPr>
              <a:t> Derived from the Chicago style, Turabian is often used by students and researchers in history, the humanities, and social sciences. It follows similar formatting and citation rules.</a:t>
            </a:r>
            <a:endParaRPr>
              <a:latin typeface="+mj-lt"/>
            </a:endParaRPr>
          </a:p>
          <a:p>
            <a:pPr marL="0" lvl="0" indent="0" algn="just" rtl="0">
              <a:spcBef>
                <a:spcPts val="600"/>
              </a:spcBef>
              <a:spcAft>
                <a:spcPts val="600"/>
              </a:spcAft>
              <a:buClr>
                <a:schemeClr val="dk1"/>
              </a:buClr>
              <a:buSzPts val="1100"/>
              <a:buFont typeface="Arial"/>
              <a:buNone/>
            </a:pPr>
            <a:endParaRPr sz="1700"/>
          </a:p>
          <a:p>
            <a:pPr marL="0" lvl="0" indent="0" algn="just" rtl="0">
              <a:spcBef>
                <a:spcPts val="600"/>
              </a:spcBef>
              <a:spcAft>
                <a:spcPts val="600"/>
              </a:spcAft>
              <a:buNone/>
            </a:pPr>
            <a:endParaRPr sz="17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2"/>
          <p:cNvSpPr txBox="1">
            <a:spLocks noGrp="1"/>
          </p:cNvSpPr>
          <p:nvPr>
            <p:ph type="title"/>
          </p:nvPr>
        </p:nvSpPr>
        <p:spPr>
          <a:xfrm>
            <a:off x="205500" y="107833"/>
            <a:ext cx="8520600" cy="763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t>Reference Styles</a:t>
            </a:r>
            <a:endParaRPr/>
          </a:p>
        </p:txBody>
      </p:sp>
      <p:sp>
        <p:nvSpPr>
          <p:cNvPr id="311" name="Google Shape;311;p52"/>
          <p:cNvSpPr txBox="1"/>
          <p:nvPr/>
        </p:nvSpPr>
        <p:spPr>
          <a:xfrm>
            <a:off x="202300" y="991267"/>
            <a:ext cx="8663400" cy="5502800"/>
          </a:xfrm>
          <a:prstGeom prst="rect">
            <a:avLst/>
          </a:prstGeom>
          <a:noFill/>
          <a:ln>
            <a:noFill/>
          </a:ln>
        </p:spPr>
        <p:txBody>
          <a:bodyPr spcFirstLastPara="1" wrap="square" lIns="91425" tIns="91425" rIns="91425" bIns="91425" anchor="t" anchorCtr="0">
            <a:noAutofit/>
          </a:bodyPr>
          <a:lstStyle/>
          <a:p>
            <a:pPr marL="0" lvl="0" indent="0" algn="just" rtl="0">
              <a:spcBef>
                <a:spcPts val="600"/>
              </a:spcBef>
              <a:spcAft>
                <a:spcPts val="600"/>
              </a:spcAft>
              <a:buClr>
                <a:schemeClr val="dk1"/>
              </a:buClr>
              <a:buSzPts val="1100"/>
              <a:buFont typeface="Wingdings" pitchFamily="2" charset="2"/>
              <a:buChar char="v"/>
            </a:pPr>
            <a:r>
              <a:rPr lang="en" b="1" dirty="0">
                <a:latin typeface="+mj-lt"/>
              </a:rPr>
              <a:t>Harvard Referencing Style:</a:t>
            </a:r>
            <a:r>
              <a:rPr lang="en" dirty="0">
                <a:latin typeface="+mj-lt"/>
              </a:rPr>
              <a:t> Harvard style is a generic author-date system used in various fields. It emphasizes in-text citations and a reference list with author and date information.</a:t>
            </a:r>
            <a:endParaRPr>
              <a:latin typeface="+mj-lt"/>
            </a:endParaRPr>
          </a:p>
          <a:p>
            <a:pPr marL="0" lvl="0" indent="0" algn="just" rtl="0">
              <a:spcBef>
                <a:spcPts val="600"/>
              </a:spcBef>
              <a:spcAft>
                <a:spcPts val="600"/>
              </a:spcAft>
              <a:buClr>
                <a:schemeClr val="dk1"/>
              </a:buClr>
              <a:buSzPts val="1100"/>
              <a:buFont typeface="Wingdings" pitchFamily="2" charset="2"/>
              <a:buChar char="v"/>
            </a:pPr>
            <a:r>
              <a:rPr lang="en" b="1" dirty="0">
                <a:latin typeface="+mj-lt"/>
              </a:rPr>
              <a:t>Vancouver Style:</a:t>
            </a:r>
            <a:r>
              <a:rPr lang="en" dirty="0">
                <a:latin typeface="+mj-lt"/>
              </a:rPr>
              <a:t> Predominantly used in the biomedical and life sciences, Vancouver style employs numerical in-text citations in brackets and a corresponding numerical reference list.</a:t>
            </a:r>
            <a:endParaRPr>
              <a:latin typeface="+mj-lt"/>
            </a:endParaRPr>
          </a:p>
          <a:p>
            <a:pPr marL="0" lvl="0" indent="0" algn="just" rtl="0">
              <a:spcBef>
                <a:spcPts val="600"/>
              </a:spcBef>
              <a:spcAft>
                <a:spcPts val="600"/>
              </a:spcAft>
              <a:buClr>
                <a:schemeClr val="dk1"/>
              </a:buClr>
              <a:buSzPts val="1100"/>
              <a:buFont typeface="Wingdings" pitchFamily="2" charset="2"/>
              <a:buChar char="v"/>
            </a:pPr>
            <a:r>
              <a:rPr lang="en" b="1" dirty="0">
                <a:latin typeface="+mj-lt"/>
              </a:rPr>
              <a:t>CSE (Council of Science Editors) Style: </a:t>
            </a:r>
            <a:r>
              <a:rPr lang="en" dirty="0">
                <a:latin typeface="+mj-lt"/>
              </a:rPr>
              <a:t>CSE style is often used in the natural and physical sciences. It features in-text citations and a reference list and is known as the "Name-Year" style.</a:t>
            </a:r>
            <a:endParaRPr>
              <a:latin typeface="+mj-lt"/>
            </a:endParaRPr>
          </a:p>
          <a:p>
            <a:pPr marL="0" lvl="0" indent="0" algn="just" rtl="0">
              <a:spcBef>
                <a:spcPts val="600"/>
              </a:spcBef>
              <a:spcAft>
                <a:spcPts val="600"/>
              </a:spcAft>
              <a:buClr>
                <a:schemeClr val="dk1"/>
              </a:buClr>
              <a:buSzPts val="1100"/>
              <a:buFont typeface="Wingdings" pitchFamily="2" charset="2"/>
              <a:buChar char="v"/>
            </a:pPr>
            <a:r>
              <a:rPr lang="en" b="1" dirty="0">
                <a:latin typeface="+mj-lt"/>
              </a:rPr>
              <a:t>Specific Journal or Conference Styles: </a:t>
            </a:r>
            <a:r>
              <a:rPr lang="en" dirty="0">
                <a:latin typeface="+mj-lt"/>
              </a:rPr>
              <a:t>Some academic journals and conferences have their own unique citation and formatting styles. Authors should adhere to these specific requirements when submitting papers.</a:t>
            </a:r>
            <a:endParaRPr>
              <a:latin typeface="+mj-lt"/>
            </a:endParaRPr>
          </a:p>
          <a:p>
            <a:pPr marL="0" lvl="0" indent="0" algn="just" rtl="0">
              <a:spcBef>
                <a:spcPts val="600"/>
              </a:spcBef>
              <a:spcAft>
                <a:spcPts val="600"/>
              </a:spcAft>
              <a:buClr>
                <a:schemeClr val="dk1"/>
              </a:buClr>
              <a:buSzPts val="1100"/>
              <a:buFont typeface="Wingdings" pitchFamily="2" charset="2"/>
              <a:buChar char="v"/>
            </a:pPr>
            <a:r>
              <a:rPr lang="en" dirty="0">
                <a:latin typeface="+mj-lt"/>
              </a:rPr>
              <a:t>It's crucial to check the guidelines provided by the target publication, conference, or institution to determine which referencing style is preferred. Adhering to the specified citation style ensures that your technical paper complies with academic and publication standards.</a:t>
            </a:r>
            <a:endParaRPr>
              <a:latin typeface="+mj-lt"/>
            </a:endParaRPr>
          </a:p>
          <a:p>
            <a:pPr marL="0" lvl="0" indent="0" algn="just" rtl="0">
              <a:spcBef>
                <a:spcPts val="600"/>
              </a:spcBef>
              <a:spcAft>
                <a:spcPts val="600"/>
              </a:spcAft>
              <a:buClr>
                <a:schemeClr val="dk1"/>
              </a:buClr>
              <a:buSzPts val="1100"/>
              <a:buFont typeface="Arial"/>
              <a:buNone/>
            </a:pPr>
            <a:endParaRPr sz="1700"/>
          </a:p>
          <a:p>
            <a:pPr marL="0" lvl="0" indent="0" algn="just" rtl="0">
              <a:spcBef>
                <a:spcPts val="0"/>
              </a:spcBef>
              <a:spcAft>
                <a:spcPts val="0"/>
              </a:spcAft>
              <a:buNone/>
            </a:pPr>
            <a:endParaRPr sz="170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3"/>
          <p:cNvSpPr txBox="1">
            <a:spLocks noGrp="1"/>
          </p:cNvSpPr>
          <p:nvPr>
            <p:ph type="title"/>
          </p:nvPr>
        </p:nvSpPr>
        <p:spPr>
          <a:xfrm>
            <a:off x="175150" y="168533"/>
            <a:ext cx="8520600" cy="763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Reference management software tool - BibTeX</a:t>
            </a:r>
            <a:endParaRPr b="1"/>
          </a:p>
        </p:txBody>
      </p:sp>
      <p:sp>
        <p:nvSpPr>
          <p:cNvPr id="317" name="Google Shape;317;p53"/>
          <p:cNvSpPr txBox="1"/>
          <p:nvPr/>
        </p:nvSpPr>
        <p:spPr>
          <a:xfrm>
            <a:off x="457200" y="1524000"/>
            <a:ext cx="8358300" cy="4876800"/>
          </a:xfrm>
          <a:prstGeom prst="rect">
            <a:avLst/>
          </a:prstGeom>
          <a:noFill/>
          <a:ln>
            <a:noFill/>
          </a:ln>
        </p:spPr>
        <p:txBody>
          <a:bodyPr spcFirstLastPara="1" wrap="square" lIns="91425" tIns="91425" rIns="91425" bIns="91425" anchor="t" anchorCtr="0">
            <a:noAutofit/>
          </a:bodyPr>
          <a:lstStyle/>
          <a:p>
            <a:pPr marL="0" lvl="0" indent="0" algn="just" rtl="0">
              <a:spcBef>
                <a:spcPts val="600"/>
              </a:spcBef>
              <a:spcAft>
                <a:spcPts val="600"/>
              </a:spcAft>
              <a:buClr>
                <a:schemeClr val="dk1"/>
              </a:buClr>
              <a:buSzPts val="1100"/>
              <a:buFont typeface="Wingdings" pitchFamily="2" charset="2"/>
              <a:buChar char="v"/>
            </a:pPr>
            <a:r>
              <a:rPr lang="en" sz="1700" dirty="0">
                <a:latin typeface="+mj-lt"/>
              </a:rPr>
              <a:t>BibTeX is a reference management software tool and file format used for managing and creating bibliographies in documents, particularly in academic and research writing, such as research papers, theses, and articles. </a:t>
            </a:r>
            <a:endParaRPr lang="en" sz="1700" dirty="0" smtClean="0">
              <a:latin typeface="+mj-lt"/>
            </a:endParaRPr>
          </a:p>
          <a:p>
            <a:pPr marL="0" lvl="0" indent="0" algn="just" rtl="0">
              <a:spcBef>
                <a:spcPts val="600"/>
              </a:spcBef>
              <a:spcAft>
                <a:spcPts val="600"/>
              </a:spcAft>
              <a:buClr>
                <a:schemeClr val="dk1"/>
              </a:buClr>
              <a:buSzPts val="1100"/>
              <a:buFont typeface="Wingdings" pitchFamily="2" charset="2"/>
              <a:buChar char="v"/>
            </a:pPr>
            <a:r>
              <a:rPr lang="en" sz="1700" b="1" dirty="0" smtClean="0">
                <a:latin typeface="+mj-lt"/>
              </a:rPr>
              <a:t>Database </a:t>
            </a:r>
            <a:r>
              <a:rPr lang="en" sz="1700" b="1" dirty="0">
                <a:latin typeface="+mj-lt"/>
              </a:rPr>
              <a:t>Creation: </a:t>
            </a:r>
            <a:r>
              <a:rPr lang="en" sz="1700" dirty="0">
                <a:latin typeface="+mj-lt"/>
              </a:rPr>
              <a:t>Users create a BibTeX database (a .bib file) that contains structured entries for each source they want to cite or reference. Each entry contains information about the source, such as its author, title, publication year, journal, and more.</a:t>
            </a:r>
            <a:endParaRPr sz="1700">
              <a:latin typeface="+mj-lt"/>
            </a:endParaRPr>
          </a:p>
          <a:p>
            <a:pPr marL="0" lvl="0" indent="0" algn="just" rtl="0">
              <a:spcBef>
                <a:spcPts val="600"/>
              </a:spcBef>
              <a:spcAft>
                <a:spcPts val="600"/>
              </a:spcAft>
              <a:buClr>
                <a:schemeClr val="dk1"/>
              </a:buClr>
              <a:buSzPts val="1100"/>
              <a:buFont typeface="Wingdings" pitchFamily="2" charset="2"/>
              <a:buChar char="v"/>
            </a:pPr>
            <a:r>
              <a:rPr lang="en" sz="1700" b="1" dirty="0">
                <a:latin typeface="+mj-lt"/>
              </a:rPr>
              <a:t>Citation in Document: </a:t>
            </a:r>
            <a:r>
              <a:rPr lang="en" sz="1700" dirty="0">
                <a:latin typeface="+mj-lt"/>
              </a:rPr>
              <a:t>Within a LaTeX document, authors can include citations to these sources by using a citation command. For example, \cite{AuthorYear}. The citation command corresponds to an entry in the BibTeX database.</a:t>
            </a:r>
            <a:endParaRPr sz="1700">
              <a:latin typeface="+mj-lt"/>
            </a:endParaRPr>
          </a:p>
          <a:p>
            <a:pPr marL="0" lvl="0" indent="0" algn="just" rtl="0">
              <a:spcBef>
                <a:spcPts val="600"/>
              </a:spcBef>
              <a:spcAft>
                <a:spcPts val="600"/>
              </a:spcAft>
              <a:buClr>
                <a:schemeClr val="dk1"/>
              </a:buClr>
              <a:buSzPts val="1100"/>
              <a:buFont typeface="Wingdings" pitchFamily="2" charset="2"/>
              <a:buChar char="v"/>
            </a:pPr>
            <a:r>
              <a:rPr lang="en" sz="1700" b="1" dirty="0">
                <a:latin typeface="+mj-lt"/>
              </a:rPr>
              <a:t>Bibliography Generation:</a:t>
            </a:r>
            <a:r>
              <a:rPr lang="en" sz="1700" dirty="0">
                <a:latin typeface="+mj-lt"/>
              </a:rPr>
              <a:t> At the end of the document, authors insert a command (e.g., \bibliography{database}) that specifies which BibTeX database to use. Then, they use the \bibliographystyle{style} command to specify a particular citation style (e.g., plain, apalike, alpha, etc.).</a:t>
            </a:r>
            <a:endParaRPr sz="1700">
              <a:latin typeface="+mj-lt"/>
            </a:endParaRPr>
          </a:p>
          <a:p>
            <a:pPr marL="0" lvl="0" indent="0" algn="just" rtl="0">
              <a:spcBef>
                <a:spcPts val="0"/>
              </a:spcBef>
              <a:spcAft>
                <a:spcPts val="0"/>
              </a:spcAft>
              <a:buNone/>
            </a:pPr>
            <a:endParaRPr sz="1700">
              <a:latin typeface="+mj-l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54"/>
          <p:cNvSpPr txBox="1">
            <a:spLocks noGrp="1"/>
          </p:cNvSpPr>
          <p:nvPr>
            <p:ph type="title"/>
          </p:nvPr>
        </p:nvSpPr>
        <p:spPr>
          <a:xfrm>
            <a:off x="220675" y="168533"/>
            <a:ext cx="8520600" cy="763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dirty="0"/>
              <a:t>BibTeX</a:t>
            </a:r>
            <a:endParaRPr/>
          </a:p>
        </p:txBody>
      </p:sp>
      <p:sp>
        <p:nvSpPr>
          <p:cNvPr id="323" name="Google Shape;323;p54"/>
          <p:cNvSpPr txBox="1"/>
          <p:nvPr/>
        </p:nvSpPr>
        <p:spPr>
          <a:xfrm>
            <a:off x="232650" y="1247533"/>
            <a:ext cx="8724300" cy="5401600"/>
          </a:xfrm>
          <a:prstGeom prst="rect">
            <a:avLst/>
          </a:prstGeom>
          <a:noFill/>
          <a:ln>
            <a:noFill/>
          </a:ln>
        </p:spPr>
        <p:txBody>
          <a:bodyPr spcFirstLastPara="1" wrap="square" lIns="91425" tIns="91425" rIns="91425" bIns="91425" anchor="t" anchorCtr="0">
            <a:noAutofit/>
          </a:bodyPr>
          <a:lstStyle/>
          <a:p>
            <a:pPr marL="0" lvl="0" indent="0" algn="just" rtl="0">
              <a:spcBef>
                <a:spcPts val="600"/>
              </a:spcBef>
              <a:spcAft>
                <a:spcPts val="600"/>
              </a:spcAft>
              <a:buClr>
                <a:schemeClr val="dk1"/>
              </a:buClr>
              <a:buSzPts val="1100"/>
              <a:buFont typeface="Wingdings" pitchFamily="2" charset="2"/>
              <a:buChar char="v"/>
            </a:pPr>
            <a:r>
              <a:rPr lang="en" sz="1700" b="1" dirty="0"/>
              <a:t>Compilation: </a:t>
            </a:r>
            <a:r>
              <a:rPr lang="en" sz="1700" dirty="0"/>
              <a:t>When the document is compiled using LaTeX, BibTeX is called as a separate step. It processes the citations and generates a bibliography section with a list of references in the specified style.</a:t>
            </a:r>
            <a:endParaRPr sz="1700"/>
          </a:p>
          <a:p>
            <a:pPr marL="0" lvl="0" indent="0" algn="just" rtl="0">
              <a:spcBef>
                <a:spcPts val="600"/>
              </a:spcBef>
              <a:spcAft>
                <a:spcPts val="600"/>
              </a:spcAft>
              <a:buClr>
                <a:schemeClr val="dk1"/>
              </a:buClr>
              <a:buSzPts val="1100"/>
              <a:buFont typeface="Wingdings" pitchFamily="2" charset="2"/>
              <a:buChar char="v"/>
            </a:pPr>
            <a:r>
              <a:rPr lang="en" sz="1700" b="1" dirty="0"/>
              <a:t>Citation and Bibliography Placement:</a:t>
            </a:r>
            <a:r>
              <a:rPr lang="en" sz="1700" dirty="0"/>
              <a:t> Within the document, BibTeX citations are replaced with numbered or author-year references, depending on the chosen citation style. The generated bibliography is typically placed at the end of the document.</a:t>
            </a:r>
            <a:endParaRPr sz="1700"/>
          </a:p>
          <a:p>
            <a:pPr marL="0" lvl="0" indent="0" algn="just" rtl="0">
              <a:spcBef>
                <a:spcPts val="600"/>
              </a:spcBef>
              <a:spcAft>
                <a:spcPts val="600"/>
              </a:spcAft>
              <a:buClr>
                <a:schemeClr val="dk1"/>
              </a:buClr>
              <a:buSzPts val="1100"/>
              <a:buFont typeface="Wingdings" pitchFamily="2" charset="2"/>
              <a:buChar char="v"/>
            </a:pPr>
            <a:r>
              <a:rPr lang="en" sz="1700" dirty="0"/>
              <a:t>BibTeX has several </a:t>
            </a:r>
            <a:r>
              <a:rPr lang="en" sz="1700" b="1" dirty="0"/>
              <a:t>advantages:</a:t>
            </a:r>
            <a:endParaRPr sz="1700" b="1"/>
          </a:p>
          <a:p>
            <a:pPr marL="457200" lvl="0" indent="-330200" algn="just" rtl="0">
              <a:spcBef>
                <a:spcPts val="600"/>
              </a:spcBef>
              <a:spcAft>
                <a:spcPts val="600"/>
              </a:spcAft>
              <a:buSzPts val="1600"/>
              <a:buFont typeface="Wingdings" pitchFamily="2" charset="2"/>
              <a:buChar char="v"/>
            </a:pPr>
            <a:r>
              <a:rPr lang="en" sz="1700" dirty="0"/>
              <a:t>It allows for easy management and updating of references.</a:t>
            </a:r>
            <a:endParaRPr sz="1700"/>
          </a:p>
          <a:p>
            <a:pPr marL="457200" lvl="0" indent="-330200" algn="just" rtl="0">
              <a:spcBef>
                <a:spcPts val="600"/>
              </a:spcBef>
              <a:spcAft>
                <a:spcPts val="600"/>
              </a:spcAft>
              <a:buSzPts val="1600"/>
              <a:buFont typeface="Wingdings" pitchFamily="2" charset="2"/>
              <a:buChar char="v"/>
            </a:pPr>
            <a:r>
              <a:rPr lang="en" sz="1700" dirty="0"/>
              <a:t>It ensures consistent formatting of references throughout the document.</a:t>
            </a:r>
            <a:endParaRPr sz="1700"/>
          </a:p>
          <a:p>
            <a:pPr marL="457200" lvl="0" indent="-330200" algn="just" rtl="0">
              <a:spcBef>
                <a:spcPts val="600"/>
              </a:spcBef>
              <a:spcAft>
                <a:spcPts val="600"/>
              </a:spcAft>
              <a:buSzPts val="1600"/>
              <a:buFont typeface="Wingdings" pitchFamily="2" charset="2"/>
              <a:buChar char="v"/>
            </a:pPr>
            <a:r>
              <a:rPr lang="en" sz="1700" dirty="0"/>
              <a:t>It automates the process of generating the bibliography section, reducing manual work for the author</a:t>
            </a:r>
            <a:r>
              <a:rPr lang="en" sz="1700" dirty="0" smtClean="0"/>
              <a:t>.</a:t>
            </a:r>
            <a:endParaRPr sz="1700"/>
          </a:p>
          <a:p>
            <a:pPr marL="0" lvl="0" indent="0" algn="just" rtl="0">
              <a:spcBef>
                <a:spcPts val="600"/>
              </a:spcBef>
              <a:spcAft>
                <a:spcPts val="600"/>
              </a:spcAft>
              <a:buClr>
                <a:schemeClr val="dk1"/>
              </a:buClr>
              <a:buSzPts val="1100"/>
              <a:buFont typeface="Wingdings" pitchFamily="2" charset="2"/>
              <a:buChar char="v"/>
            </a:pPr>
            <a:r>
              <a:rPr lang="en" sz="1700" dirty="0"/>
              <a:t>However, </a:t>
            </a:r>
            <a:r>
              <a:rPr lang="en" sz="1700" b="1" dirty="0"/>
              <a:t>BibTeX also has limitations</a:t>
            </a:r>
            <a:r>
              <a:rPr lang="en" sz="1700" dirty="0"/>
              <a:t>, such as its relative inflexibility compared to more modern reference management tools. Over the years, variants of BibTeX, like BibLaTeX, have been developed to address some of these limitations and offer more flexibility in terms of citation styles and formatting.</a:t>
            </a:r>
            <a:endParaRPr sz="1700"/>
          </a:p>
          <a:p>
            <a:pPr marL="0" lvl="0" indent="0" algn="just" rtl="0">
              <a:spcBef>
                <a:spcPts val="0"/>
              </a:spcBef>
              <a:spcAft>
                <a:spcPts val="0"/>
              </a:spcAft>
              <a:buClr>
                <a:schemeClr val="dk1"/>
              </a:buClr>
              <a:buSzPts val="1100"/>
              <a:buFont typeface="Wingdings" pitchFamily="2" charset="2"/>
              <a:buChar char="v"/>
            </a:pPr>
            <a:endParaRPr sz="1700">
              <a:latin typeface="+mj-lt"/>
            </a:endParaRPr>
          </a:p>
          <a:p>
            <a:pPr marL="0" lvl="0" indent="0" algn="just" rtl="0">
              <a:spcBef>
                <a:spcPts val="0"/>
              </a:spcBef>
              <a:spcAft>
                <a:spcPts val="0"/>
              </a:spcAft>
              <a:buNone/>
            </a:pPr>
            <a:endParaRPr sz="160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55"/>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Other tools</a:t>
            </a:r>
            <a:endParaRPr b="1"/>
          </a:p>
        </p:txBody>
      </p:sp>
      <p:sp>
        <p:nvSpPr>
          <p:cNvPr id="329" name="Google Shape;329;p55"/>
          <p:cNvSpPr txBox="1"/>
          <p:nvPr/>
        </p:nvSpPr>
        <p:spPr>
          <a:xfrm>
            <a:off x="247825" y="1409367"/>
            <a:ext cx="8520600" cy="5138400"/>
          </a:xfrm>
          <a:prstGeom prst="rect">
            <a:avLst/>
          </a:prstGeom>
          <a:noFill/>
          <a:ln>
            <a:noFill/>
          </a:ln>
        </p:spPr>
        <p:txBody>
          <a:bodyPr spcFirstLastPara="1" wrap="square" lIns="91425" tIns="91425" rIns="91425" bIns="91425" anchor="t" anchorCtr="0">
            <a:noAutofit/>
          </a:bodyPr>
          <a:lstStyle/>
          <a:p>
            <a:pPr marL="0" lvl="0" indent="0" algn="just" rtl="0">
              <a:spcBef>
                <a:spcPts val="600"/>
              </a:spcBef>
              <a:spcAft>
                <a:spcPts val="600"/>
              </a:spcAft>
              <a:buClr>
                <a:schemeClr val="dk1"/>
              </a:buClr>
              <a:buSzPts val="1100"/>
              <a:buFont typeface="Wingdings" pitchFamily="2" charset="2"/>
              <a:buChar char="v"/>
            </a:pPr>
            <a:r>
              <a:rPr lang="en" sz="1700" b="1" dirty="0"/>
              <a:t>Zotero:</a:t>
            </a:r>
            <a:r>
              <a:rPr lang="en" sz="1700" dirty="0"/>
              <a:t> Zotero is a free and open-source reference management tool that allows you to collect, organize, and cite research materials. It offers browser extensions, desktop software, and cloud synchronization.</a:t>
            </a:r>
            <a:endParaRPr sz="1700"/>
          </a:p>
          <a:p>
            <a:pPr marL="0" lvl="0" indent="0" algn="just" rtl="0">
              <a:spcBef>
                <a:spcPts val="600"/>
              </a:spcBef>
              <a:spcAft>
                <a:spcPts val="600"/>
              </a:spcAft>
              <a:buClr>
                <a:schemeClr val="dk1"/>
              </a:buClr>
              <a:buSzPts val="1100"/>
              <a:buFont typeface="Wingdings" pitchFamily="2" charset="2"/>
              <a:buChar char="v"/>
            </a:pPr>
            <a:r>
              <a:rPr lang="en" sz="1700" b="1" dirty="0"/>
              <a:t>EndNote:</a:t>
            </a:r>
            <a:r>
              <a:rPr lang="en" sz="1700" dirty="0"/>
              <a:t> EndNote is a comprehensive reference management software often used in academic and professional settings. It assists in collecting, organizing, and formatting references and citations.</a:t>
            </a:r>
            <a:endParaRPr sz="1700"/>
          </a:p>
          <a:p>
            <a:pPr marL="0" lvl="0" indent="0" algn="just" rtl="0">
              <a:spcBef>
                <a:spcPts val="600"/>
              </a:spcBef>
              <a:spcAft>
                <a:spcPts val="600"/>
              </a:spcAft>
              <a:buClr>
                <a:schemeClr val="dk1"/>
              </a:buClr>
              <a:buSzPts val="1100"/>
              <a:buFont typeface="Wingdings" pitchFamily="2" charset="2"/>
              <a:buChar char="v"/>
            </a:pPr>
            <a:r>
              <a:rPr lang="en" sz="1700" b="1" dirty="0"/>
              <a:t>Mendeley: </a:t>
            </a:r>
            <a:r>
              <a:rPr lang="en" sz="1700" dirty="0"/>
              <a:t>Mendeley is a free reference manager and academic social network. It combines reference management, PDF organization, and collaboration tools. It is widely used in research and academic settings.</a:t>
            </a:r>
            <a:endParaRPr sz="1700"/>
          </a:p>
          <a:p>
            <a:pPr marL="0" lvl="0" indent="0" algn="just" rtl="0">
              <a:spcBef>
                <a:spcPts val="600"/>
              </a:spcBef>
              <a:spcAft>
                <a:spcPts val="600"/>
              </a:spcAft>
              <a:buClr>
                <a:schemeClr val="dk1"/>
              </a:buClr>
              <a:buSzPts val="1100"/>
              <a:buFont typeface="Wingdings" pitchFamily="2" charset="2"/>
              <a:buChar char="v"/>
            </a:pPr>
            <a:r>
              <a:rPr lang="en" sz="1700" b="1" dirty="0"/>
              <a:t>RefWorks:</a:t>
            </a:r>
            <a:r>
              <a:rPr lang="en" sz="1700" dirty="0"/>
              <a:t> RefWorks is a web-based reference management tool used primarily by educational institutions and libraries. It enables users to create, manage, and format citations and references.</a:t>
            </a:r>
            <a:endParaRPr sz="1700"/>
          </a:p>
          <a:p>
            <a:pPr marL="0" lvl="0" indent="0" algn="just" rtl="0">
              <a:spcBef>
                <a:spcPts val="600"/>
              </a:spcBef>
              <a:spcAft>
                <a:spcPts val="600"/>
              </a:spcAft>
              <a:buClr>
                <a:schemeClr val="dk1"/>
              </a:buClr>
              <a:buSzPts val="1100"/>
              <a:buFont typeface="Wingdings" pitchFamily="2" charset="2"/>
              <a:buChar char="v"/>
            </a:pPr>
            <a:r>
              <a:rPr lang="en" sz="1700" b="1" dirty="0"/>
              <a:t>Citeulike:</a:t>
            </a:r>
            <a:r>
              <a:rPr lang="en" sz="1700" dirty="0"/>
              <a:t> Citeulike is a free online service designed for discovering and managing scholarly references. It allows users to store and share references, as well as create and format reference lists.</a:t>
            </a:r>
            <a:endParaRPr sz="1700"/>
          </a:p>
          <a:p>
            <a:pPr marL="0" lvl="0" indent="0" algn="just" rtl="0">
              <a:spcBef>
                <a:spcPts val="600"/>
              </a:spcBef>
              <a:spcAft>
                <a:spcPts val="600"/>
              </a:spcAft>
              <a:buClr>
                <a:schemeClr val="dk1"/>
              </a:buClr>
              <a:buSzPts val="1100"/>
              <a:buFont typeface="Wingdings" pitchFamily="2" charset="2"/>
              <a:buChar char="v"/>
            </a:pPr>
            <a:endParaRPr sz="1700"/>
          </a:p>
          <a:p>
            <a:pPr marL="0" lvl="0" indent="0" algn="just" rtl="0">
              <a:spcBef>
                <a:spcPts val="600"/>
              </a:spcBef>
              <a:spcAft>
                <a:spcPts val="600"/>
              </a:spcAft>
              <a:buFont typeface="Wingdings" pitchFamily="2" charset="2"/>
              <a:buChar char="v"/>
            </a:pPr>
            <a:endParaRPr sz="170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6"/>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t>Other tools</a:t>
            </a:r>
            <a:endParaRPr/>
          </a:p>
        </p:txBody>
      </p:sp>
      <p:sp>
        <p:nvSpPr>
          <p:cNvPr id="335" name="Google Shape;335;p56"/>
          <p:cNvSpPr txBox="1"/>
          <p:nvPr/>
        </p:nvSpPr>
        <p:spPr>
          <a:xfrm>
            <a:off x="228600" y="1598000"/>
            <a:ext cx="8660400" cy="5260000"/>
          </a:xfrm>
          <a:prstGeom prst="rect">
            <a:avLst/>
          </a:prstGeom>
          <a:noFill/>
          <a:ln>
            <a:noFill/>
          </a:ln>
        </p:spPr>
        <p:txBody>
          <a:bodyPr spcFirstLastPara="1" wrap="square" lIns="91425" tIns="91425" rIns="91425" bIns="91425" anchor="t" anchorCtr="0">
            <a:noAutofit/>
          </a:bodyPr>
          <a:lstStyle/>
          <a:p>
            <a:pPr marL="0" lvl="0" indent="0" algn="just" rtl="0">
              <a:spcBef>
                <a:spcPts val="600"/>
              </a:spcBef>
              <a:spcAft>
                <a:spcPts val="600"/>
              </a:spcAft>
              <a:buClr>
                <a:schemeClr val="dk1"/>
              </a:buClr>
              <a:buSzPts val="1100"/>
              <a:buFont typeface="Wingdings" pitchFamily="2" charset="2"/>
              <a:buChar char="v"/>
            </a:pPr>
            <a:r>
              <a:rPr lang="en" b="1" dirty="0"/>
              <a:t>JabRef:</a:t>
            </a:r>
            <a:r>
              <a:rPr lang="en" dirty="0"/>
              <a:t> JabRef is an open-source reference manager that works with BibTeX. It is particularly popular among LaTeX users for managing references in their research documents.</a:t>
            </a:r>
            <a:endParaRPr/>
          </a:p>
          <a:p>
            <a:pPr marL="0" lvl="0" indent="0" algn="just" rtl="0">
              <a:spcBef>
                <a:spcPts val="600"/>
              </a:spcBef>
              <a:spcAft>
                <a:spcPts val="600"/>
              </a:spcAft>
              <a:buClr>
                <a:schemeClr val="dk1"/>
              </a:buClr>
              <a:buSzPts val="1100"/>
              <a:buFont typeface="Wingdings" pitchFamily="2" charset="2"/>
              <a:buChar char="v"/>
            </a:pPr>
            <a:r>
              <a:rPr lang="en" b="1" dirty="0"/>
              <a:t>Citavi:</a:t>
            </a:r>
            <a:r>
              <a:rPr lang="en" dirty="0"/>
              <a:t> Citavi is a reference management and task planning tool for Windows users. It is popular in academic and research institutions, particularly in German-speaking countries.</a:t>
            </a:r>
            <a:endParaRPr/>
          </a:p>
          <a:p>
            <a:pPr marL="0" lvl="0" indent="0" algn="just" rtl="0">
              <a:spcBef>
                <a:spcPts val="600"/>
              </a:spcBef>
              <a:spcAft>
                <a:spcPts val="600"/>
              </a:spcAft>
              <a:buClr>
                <a:schemeClr val="dk1"/>
              </a:buClr>
              <a:buSzPts val="1100"/>
              <a:buFont typeface="Wingdings" pitchFamily="2" charset="2"/>
              <a:buChar char="v"/>
            </a:pPr>
            <a:r>
              <a:rPr lang="en" b="1" dirty="0"/>
              <a:t>Qiqqa:</a:t>
            </a:r>
            <a:r>
              <a:rPr lang="en" dirty="0"/>
              <a:t> Qiqqa is a reference management software with features for PDF management, annotation, and reference organization. It is designed for researchers and academics.</a:t>
            </a:r>
            <a:endParaRPr/>
          </a:p>
          <a:p>
            <a:pPr marL="0" lvl="0" indent="0" algn="just" rtl="0">
              <a:spcBef>
                <a:spcPts val="600"/>
              </a:spcBef>
              <a:spcAft>
                <a:spcPts val="600"/>
              </a:spcAft>
              <a:buClr>
                <a:schemeClr val="dk1"/>
              </a:buClr>
              <a:buSzPts val="1100"/>
              <a:buFont typeface="Wingdings" pitchFamily="2" charset="2"/>
              <a:buChar char="v"/>
            </a:pPr>
            <a:r>
              <a:rPr lang="en" b="1" dirty="0"/>
              <a:t>EndNote Web:</a:t>
            </a:r>
            <a:r>
              <a:rPr lang="en" dirty="0"/>
              <a:t> EndNote Web is the online version of EndNote, offering reference management and formatting capabilities in a web-based environment.</a:t>
            </a:r>
            <a:endParaRPr/>
          </a:p>
          <a:p>
            <a:pPr marL="0" lvl="0" indent="0" algn="just" rtl="0">
              <a:spcBef>
                <a:spcPts val="600"/>
              </a:spcBef>
              <a:spcAft>
                <a:spcPts val="600"/>
              </a:spcAft>
              <a:buClr>
                <a:schemeClr val="dk1"/>
              </a:buClr>
              <a:buSzPts val="1100"/>
              <a:buFont typeface="Wingdings" pitchFamily="2" charset="2"/>
              <a:buChar char="v"/>
            </a:pPr>
            <a:r>
              <a:rPr lang="en" b="1" dirty="0"/>
              <a:t>BibSonomy: </a:t>
            </a:r>
            <a:r>
              <a:rPr lang="en" dirty="0"/>
              <a:t>BibSonomy is a social bookmarking and reference management system that allows users to collect, organize, and share their references online.</a:t>
            </a:r>
            <a:endParaRPr/>
          </a:p>
          <a:p>
            <a:pPr marL="0" lvl="0" indent="0" algn="just" rtl="0">
              <a:spcBef>
                <a:spcPts val="600"/>
              </a:spcBef>
              <a:spcAft>
                <a:spcPts val="600"/>
              </a:spcAft>
              <a:buClr>
                <a:schemeClr val="dk1"/>
              </a:buClr>
              <a:buSzPts val="1100"/>
              <a:buFont typeface="Wingdings" pitchFamily="2" charset="2"/>
              <a:buChar char="v"/>
            </a:pPr>
            <a:endParaRPr/>
          </a:p>
          <a:p>
            <a:pPr marL="0" lvl="0" indent="0" algn="just"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Text Placeholder 2"/>
          <p:cNvSpPr>
            <a:spLocks noGrp="1"/>
          </p:cNvSpPr>
          <p:nvPr>
            <p:ph type="body" idx="1"/>
          </p:nvPr>
        </p:nvSpPr>
        <p:spPr/>
        <p:txBody>
          <a:bodyPr/>
          <a:lstStyle/>
          <a:p>
            <a:endParaRPr lang="en-US"/>
          </a:p>
        </p:txBody>
      </p:sp>
      <p:pic>
        <p:nvPicPr>
          <p:cNvPr id="1027" name="Picture 3"/>
          <p:cNvPicPr>
            <a:picLocks noChangeAspect="1" noChangeArrowheads="1"/>
          </p:cNvPicPr>
          <p:nvPr/>
        </p:nvPicPr>
        <p:blipFill>
          <a:blip r:embed="rId2"/>
          <a:srcRect/>
          <a:stretch>
            <a:fillRect/>
          </a:stretch>
        </p:blipFill>
        <p:spPr bwMode="auto">
          <a:xfrm>
            <a:off x="-1933575" y="-228600"/>
            <a:ext cx="13011150" cy="73152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Text Placeholder 2"/>
          <p:cNvSpPr>
            <a:spLocks noGrp="1"/>
          </p:cNvSpPr>
          <p:nvPr>
            <p:ph type="body" idx="1"/>
          </p:nvPr>
        </p:nvSpPr>
        <p:spPr/>
        <p:txBody>
          <a:bodyPr/>
          <a:lstStyle/>
          <a:p>
            <a:endParaRPr lang="en-US"/>
          </a:p>
        </p:txBody>
      </p:sp>
      <p:pic>
        <p:nvPicPr>
          <p:cNvPr id="2050" name="Picture 2"/>
          <p:cNvPicPr>
            <a:picLocks noChangeAspect="1" noChangeArrowheads="1"/>
          </p:cNvPicPr>
          <p:nvPr/>
        </p:nvPicPr>
        <p:blipFill>
          <a:blip r:embed="rId2"/>
          <a:srcRect/>
          <a:stretch>
            <a:fillRect/>
          </a:stretch>
        </p:blipFill>
        <p:spPr bwMode="auto">
          <a:xfrm>
            <a:off x="0" y="0"/>
            <a:ext cx="13011150" cy="73152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13</TotalTime>
  <Words>1523</Words>
  <Application>Microsoft Office PowerPoint</Application>
  <PresentationFormat>On-screen Show (4:3)</PresentationFormat>
  <Paragraphs>61</Paragraphs>
  <Slides>13</Slides>
  <Notes>10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References and Citations</vt:lpstr>
      <vt:lpstr>References and Citations</vt:lpstr>
      <vt:lpstr>Citations</vt:lpstr>
      <vt:lpstr>References</vt:lpstr>
      <vt:lpstr>Reference Styles</vt:lpstr>
      <vt:lpstr>Reference Styles</vt:lpstr>
      <vt:lpstr>Reference Styles</vt:lpstr>
      <vt:lpstr>Reference management software tool - BibTeX</vt:lpstr>
      <vt:lpstr>BibTeX</vt:lpstr>
      <vt:lpstr>Other tools</vt:lpstr>
      <vt:lpstr>Other tools</vt:lpstr>
      <vt:lpstr>Slide 12</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References and Citations</dc:title>
  <dc:creator>A</dc:creator>
  <cp:lastModifiedBy>A</cp:lastModifiedBy>
  <cp:revision>5</cp:revision>
  <dcterms:created xsi:type="dcterms:W3CDTF">2025-10-28T09:50:58Z</dcterms:created>
  <dcterms:modified xsi:type="dcterms:W3CDTF">2025-10-29T07:14:43Z</dcterms:modified>
</cp:coreProperties>
</file>