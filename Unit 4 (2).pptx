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tGdOjWH0P3wr39xwO4nrnwHQz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45BDDF4-624B-406F-B226-89C4BFB2F0DC}">
  <a:tblStyle styleId="{645BDDF4-624B-406F-B226-89C4BFB2F0DC}" styleName="Table_0">
    <a:wholeTbl>
      <a:tcTxStyle b="off" i="off">
        <a:font>
          <a:latin typeface="Georgia"/>
          <a:ea typeface="Georgia"/>
          <a:cs typeface="Georg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AE8"/>
          </a:solidFill>
        </a:fill>
      </a:tcStyle>
    </a:wholeTbl>
    <a:band1H>
      <a:tcTxStyle/>
      <a:tcStyle>
        <a:tcBdr/>
        <a:fill>
          <a:solidFill>
            <a:srgbClr val="EED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ED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eorgia"/>
          <a:ea typeface="Georgia"/>
          <a:cs typeface="Georg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eorgia"/>
          <a:ea typeface="Georgia"/>
          <a:cs typeface="Georg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eorgia"/>
          <a:ea typeface="Georgia"/>
          <a:cs typeface="Georg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eorgia"/>
          <a:ea typeface="Georgia"/>
          <a:cs typeface="Georg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2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A979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ftr" idx="11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sldNum" idx="12"/>
          </p:nvPr>
        </p:nvSpPr>
        <p:spPr>
          <a:xfrm>
            <a:off x="4362450" y="1027113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chemeClr val="lt2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p24"/>
          <p:cNvCxnSpPr/>
          <p:nvPr/>
        </p:nvCxnSpPr>
        <p:spPr>
          <a:xfrm rot="10800000" flipH="1">
            <a:off x="4562475" y="1576388"/>
            <a:ext cx="9525" cy="48180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301752" y="1371600"/>
            <a:ext cx="4038600" cy="468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3537" algn="l">
              <a:spcBef>
                <a:spcPts val="500"/>
              </a:spcBef>
              <a:spcAft>
                <a:spcPts val="0"/>
              </a:spcAft>
              <a:buSzPts val="2125"/>
              <a:buChar char="⚫"/>
              <a:defRPr sz="2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2"/>
          </p:nvPr>
        </p:nvSpPr>
        <p:spPr>
          <a:xfrm>
            <a:off x="4800600" y="1371600"/>
            <a:ext cx="4038600" cy="468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3537" algn="l">
              <a:spcBef>
                <a:spcPts val="500"/>
              </a:spcBef>
              <a:spcAft>
                <a:spcPts val="0"/>
              </a:spcAft>
              <a:buSzPts val="2125"/>
              <a:buChar char="⚫"/>
              <a:defRPr sz="2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dt" idx="10"/>
          </p:nvPr>
        </p:nvSpPr>
        <p:spPr>
          <a:xfrm>
            <a:off x="5791200" y="6410325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ftr" idx="11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25"/>
          <p:cNvSpPr/>
          <p:nvPr/>
        </p:nvSpPr>
        <p:spPr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2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" name="Google Shape;42;p25"/>
          <p:cNvSpPr/>
          <p:nvPr/>
        </p:nvSpPr>
        <p:spPr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" name="Google Shape;43;p25"/>
          <p:cNvSpPr/>
          <p:nvPr/>
        </p:nvSpPr>
        <p:spPr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4" name="Google Shape;44;p25"/>
          <p:cNvCxnSpPr/>
          <p:nvPr/>
        </p:nvCxnSpPr>
        <p:spPr>
          <a:xfrm>
            <a:off x="155575" y="2419350"/>
            <a:ext cx="8832850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5" name="Google Shape;45;p25"/>
          <p:cNvSpPr/>
          <p:nvPr/>
        </p:nvSpPr>
        <p:spPr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" name="Google Shape;46;p25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5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5"/>
          <p:cNvSpPr txBox="1"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20"/>
              </a:spcBef>
              <a:spcAft>
                <a:spcPts val="0"/>
              </a:spcAft>
              <a:buSzPts val="1360"/>
              <a:buNone/>
              <a:defRPr sz="1600" b="1" cap="none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dt" idx="10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ftr" idx="11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sldNum" idx="12"/>
          </p:nvPr>
        </p:nvSpPr>
        <p:spPr>
          <a:xfrm>
            <a:off x="4343400" y="219868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26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26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26"/>
          <p:cNvSpPr/>
          <p:nvPr/>
        </p:nvSpPr>
        <p:spPr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26"/>
          <p:cNvSpPr/>
          <p:nvPr/>
        </p:nvSpPr>
        <p:spPr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26"/>
          <p:cNvSpPr/>
          <p:nvPr/>
        </p:nvSpPr>
        <p:spPr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26"/>
          <p:cNvSpPr/>
          <p:nvPr/>
        </p:nvSpPr>
        <p:spPr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26"/>
          <p:cNvSpPr/>
          <p:nvPr/>
        </p:nvSpPr>
        <p:spPr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2" name="Google Shape;62;p26"/>
          <p:cNvCxnSpPr/>
          <p:nvPr/>
        </p:nvCxnSpPr>
        <p:spPr>
          <a:xfrm>
            <a:off x="152400" y="2438400"/>
            <a:ext cx="8832850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3" name="Google Shape;63;p26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6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6"/>
          <p:cNvSpPr txBox="1"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360"/>
              <a:buNone/>
              <a:defRPr sz="16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Font typeface="Georgia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  <a:defRPr sz="4200" b="0" cap="none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ftr" idx="11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dt" idx="10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sldNum" idx="12"/>
          </p:nvPr>
        </p:nvSpPr>
        <p:spPr>
          <a:xfrm>
            <a:off x="4343400" y="219868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bg>
      <p:bgPr>
        <a:solidFill>
          <a:schemeClr val="lt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27"/>
          <p:cNvCxnSpPr/>
          <p:nvPr/>
        </p:nvCxnSpPr>
        <p:spPr>
          <a:xfrm rot="10800000">
            <a:off x="4572000" y="2200275"/>
            <a:ext cx="0" cy="4187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2" name="Google Shape;72;p27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27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" name="Google Shape;74;p2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" name="Google Shape;75;p27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" name="Google Shape;76;p27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7"/>
          <p:cNvSpPr/>
          <p:nvPr/>
        </p:nvSpPr>
        <p:spPr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78" name="Google Shape;78;p27"/>
          <p:cNvCxnSpPr/>
          <p:nvPr/>
        </p:nvCxnSpPr>
        <p:spPr>
          <a:xfrm>
            <a:off x="152400" y="1279525"/>
            <a:ext cx="8832850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9" name="Google Shape;79;p27"/>
          <p:cNvSpPr/>
          <p:nvPr/>
        </p:nvSpPr>
        <p:spPr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27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7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7"/>
          <p:cNvSpPr txBox="1"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1870"/>
              <a:buNone/>
              <a:defRPr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2"/>
          </p:nvPr>
        </p:nvSpPr>
        <p:spPr>
          <a:xfrm>
            <a:off x="4791330" y="1524000"/>
            <a:ext cx="4041775" cy="731520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1870"/>
              <a:buNone/>
              <a:defRPr sz="2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None/>
              <a:defRPr sz="1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body" idx="3"/>
          </p:nvPr>
        </p:nvSpPr>
        <p:spPr>
          <a:xfrm>
            <a:off x="301752" y="2471383"/>
            <a:ext cx="4041648" cy="381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body" idx="4"/>
          </p:nvPr>
        </p:nvSpPr>
        <p:spPr>
          <a:xfrm>
            <a:off x="4800600" y="2471383"/>
            <a:ext cx="4038600" cy="382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04800" y="6410325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4343400" y="104298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dt" idx="10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ftr" idx="11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sldNum" idx="12"/>
          </p:nvPr>
        </p:nvSpPr>
        <p:spPr>
          <a:xfrm>
            <a:off x="4343400" y="103663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9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29"/>
          <p:cNvSpPr/>
          <p:nvPr/>
        </p:nvSpPr>
        <p:spPr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29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29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29"/>
          <p:cNvSpPr/>
          <p:nvPr/>
        </p:nvSpPr>
        <p:spPr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29"/>
          <p:cNvSpPr/>
          <p:nvPr/>
        </p:nvSpPr>
        <p:spPr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29"/>
          <p:cNvSpPr txBox="1">
            <a:spLocks noGrp="1"/>
          </p:cNvSpPr>
          <p:nvPr>
            <p:ph type="dt" idx="10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ftr" idx="11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sldNum" idx="12"/>
          </p:nvPr>
        </p:nvSpPr>
        <p:spPr>
          <a:xfrm>
            <a:off x="4267200" y="6324600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0"/>
          <p:cNvSpPr/>
          <p:nvPr/>
        </p:nvSpPr>
        <p:spPr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30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30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30"/>
          <p:cNvSpPr/>
          <p:nvPr/>
        </p:nvSpPr>
        <p:spPr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" name="Google Shape;110;p3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" name="Google Shape;111;p3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0"/>
          <p:cNvSpPr/>
          <p:nvPr/>
        </p:nvSpPr>
        <p:spPr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3" name="Google Shape;113;p30"/>
          <p:cNvCxnSpPr/>
          <p:nvPr/>
        </p:nvCxnSpPr>
        <p:spPr>
          <a:xfrm>
            <a:off x="152400" y="533400"/>
            <a:ext cx="8832850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4" name="Google Shape;114;p30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0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0"/>
          <p:cNvSpPr/>
          <p:nvPr/>
        </p:nvSpPr>
        <p:spPr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30"/>
          <p:cNvSpPr txBox="1"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  <a:defRPr sz="2200" b="1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body" idx="1"/>
          </p:nvPr>
        </p:nvSpPr>
        <p:spPr>
          <a:xfrm>
            <a:off x="381000" y="1981200"/>
            <a:ext cx="2362200" cy="414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Georgia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30"/>
          <p:cNvSpPr txBox="1">
            <a:spLocks noGrp="1"/>
          </p:cNvSpPr>
          <p:nvPr>
            <p:ph type="body" idx="2"/>
          </p:nvPr>
        </p:nvSpPr>
        <p:spPr>
          <a:xfrm>
            <a:off x="3124200" y="685800"/>
            <a:ext cx="56388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30"/>
          <p:cNvSpPr txBox="1">
            <a:spLocks noGrp="1"/>
          </p:cNvSpPr>
          <p:nvPr>
            <p:ph type="sldNum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21" name="Google Shape;121;p30"/>
          <p:cNvSpPr txBox="1">
            <a:spLocks noGrp="1"/>
          </p:cNvSpPr>
          <p:nvPr>
            <p:ph type="dt" idx="10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0"/>
          <p:cNvSpPr txBox="1">
            <a:spLocks noGrp="1"/>
          </p:cNvSpPr>
          <p:nvPr>
            <p:ph type="ftr" idx="11"/>
          </p:nvPr>
        </p:nvSpPr>
        <p:spPr>
          <a:xfrm>
            <a:off x="301625" y="6410325"/>
            <a:ext cx="338296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31"/>
          <p:cNvCxnSpPr/>
          <p:nvPr/>
        </p:nvCxnSpPr>
        <p:spPr>
          <a:xfrm>
            <a:off x="152400" y="533400"/>
            <a:ext cx="8832850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5" name="Google Shape;125;p31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31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31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3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31"/>
          <p:cNvSpPr/>
          <p:nvPr/>
        </p:nvSpPr>
        <p:spPr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31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1"/>
          <p:cNvSpPr/>
          <p:nvPr/>
        </p:nvSpPr>
        <p:spPr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3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1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1"/>
          <p:cNvSpPr/>
          <p:nvPr/>
        </p:nvSpPr>
        <p:spPr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31"/>
          <p:cNvSpPr txBox="1"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>
            <a:spLocks noGrp="1"/>
          </p:cNvSpPr>
          <p:nvPr>
            <p:ph type="pic" idx="2"/>
          </p:nvPr>
        </p:nvSpPr>
        <p:spPr>
          <a:xfrm>
            <a:off x="3000375" y="609600"/>
            <a:ext cx="5867400" cy="42672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31"/>
          <p:cNvSpPr txBox="1">
            <a:spLocks noGrp="1"/>
          </p:cNvSpPr>
          <p:nvPr>
            <p:ph type="body" idx="1"/>
          </p:nvPr>
        </p:nvSpPr>
        <p:spPr>
          <a:xfrm>
            <a:off x="381000" y="990600"/>
            <a:ext cx="2438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360"/>
              <a:buFont typeface="Georgia"/>
              <a:buNone/>
              <a:defRPr sz="1600">
                <a:solidFill>
                  <a:srgbClr val="FFFFFF"/>
                </a:solidFill>
              </a:defRPr>
            </a:lvl1pPr>
            <a:lvl2pPr marL="914400" lvl="1" indent="-281940" algn="l">
              <a:spcBef>
                <a:spcPts val="1000"/>
              </a:spcBef>
              <a:spcAft>
                <a:spcPts val="0"/>
              </a:spcAft>
              <a:buSzPts val="840"/>
              <a:buChar char="⚪"/>
              <a:defRPr sz="1200"/>
            </a:lvl2pPr>
            <a:lvl3pPr marL="1371600" lvl="2" indent="-276225" algn="l">
              <a:spcBef>
                <a:spcPts val="200"/>
              </a:spcBef>
              <a:spcAft>
                <a:spcPts val="0"/>
              </a:spcAft>
              <a:buSzPts val="750"/>
              <a:buChar char="⯍"/>
              <a:defRPr sz="1000"/>
            </a:lvl3pPr>
            <a:lvl4pPr marL="1828800" lvl="3" indent="-268605" algn="l">
              <a:spcBef>
                <a:spcPts val="180"/>
              </a:spcBef>
              <a:spcAft>
                <a:spcPts val="0"/>
              </a:spcAft>
              <a:buSzPts val="630"/>
              <a:buChar char="🞆"/>
              <a:defRPr sz="900"/>
            </a:lvl4pPr>
            <a:lvl5pPr marL="2286000" lvl="4" indent="-285750" algn="l">
              <a:spcBef>
                <a:spcPts val="180"/>
              </a:spcBef>
              <a:spcAft>
                <a:spcPts val="0"/>
              </a:spcAft>
              <a:buSzPts val="900"/>
              <a:buFont typeface="Georgia"/>
              <a:buChar char="•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31"/>
          <p:cNvSpPr txBox="1">
            <a:spLocks noGrp="1"/>
          </p:cNvSpPr>
          <p:nvPr>
            <p:ph type="sldNum" idx="12"/>
          </p:nvPr>
        </p:nvSpPr>
        <p:spPr>
          <a:xfrm>
            <a:off x="1371600" y="312738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39" name="Google Shape;139;p31"/>
          <p:cNvSpPr txBox="1">
            <a:spLocks noGrp="1"/>
          </p:cNvSpPr>
          <p:nvPr>
            <p:ph type="dt" idx="10"/>
          </p:nvPr>
        </p:nvSpPr>
        <p:spPr>
          <a:xfrm>
            <a:off x="5788025" y="6405563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1"/>
          <p:cNvSpPr txBox="1">
            <a:spLocks noGrp="1"/>
          </p:cNvSpPr>
          <p:nvPr>
            <p:ph type="ftr" idx="11"/>
          </p:nvPr>
        </p:nvSpPr>
        <p:spPr>
          <a:xfrm>
            <a:off x="301625" y="6410325"/>
            <a:ext cx="358457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lt2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2"/>
          <p:cNvSpPr txBox="1">
            <a:spLocks noGrp="1"/>
          </p:cNvSpPr>
          <p:nvPr>
            <p:ph type="body" idx="1"/>
          </p:nvPr>
        </p:nvSpPr>
        <p:spPr>
          <a:xfrm rot="5400000">
            <a:off x="2269331" y="-443706"/>
            <a:ext cx="4598988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32"/>
          <p:cNvSpPr txBox="1">
            <a:spLocks noGrp="1"/>
          </p:cNvSpPr>
          <p:nvPr>
            <p:ph type="dt" idx="10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2"/>
          <p:cNvSpPr txBox="1">
            <a:spLocks noGrp="1"/>
          </p:cNvSpPr>
          <p:nvPr>
            <p:ph type="ftr" idx="11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sldNum" idx="12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bg>
      <p:bgPr>
        <a:solidFill>
          <a:schemeClr val="lt2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33"/>
          <p:cNvSpPr/>
          <p:nvPr/>
        </p:nvSpPr>
        <p:spPr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33"/>
          <p:cNvSpPr/>
          <p:nvPr/>
        </p:nvSpPr>
        <p:spPr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1" name="Google Shape;151;p3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33"/>
          <p:cNvSpPr/>
          <p:nvPr/>
        </p:nvSpPr>
        <p:spPr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33"/>
          <p:cNvSpPr/>
          <p:nvPr/>
        </p:nvSpPr>
        <p:spPr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4" name="Google Shape;154;p33"/>
          <p:cNvCxnSpPr/>
          <p:nvPr/>
        </p:nvCxnSpPr>
        <p:spPr>
          <a:xfrm rot="5400000">
            <a:off x="4021137" y="3278188"/>
            <a:ext cx="6245225" cy="0"/>
          </a:xfrm>
          <a:prstGeom prst="straightConnector1">
            <a:avLst/>
          </a:prstGeom>
          <a:noFill/>
          <a:ln w="95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5" name="Google Shape;155;p33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3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3"/>
          <p:cNvSpPr txBox="1">
            <a:spLocks noGrp="1"/>
          </p:cNvSpPr>
          <p:nvPr>
            <p:ph type="body" idx="1"/>
          </p:nvPr>
        </p:nvSpPr>
        <p:spPr>
          <a:xfrm rot="5400000">
            <a:off x="670717" y="-61117"/>
            <a:ext cx="5821366" cy="6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3"/>
          <p:cNvSpPr txBox="1">
            <a:spLocks noGrp="1"/>
          </p:cNvSpPr>
          <p:nvPr>
            <p:ph type="title"/>
          </p:nvPr>
        </p:nvSpPr>
        <p:spPr>
          <a:xfrm rot="5400000">
            <a:off x="5189538" y="2506664"/>
            <a:ext cx="5851525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3"/>
          <p:cNvSpPr txBox="1">
            <a:spLocks noGrp="1"/>
          </p:cNvSpPr>
          <p:nvPr>
            <p:ph type="sldNum" idx="12"/>
          </p:nvPr>
        </p:nvSpPr>
        <p:spPr>
          <a:xfrm>
            <a:off x="6915150" y="3009900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60" name="Google Shape;160;p33"/>
          <p:cNvSpPr txBox="1">
            <a:spLocks noGrp="1"/>
          </p:cNvSpPr>
          <p:nvPr>
            <p:ph type="dt" idx="10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3"/>
          <p:cNvSpPr txBox="1">
            <a:spLocks noGrp="1"/>
          </p:cNvSpPr>
          <p:nvPr>
            <p:ph type="ftr" idx="11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" name="Google Shape;11;p22"/>
          <p:cNvSpPr/>
          <p:nvPr/>
        </p:nvSpPr>
        <p:spPr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" name="Google Shape;12;p2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Google Shape;13;p22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" name="Google Shape;14;p22"/>
          <p:cNvSpPr/>
          <p:nvPr/>
        </p:nvSpPr>
        <p:spPr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" name="Google Shape;15;p22"/>
          <p:cNvSpPr txBox="1">
            <a:spLocks noGrp="1"/>
          </p:cNvSpPr>
          <p:nvPr>
            <p:ph type="dt" idx="10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ftr" idx="11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2"/>
          <p:cNvSpPr/>
          <p:nvPr/>
        </p:nvSpPr>
        <p:spPr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8" name="Google Shape;18;p22"/>
          <p:cNvCxnSpPr/>
          <p:nvPr/>
        </p:nvCxnSpPr>
        <p:spPr>
          <a:xfrm>
            <a:off x="152400" y="1276350"/>
            <a:ext cx="8832850" cy="0"/>
          </a:xfrm>
          <a:prstGeom prst="straightConnector1">
            <a:avLst/>
          </a:prstGeom>
          <a:noFill/>
          <a:ln w="95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" name="Google Shape;19;p22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2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2"/>
          <p:cNvSpPr txBox="1">
            <a:spLocks noGrp="1"/>
          </p:cNvSpPr>
          <p:nvPr>
            <p:ph type="sldNum" idx="12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rgbClr val="7B9899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rgbClr val="7B9899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rgbClr val="7B9899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rgbClr val="7B9899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rgbClr val="7B9899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rgbClr val="7B9899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rgbClr val="7B9899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rgbClr val="7B9899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rgbClr val="7B9899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301625" y="1524000"/>
            <a:ext cx="8534400" cy="459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4332" algn="l" rtl="0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2295"/>
              <a:buFont typeface="Noto Sans Symbols"/>
              <a:buChar char="⚫"/>
              <a:defRPr sz="27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26390" algn="l" rtl="0"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540"/>
              <a:buFont typeface="Noto Sans Symbols"/>
              <a:buChar char="⚪"/>
              <a:defRPr sz="22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23850" algn="l" rtl="0">
              <a:spcBef>
                <a:spcPts val="400"/>
              </a:spcBef>
              <a:spcAft>
                <a:spcPts val="0"/>
              </a:spcAft>
              <a:buClr>
                <a:srgbClr val="8CADAE"/>
              </a:buClr>
              <a:buSzPts val="1500"/>
              <a:buFont typeface="Noto Sans Symbols"/>
              <a:buChar char="⯍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rgbClr val="8C7B70"/>
              </a:buClr>
              <a:buSzPts val="1400"/>
              <a:buFont typeface="Noto Sans Symbols"/>
              <a:buChar char="🞆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8FB08C"/>
              </a:buClr>
              <a:buSzPts val="1800"/>
              <a:buFont typeface="Georgia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20039" algn="l" rtl="0">
              <a:spcBef>
                <a:spcPts val="320"/>
              </a:spcBef>
              <a:spcAft>
                <a:spcPts val="0"/>
              </a:spcAft>
              <a:buClr>
                <a:srgbClr val="B75640"/>
              </a:buClr>
              <a:buSzPts val="1440"/>
              <a:buFont typeface="Georgia"/>
              <a:buChar char="•"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rgbClr val="7A6B62"/>
              </a:buClr>
              <a:buSzPts val="1600"/>
              <a:buFont typeface="Georgia"/>
              <a:buChar char="•"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08609" algn="l" rtl="0">
              <a:spcBef>
                <a:spcPts val="280"/>
              </a:spcBef>
              <a:spcAft>
                <a:spcPts val="0"/>
              </a:spcAft>
              <a:buClr>
                <a:srgbClr val="B29D00"/>
              </a:buClr>
              <a:buSzPts val="1260"/>
              <a:buFont typeface="Georgia"/>
              <a:buChar char="•"/>
              <a:defRPr sz="1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/>
          <p:nvPr/>
        </p:nvSpPr>
        <p:spPr>
          <a:xfrm>
            <a:off x="1046375" y="2215298"/>
            <a:ext cx="73356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 4 INTRODUCTION OF IPR</a:t>
            </a: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Classification of Property</a:t>
            </a:r>
            <a:endParaRPr/>
          </a:p>
        </p:txBody>
      </p:sp>
      <p:grpSp>
        <p:nvGrpSpPr>
          <p:cNvPr id="172" name="Google Shape;172;p2"/>
          <p:cNvGrpSpPr/>
          <p:nvPr/>
        </p:nvGrpSpPr>
        <p:grpSpPr>
          <a:xfrm>
            <a:off x="177139" y="2116826"/>
            <a:ext cx="8722198" cy="3614366"/>
            <a:chOff x="24739" y="1964426"/>
            <a:chExt cx="8722198" cy="3614366"/>
          </a:xfrm>
        </p:grpSpPr>
        <p:sp>
          <p:nvSpPr>
            <p:cNvPr id="173" name="Google Shape;173;p2"/>
            <p:cNvSpPr/>
            <p:nvPr/>
          </p:nvSpPr>
          <p:spPr>
            <a:xfrm>
              <a:off x="3376316" y="1964426"/>
              <a:ext cx="1432063" cy="954709"/>
            </a:xfrm>
            <a:prstGeom prst="roundRect">
              <a:avLst>
                <a:gd name="adj" fmla="val 10000"/>
              </a:avLst>
            </a:prstGeom>
            <a:solidFill>
              <a:srgbClr val="E3A091"/>
            </a:solidFill>
            <a:ln w="9525" cap="flat" cmpd="sng">
              <a:solidFill>
                <a:srgbClr val="3399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 txBox="1"/>
            <p:nvPr/>
          </p:nvSpPr>
          <p:spPr>
            <a:xfrm>
              <a:off x="3404278" y="1992388"/>
              <a:ext cx="1376139" cy="898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Property</a:t>
              </a:r>
              <a:endPara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93314" y="2919135"/>
              <a:ext cx="2499033" cy="36835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w="11425" cap="flat" cmpd="sng">
              <a:solidFill>
                <a:srgbClr val="8BADAE"/>
              </a:solidFill>
              <a:prstDash val="dash"/>
              <a:round/>
              <a:headEnd type="none" w="sm" len="sm"/>
              <a:tailEnd type="none" w="sm" len="sm"/>
            </a:ln>
          </p:spPr>
        </p:sp>
        <p:sp>
          <p:nvSpPr>
            <p:cNvPr id="176" name="Google Shape;176;p2"/>
            <p:cNvSpPr/>
            <p:nvPr/>
          </p:nvSpPr>
          <p:spPr>
            <a:xfrm>
              <a:off x="877282" y="3287491"/>
              <a:ext cx="1432063" cy="954709"/>
            </a:xfrm>
            <a:prstGeom prst="roundRect">
              <a:avLst>
                <a:gd name="adj" fmla="val 10000"/>
              </a:avLst>
            </a:prstGeom>
            <a:solidFill>
              <a:srgbClr val="E3A091"/>
            </a:solidFill>
            <a:ln w="9525" cap="flat" cmpd="sng">
              <a:solidFill>
                <a:srgbClr val="3399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 txBox="1"/>
            <p:nvPr/>
          </p:nvSpPr>
          <p:spPr>
            <a:xfrm>
              <a:off x="905244" y="3315453"/>
              <a:ext cx="1376139" cy="898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Tangible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(Physical Goods)</a:t>
              </a:r>
              <a:endPara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662473" y="4242200"/>
              <a:ext cx="930841" cy="38188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w="11425" cap="flat" cmpd="sng">
              <a:solidFill>
                <a:srgbClr val="8C7A6E"/>
              </a:solidFill>
              <a:prstDash val="dash"/>
              <a:round/>
              <a:headEnd type="none" w="sm" len="sm"/>
              <a:tailEnd type="none" w="sm" len="sm"/>
            </a:ln>
          </p:spPr>
        </p:sp>
        <p:sp>
          <p:nvSpPr>
            <p:cNvPr id="179" name="Google Shape;179;p2"/>
            <p:cNvSpPr/>
            <p:nvPr/>
          </p:nvSpPr>
          <p:spPr>
            <a:xfrm>
              <a:off x="24739" y="4624083"/>
              <a:ext cx="1275467" cy="954709"/>
            </a:xfrm>
            <a:prstGeom prst="roundRect">
              <a:avLst>
                <a:gd name="adj" fmla="val 10000"/>
              </a:avLst>
            </a:prstGeom>
            <a:solidFill>
              <a:srgbClr val="E3A091"/>
            </a:solidFill>
            <a:ln w="9525" cap="flat" cmpd="sng">
              <a:solidFill>
                <a:srgbClr val="3399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 txBox="1"/>
            <p:nvPr/>
          </p:nvSpPr>
          <p:spPr>
            <a:xfrm>
              <a:off x="52701" y="4652045"/>
              <a:ext cx="1219543" cy="898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Movable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(Jewellery, Vehicle)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93314" y="4242200"/>
              <a:ext cx="852543" cy="38188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w="11425" cap="flat" cmpd="sng">
              <a:solidFill>
                <a:srgbClr val="8C7A6E"/>
              </a:solidFill>
              <a:prstDash val="dash"/>
              <a:round/>
              <a:headEnd type="none" w="sm" len="sm"/>
              <a:tailEnd type="none" w="sm" len="sm"/>
            </a:ln>
          </p:spPr>
        </p:sp>
        <p:sp>
          <p:nvSpPr>
            <p:cNvPr id="182" name="Google Shape;182;p2"/>
            <p:cNvSpPr/>
            <p:nvPr/>
          </p:nvSpPr>
          <p:spPr>
            <a:xfrm>
              <a:off x="1729826" y="4624083"/>
              <a:ext cx="1432063" cy="954709"/>
            </a:xfrm>
            <a:prstGeom prst="roundRect">
              <a:avLst>
                <a:gd name="adj" fmla="val 10000"/>
              </a:avLst>
            </a:prstGeom>
            <a:solidFill>
              <a:srgbClr val="E3A091"/>
            </a:solidFill>
            <a:ln w="9525" cap="flat" cmpd="sng">
              <a:solidFill>
                <a:srgbClr val="3399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 txBox="1"/>
            <p:nvPr/>
          </p:nvSpPr>
          <p:spPr>
            <a:xfrm>
              <a:off x="1757788" y="4652045"/>
              <a:ext cx="1376139" cy="898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Immovable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(House, Factory)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4092348" y="2919135"/>
              <a:ext cx="2076875" cy="36835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w="11425" cap="flat" cmpd="sng">
              <a:solidFill>
                <a:srgbClr val="8BADAE"/>
              </a:solidFill>
              <a:prstDash val="dash"/>
              <a:round/>
              <a:headEnd type="none" w="sm" len="sm"/>
              <a:tailEnd type="none" w="sm" len="sm"/>
            </a:ln>
          </p:spPr>
        </p:sp>
        <p:sp>
          <p:nvSpPr>
            <p:cNvPr id="185" name="Google Shape;185;p2"/>
            <p:cNvSpPr/>
            <p:nvPr/>
          </p:nvSpPr>
          <p:spPr>
            <a:xfrm>
              <a:off x="5047216" y="3287491"/>
              <a:ext cx="2244015" cy="954709"/>
            </a:xfrm>
            <a:prstGeom prst="roundRect">
              <a:avLst>
                <a:gd name="adj" fmla="val 10000"/>
              </a:avLst>
            </a:prstGeom>
            <a:solidFill>
              <a:srgbClr val="E3A091"/>
            </a:solidFill>
            <a:ln w="9525" cap="flat" cmpd="sng">
              <a:solidFill>
                <a:srgbClr val="3399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5075178" y="3315453"/>
              <a:ext cx="2188091" cy="898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Intangible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(Non-Physical)</a:t>
              </a:r>
              <a:endPara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4307541" y="4242200"/>
              <a:ext cx="1861682" cy="38188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w="11425" cap="flat" cmpd="sng">
              <a:solidFill>
                <a:srgbClr val="8C7A6E"/>
              </a:solidFill>
              <a:prstDash val="dash"/>
              <a:round/>
              <a:headEnd type="none" w="sm" len="sm"/>
              <a:tailEnd type="none" w="sm" len="sm"/>
            </a:ln>
          </p:spPr>
        </p:sp>
        <p:sp>
          <p:nvSpPr>
            <p:cNvPr id="188" name="Google Shape;188;p2"/>
            <p:cNvSpPr/>
            <p:nvPr/>
          </p:nvSpPr>
          <p:spPr>
            <a:xfrm>
              <a:off x="3591509" y="4624083"/>
              <a:ext cx="1432063" cy="954709"/>
            </a:xfrm>
            <a:prstGeom prst="roundRect">
              <a:avLst>
                <a:gd name="adj" fmla="val 10000"/>
              </a:avLst>
            </a:prstGeom>
            <a:solidFill>
              <a:srgbClr val="E3A091"/>
            </a:solidFill>
            <a:ln w="9525" cap="flat" cmpd="sng">
              <a:solidFill>
                <a:srgbClr val="3399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3619471" y="4652045"/>
              <a:ext cx="1376139" cy="898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Intellectual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(Patent, Trademark)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6123503" y="4242200"/>
              <a:ext cx="91440" cy="38188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w="11425" cap="flat" cmpd="sng">
              <a:solidFill>
                <a:srgbClr val="8C7A6E"/>
              </a:solidFill>
              <a:prstDash val="dash"/>
              <a:round/>
              <a:headEnd type="none" w="sm" len="sm"/>
              <a:tailEnd type="none" w="sm" len="sm"/>
            </a:ln>
          </p:spPr>
        </p:sp>
        <p:sp>
          <p:nvSpPr>
            <p:cNvPr id="191" name="Google Shape;191;p2"/>
            <p:cNvSpPr/>
            <p:nvPr/>
          </p:nvSpPr>
          <p:spPr>
            <a:xfrm>
              <a:off x="5453192" y="4624083"/>
              <a:ext cx="1432063" cy="954709"/>
            </a:xfrm>
            <a:prstGeom prst="roundRect">
              <a:avLst>
                <a:gd name="adj" fmla="val 10000"/>
              </a:avLst>
            </a:prstGeom>
            <a:solidFill>
              <a:srgbClr val="E3A091"/>
            </a:solidFill>
            <a:ln w="9525" cap="flat" cmpd="sng">
              <a:solidFill>
                <a:srgbClr val="3399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5481154" y="4652045"/>
              <a:ext cx="1376139" cy="898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Securities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(Debt security, Equity)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6169223" y="4242200"/>
              <a:ext cx="1861682" cy="38188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w="11425" cap="flat" cmpd="sng">
              <a:solidFill>
                <a:srgbClr val="8C7A6E"/>
              </a:solidFill>
              <a:prstDash val="dash"/>
              <a:round/>
              <a:headEnd type="none" w="sm" len="sm"/>
              <a:tailEnd type="none" w="sm" len="sm"/>
            </a:ln>
          </p:spPr>
        </p:sp>
        <p:sp>
          <p:nvSpPr>
            <p:cNvPr id="194" name="Google Shape;194;p2"/>
            <p:cNvSpPr/>
            <p:nvPr/>
          </p:nvSpPr>
          <p:spPr>
            <a:xfrm>
              <a:off x="7314874" y="4624083"/>
              <a:ext cx="1432063" cy="954709"/>
            </a:xfrm>
            <a:prstGeom prst="roundRect">
              <a:avLst>
                <a:gd name="adj" fmla="val 10000"/>
              </a:avLst>
            </a:prstGeom>
            <a:solidFill>
              <a:srgbClr val="E3A091"/>
            </a:solidFill>
            <a:ln w="9525" cap="flat" cmpd="sng">
              <a:solidFill>
                <a:srgbClr val="3399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 txBox="1"/>
            <p:nvPr/>
          </p:nvSpPr>
          <p:spPr>
            <a:xfrm>
              <a:off x="7342836" y="4652045"/>
              <a:ext cx="1376139" cy="898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 to individual reputation </a:t>
              </a:r>
              <a:r>
                <a:rPr lang="en-US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(Character, Ethics)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"/>
          <p:cNvSpPr txBox="1">
            <a:spLocks noGrp="1"/>
          </p:cNvSpPr>
          <p:nvPr>
            <p:ph type="body" idx="1"/>
          </p:nvPr>
        </p:nvSpPr>
        <p:spPr>
          <a:xfrm>
            <a:off x="301625" y="1371600"/>
            <a:ext cx="4270375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spcBef>
                <a:spcPts val="0"/>
              </a:spcBef>
              <a:spcAft>
                <a:spcPts val="0"/>
              </a:spcAft>
              <a:buSzPts val="2040"/>
              <a:buChar char="⚫"/>
            </a:pPr>
            <a:r>
              <a:rPr lang="en-US" sz="2400" b="1"/>
              <a:t>Industrial Property</a:t>
            </a:r>
            <a:r>
              <a:rPr lang="en-US" sz="2400"/>
              <a:t>	</a:t>
            </a:r>
            <a:endParaRPr/>
          </a:p>
          <a:p>
            <a:pPr marL="547688" lvl="1" indent="-273049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endParaRPr sz="2400">
              <a:solidFill>
                <a:schemeClr val="dk1"/>
              </a:solidFill>
            </a:endParaRPr>
          </a:p>
          <a:p>
            <a:pPr marL="547688" lvl="1" indent="-273049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</a:rPr>
              <a:t>Patent </a:t>
            </a:r>
            <a:endParaRPr/>
          </a:p>
          <a:p>
            <a:pPr marL="547688" lvl="1" indent="-27304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 </a:t>
            </a:r>
            <a:endParaRPr/>
          </a:p>
          <a:p>
            <a:pPr marL="547688" lvl="1" indent="-273049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</a:rPr>
              <a:t>Trademarks</a:t>
            </a:r>
            <a:endParaRPr/>
          </a:p>
          <a:p>
            <a:pPr marL="547688" lvl="1" indent="-273049" algn="l" rtl="0">
              <a:lnSpc>
                <a:spcPct val="150000"/>
              </a:lnSpc>
              <a:spcBef>
                <a:spcPts val="120"/>
              </a:spcBef>
              <a:spcAft>
                <a:spcPts val="0"/>
              </a:spcAft>
              <a:buClr>
                <a:schemeClr val="accent1"/>
              </a:buClr>
              <a:buSzPts val="420"/>
              <a:buFont typeface="Noto Sans Symbols"/>
              <a:buNone/>
            </a:pPr>
            <a:endParaRPr sz="600">
              <a:solidFill>
                <a:schemeClr val="dk1"/>
              </a:solidFill>
            </a:endParaRPr>
          </a:p>
          <a:p>
            <a:pPr marL="547688" lvl="1" indent="-273049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</a:rPr>
              <a:t>Industrial Design</a:t>
            </a:r>
            <a:endParaRPr/>
          </a:p>
          <a:p>
            <a:pPr marL="547688" lvl="1" indent="-273049" algn="l" rtl="0">
              <a:lnSpc>
                <a:spcPct val="150000"/>
              </a:lnSpc>
              <a:spcBef>
                <a:spcPts val="210"/>
              </a:spcBef>
              <a:spcAft>
                <a:spcPts val="0"/>
              </a:spcAft>
              <a:buClr>
                <a:schemeClr val="accent1"/>
              </a:buClr>
              <a:buSzPts val="735"/>
              <a:buFont typeface="Noto Sans Symbols"/>
              <a:buNone/>
            </a:pPr>
            <a:endParaRPr sz="1050">
              <a:solidFill>
                <a:schemeClr val="dk1"/>
              </a:solidFill>
            </a:endParaRPr>
          </a:p>
          <a:p>
            <a:pPr marL="547688" lvl="1" indent="-27304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</a:rPr>
              <a:t>Layout design of integrated circuits</a:t>
            </a:r>
            <a:endParaRPr/>
          </a:p>
        </p:txBody>
      </p:sp>
      <p:sp>
        <p:nvSpPr>
          <p:cNvPr id="201" name="Google Shape;201;p3"/>
          <p:cNvSpPr txBox="1">
            <a:spLocks noGrp="1"/>
          </p:cNvSpPr>
          <p:nvPr>
            <p:ph type="body" idx="2"/>
          </p:nvPr>
        </p:nvSpPr>
        <p:spPr>
          <a:xfrm>
            <a:off x="4800600" y="137160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spcBef>
                <a:spcPts val="0"/>
              </a:spcBef>
              <a:spcAft>
                <a:spcPts val="0"/>
              </a:spcAft>
              <a:buSzPts val="2040"/>
              <a:buChar char="⚫"/>
            </a:pPr>
            <a:r>
              <a:rPr lang="en-US" sz="2400" b="1"/>
              <a:t>Literary Property</a:t>
            </a:r>
            <a:endParaRPr/>
          </a:p>
          <a:p>
            <a:pPr marL="547688" lvl="1" indent="-273049" algn="just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endParaRPr sz="1600">
              <a:solidFill>
                <a:schemeClr val="dk1"/>
              </a:solidFill>
            </a:endParaRPr>
          </a:p>
          <a:p>
            <a:pPr marL="547688" lvl="1" indent="-273049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</a:rPr>
              <a:t>Copy rights</a:t>
            </a:r>
            <a:endParaRPr/>
          </a:p>
          <a:p>
            <a:pPr marL="547688" lvl="1" indent="-273049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</a:rPr>
              <a:t>Neighbouring rights</a:t>
            </a:r>
            <a:endParaRPr/>
          </a:p>
          <a:p>
            <a:pPr marL="547688" lvl="1" indent="-273049" algn="just" rtl="0">
              <a:lnSpc>
                <a:spcPct val="150000"/>
              </a:lnSpc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630"/>
              <a:buFont typeface="Noto Sans Symbols"/>
              <a:buNone/>
            </a:pPr>
            <a:endParaRPr sz="900">
              <a:solidFill>
                <a:schemeClr val="dk1"/>
              </a:solidFill>
            </a:endParaRPr>
          </a:p>
          <a:p>
            <a:pPr marL="547688" lvl="1" indent="-273049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</a:rPr>
              <a:t>Performer’s rights (Singing, Drama)</a:t>
            </a:r>
            <a:endParaRPr/>
          </a:p>
          <a:p>
            <a:pPr marL="547688" lvl="1" indent="-273049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</a:pPr>
            <a:endParaRPr sz="1600">
              <a:solidFill>
                <a:schemeClr val="dk1"/>
              </a:solidFill>
            </a:endParaRPr>
          </a:p>
          <a:p>
            <a:pPr marL="547688" lvl="1" indent="-273049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⮚"/>
            </a:pPr>
            <a:r>
              <a:rPr lang="en-US" sz="2400">
                <a:solidFill>
                  <a:schemeClr val="dk1"/>
                </a:solidFill>
              </a:rPr>
              <a:t>Broadcasting rights</a:t>
            </a:r>
            <a:endParaRPr/>
          </a:p>
          <a:p>
            <a:pPr marL="547688" lvl="1" indent="-273049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</a:rPr>
              <a:t>       (Sports, News, Music      </a:t>
            </a:r>
            <a:br>
              <a:rPr lang="en-US" sz="2400">
                <a:solidFill>
                  <a:schemeClr val="dk1"/>
                </a:solidFill>
              </a:rPr>
            </a:br>
            <a:r>
              <a:rPr lang="en-US" sz="2400">
                <a:solidFill>
                  <a:schemeClr val="dk1"/>
                </a:solidFill>
              </a:rPr>
              <a:t>     in TV/Radio)</a:t>
            </a:r>
            <a:endParaRPr/>
          </a:p>
          <a:p>
            <a:pPr marL="273050" lvl="0" indent="-138112" algn="just" rtl="0">
              <a:spcBef>
                <a:spcPts val="500"/>
              </a:spcBef>
              <a:spcAft>
                <a:spcPts val="0"/>
              </a:spcAft>
              <a:buSzPts val="2125"/>
              <a:buNone/>
            </a:pPr>
            <a:endParaRPr/>
          </a:p>
          <a:p>
            <a:pPr marL="273050" lvl="0" indent="-273050" algn="just" rtl="0">
              <a:spcBef>
                <a:spcPts val="500"/>
              </a:spcBef>
              <a:spcAft>
                <a:spcPts val="0"/>
              </a:spcAft>
              <a:buSzPts val="2125"/>
              <a:buFont typeface="Noto Sans Symbols"/>
              <a:buNone/>
            </a:pPr>
            <a:endParaRPr/>
          </a:p>
        </p:txBody>
      </p:sp>
      <p:sp>
        <p:nvSpPr>
          <p:cNvPr id="202" name="Google Shape;202;p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534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>Classification of Intellectual Property</a:t>
            </a:r>
            <a:endParaRPr sz="2800"/>
          </a:p>
        </p:txBody>
      </p:sp>
      <p:sp>
        <p:nvSpPr>
          <p:cNvPr id="203" name="Google Shape;203;p3"/>
          <p:cNvSpPr txBox="1"/>
          <p:nvPr/>
        </p:nvSpPr>
        <p:spPr>
          <a:xfrm>
            <a:off x="2362200" y="2057400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Product</a:t>
            </a:r>
            <a:endParaRPr/>
          </a:p>
        </p:txBody>
      </p:sp>
      <p:sp>
        <p:nvSpPr>
          <p:cNvPr id="204" name="Google Shape;204;p3"/>
          <p:cNvSpPr txBox="1"/>
          <p:nvPr/>
        </p:nvSpPr>
        <p:spPr>
          <a:xfrm>
            <a:off x="2438400" y="2819400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Process</a:t>
            </a:r>
            <a:endParaRPr/>
          </a:p>
        </p:txBody>
      </p:sp>
      <p:cxnSp>
        <p:nvCxnSpPr>
          <p:cNvPr id="205" name="Google Shape;205;p3"/>
          <p:cNvCxnSpPr/>
          <p:nvPr/>
        </p:nvCxnSpPr>
        <p:spPr>
          <a:xfrm rot="10800000" flipH="1">
            <a:off x="1905000" y="2362200"/>
            <a:ext cx="533400" cy="30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06" name="Google Shape;206;p3"/>
          <p:cNvCxnSpPr>
            <a:endCxn id="204" idx="1"/>
          </p:cNvCxnSpPr>
          <p:nvPr/>
        </p:nvCxnSpPr>
        <p:spPr>
          <a:xfrm>
            <a:off x="1905000" y="2743125"/>
            <a:ext cx="533400" cy="276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3200">
                <a:solidFill>
                  <a:schemeClr val="dk1"/>
                </a:solidFill>
              </a:rPr>
              <a:t>What is a Patent?</a:t>
            </a:r>
            <a:endParaRPr sz="3200"/>
          </a:p>
        </p:txBody>
      </p:sp>
      <p:sp>
        <p:nvSpPr>
          <p:cNvPr id="212" name="Google Shape;212;p4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A form of intellectual property granted to applicant(s) who claims to be the first inventor(s) for providing solution to a problem in a particular field.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A patent is an exclusive right awarded for an invention/innovation for a product/process.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It is a techno-legal document describing the invention and also providing details of inventors.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3200">
                <a:solidFill>
                  <a:schemeClr val="dk1"/>
                </a:solidFill>
              </a:rPr>
              <a:t>What is the use of a patent (for the applicant)?</a:t>
            </a:r>
            <a:endParaRPr sz="3200"/>
          </a:p>
        </p:txBody>
      </p:sp>
      <p:sp>
        <p:nvSpPr>
          <p:cNvPr id="218" name="Google Shape;218;p5"/>
          <p:cNvSpPr txBox="1">
            <a:spLocks noGrp="1"/>
          </p:cNvSpPr>
          <p:nvPr>
            <p:ph type="body" idx="1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A granted patent gives legal rights to applicant(s) to exclude others from making, using, selling (for a period of </a:t>
            </a:r>
            <a:br>
              <a:rPr lang="en-US" sz="2400"/>
            </a:br>
            <a:r>
              <a:rPr lang="en-US" sz="2400"/>
              <a:t>20 years).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It authorizes the applicant to use invention/innovation for making/selling/Technology Transfer etc.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It gives rights to applicant to take legal action against any person exploiting his invention.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3600">
                <a:solidFill>
                  <a:schemeClr val="dk1"/>
                </a:solidFill>
              </a:rPr>
              <a:t>Patent Law</a:t>
            </a:r>
            <a:endParaRPr sz="3600"/>
          </a:p>
        </p:txBody>
      </p:sp>
      <p:sp>
        <p:nvSpPr>
          <p:cNvPr id="224" name="Google Shape;224;p6"/>
          <p:cNvSpPr txBox="1">
            <a:spLocks noGrp="1"/>
          </p:cNvSpPr>
          <p:nvPr>
            <p:ph type="body" idx="1"/>
          </p:nvPr>
        </p:nvSpPr>
        <p:spPr>
          <a:xfrm>
            <a:off x="301625" y="1371600"/>
            <a:ext cx="8504238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Patent law in India is governed by </a:t>
            </a:r>
            <a:r>
              <a:rPr lang="en-US" sz="2000" b="1"/>
              <a:t>Patent Act 1970.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Indian patent can be filed in the prescribed format in the patent office by applicant or authorized patent agent or attorney (lawyer).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A granted patent is valid only in the particular jurisdiction where it is sanctioned.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To get a patent granted from other country, application should be submitted in that country through </a:t>
            </a:r>
            <a:r>
              <a:rPr lang="en-US" sz="2000" b="1"/>
              <a:t>Patent Cooperation Treaty (PCT) </a:t>
            </a:r>
            <a:r>
              <a:rPr lang="en-US" sz="2000"/>
              <a:t>or Conventional route.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Indian patent offices are located in Chennai, New Delhi, Mumbai, Kolkata.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3600">
                <a:solidFill>
                  <a:schemeClr val="dk1"/>
                </a:solidFill>
              </a:rPr>
              <a:t>Copyright</a:t>
            </a:r>
            <a:endParaRPr sz="3600"/>
          </a:p>
        </p:txBody>
      </p:sp>
      <p:sp>
        <p:nvSpPr>
          <p:cNvPr id="230" name="Google Shape;230;p7"/>
          <p:cNvSpPr txBox="1">
            <a:spLocks noGrp="1"/>
          </p:cNvSpPr>
          <p:nvPr>
            <p:ph type="body" idx="1"/>
          </p:nvPr>
        </p:nvSpPr>
        <p:spPr>
          <a:xfrm>
            <a:off x="301625" y="1371600"/>
            <a:ext cx="8504238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Copyright is an exclusive right awarded for creation of literary work, artistic work, dramatic work, musical work, to an author/composer to print/publish/sell his original work.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Copyright is issued by Copyright office.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Copyright is awarded to a work that is original.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Copyright in India is located in New Delhi.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Copyright laws are governed by </a:t>
            </a:r>
            <a:r>
              <a:rPr lang="en-US" sz="2400" b="1"/>
              <a:t>Copyright Act 1957.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43434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spcBef>
                <a:spcPts val="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Original literary works</a:t>
            </a:r>
            <a:endParaRPr/>
          </a:p>
          <a:p>
            <a:pPr marL="273050" lvl="0" indent="-273050" algn="l" rtl="0"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lang="en-US" sz="2000"/>
              <a:t>         (Tasler, words, codes)</a:t>
            </a:r>
            <a:endParaRPr/>
          </a:p>
          <a:p>
            <a:pPr marL="273050" lvl="0" indent="-273050" algn="l" rtl="0">
              <a:spcBef>
                <a:spcPts val="280"/>
              </a:spcBef>
              <a:spcAft>
                <a:spcPts val="0"/>
              </a:spcAft>
              <a:buSzPts val="1190"/>
              <a:buFont typeface="Noto Sans Symbols"/>
              <a:buNone/>
            </a:pPr>
            <a:endParaRPr sz="1400"/>
          </a:p>
          <a:p>
            <a:pPr marL="273050" lvl="0" indent="-273050" algn="l" rtl="0"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Original Dramatic works</a:t>
            </a:r>
            <a:endParaRPr/>
          </a:p>
          <a:p>
            <a:pPr marL="273050" lvl="0" indent="-273050" algn="l" rtl="0"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lang="en-US" sz="2000"/>
              <a:t>         (Recitation, Acting,        </a:t>
            </a:r>
            <a:br>
              <a:rPr lang="en-US" sz="2000"/>
            </a:br>
            <a:r>
              <a:rPr lang="en-US" sz="2000"/>
              <a:t>          Choreography)</a:t>
            </a:r>
            <a:endParaRPr/>
          </a:p>
          <a:p>
            <a:pPr marL="273050" lvl="0" indent="-273050" algn="l" rtl="0">
              <a:spcBef>
                <a:spcPts val="160"/>
              </a:spcBef>
              <a:spcAft>
                <a:spcPts val="0"/>
              </a:spcAft>
              <a:buSzPts val="680"/>
              <a:buFont typeface="Noto Sans Symbols"/>
              <a:buNone/>
            </a:pPr>
            <a:endParaRPr sz="800"/>
          </a:p>
          <a:p>
            <a:pPr marL="273050" lvl="0" indent="-2730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Original Musical works</a:t>
            </a:r>
            <a:endParaRPr/>
          </a:p>
          <a:p>
            <a:pPr marL="273050" lvl="0" indent="-273050" algn="l" rtl="0">
              <a:lnSpc>
                <a:spcPct val="150000"/>
              </a:lnSpc>
              <a:spcBef>
                <a:spcPts val="120"/>
              </a:spcBef>
              <a:spcAft>
                <a:spcPts val="0"/>
              </a:spcAft>
              <a:buSzPts val="510"/>
              <a:buFont typeface="Noto Sans Symbols"/>
              <a:buNone/>
            </a:pPr>
            <a:endParaRPr sz="600"/>
          </a:p>
          <a:p>
            <a:pPr marL="273050" lvl="0" indent="-2730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Original Artistic works</a:t>
            </a:r>
            <a:endParaRPr/>
          </a:p>
          <a:p>
            <a:pPr marL="273050" lvl="0" indent="-273050" algn="l" rtl="0"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lang="en-US" sz="2000"/>
              <a:t>        (Painting, Sculpture,   </a:t>
            </a:r>
            <a:br>
              <a:rPr lang="en-US" sz="2000"/>
            </a:br>
            <a:r>
              <a:rPr lang="en-US" sz="2000"/>
              <a:t>      Drawings, Photographs, </a:t>
            </a:r>
            <a:br>
              <a:rPr lang="en-US" sz="2000"/>
            </a:br>
            <a:r>
              <a:rPr lang="en-US" sz="2000"/>
              <a:t>      Engravings, Crafts, </a:t>
            </a:r>
            <a:br>
              <a:rPr lang="en-US" sz="2000"/>
            </a:br>
            <a:r>
              <a:rPr lang="en-US" sz="2000"/>
              <a:t>      Maps, Charts etc.,)</a:t>
            </a:r>
            <a:endParaRPr/>
          </a:p>
        </p:txBody>
      </p:sp>
      <p:sp>
        <p:nvSpPr>
          <p:cNvPr id="236" name="Google Shape;236;p8"/>
          <p:cNvSpPr txBox="1">
            <a:spLocks noGrp="1"/>
          </p:cNvSpPr>
          <p:nvPr>
            <p:ph type="body" idx="2"/>
          </p:nvPr>
        </p:nvSpPr>
        <p:spPr>
          <a:xfrm>
            <a:off x="4800600" y="137160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spcBef>
                <a:spcPts val="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Original Cinematograph</a:t>
            </a:r>
            <a:endParaRPr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lang="en-US" sz="2000"/>
              <a:t>         (Visual recording in </a:t>
            </a:r>
            <a:br>
              <a:rPr lang="en-US" sz="2000"/>
            </a:br>
            <a:r>
              <a:rPr lang="en-US" sz="2000"/>
              <a:t>       any medium, Sound </a:t>
            </a:r>
            <a:br>
              <a:rPr lang="en-US" sz="2000"/>
            </a:br>
            <a:r>
              <a:rPr lang="en-US" sz="2000"/>
              <a:t>       recording, Video film etc.,)</a:t>
            </a:r>
            <a:endParaRPr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endParaRPr sz="2000"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Original software</a:t>
            </a:r>
            <a:endParaRPr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lang="en-US" sz="2000"/>
              <a:t>        (to use in literary work,  </a:t>
            </a:r>
            <a:br>
              <a:rPr lang="en-US" sz="2000"/>
            </a:br>
            <a:r>
              <a:rPr lang="en-US" sz="2000"/>
              <a:t>     drama, engineering design, </a:t>
            </a:r>
            <a:br>
              <a:rPr lang="en-US" sz="2000"/>
            </a:br>
            <a:r>
              <a:rPr lang="en-US" sz="2000"/>
              <a:t>      sports/games etc.,)</a:t>
            </a:r>
            <a:endParaRPr/>
          </a:p>
          <a:p>
            <a:pPr marL="273050" lvl="0" indent="-273050" algn="just" rtl="0">
              <a:spcBef>
                <a:spcPts val="480"/>
              </a:spcBef>
              <a:spcAft>
                <a:spcPts val="0"/>
              </a:spcAft>
              <a:buSzPts val="2040"/>
              <a:buFont typeface="Noto Sans Symbols"/>
              <a:buNone/>
            </a:pPr>
            <a:endParaRPr sz="2400"/>
          </a:p>
        </p:txBody>
      </p:sp>
      <p:sp>
        <p:nvSpPr>
          <p:cNvPr id="237" name="Google Shape;237;p8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534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>Typical examples of Copyright</a:t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3600">
                <a:solidFill>
                  <a:schemeClr val="dk1"/>
                </a:solidFill>
              </a:rPr>
              <a:t>Forms of Copyright</a:t>
            </a:r>
            <a:endParaRPr sz="3600"/>
          </a:p>
        </p:txBody>
      </p:sp>
      <p:sp>
        <p:nvSpPr>
          <p:cNvPr id="243" name="Google Shape;243;p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8577263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000"/>
              <a:t>	Reproduction right : A copyright owner can transfer ownership to others to reproduce contents of his work by means of an agreement with financial benefits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US" sz="2000"/>
              <a:t>	Translation Work and Adaptation Right : A copyright owner can transfer his ownership to others for translation (into other language) or adaptation ( a novel to a motion picture)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US" sz="2000"/>
              <a:t>	Neighboring Right : This includes : performing right(music/drama performance), Recording right(sound recording) and Motion picture right(Audiovisual), Broadcasting right(games, sports).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3600">
                <a:solidFill>
                  <a:schemeClr val="dk1"/>
                </a:solidFill>
              </a:rPr>
              <a:t> TRADEMARK(TM)</a:t>
            </a:r>
            <a:endParaRPr sz="3600"/>
          </a:p>
        </p:txBody>
      </p:sp>
      <p:sp>
        <p:nvSpPr>
          <p:cNvPr id="249" name="Google Shape;249;p10"/>
          <p:cNvSpPr txBox="1">
            <a:spLocks noGrp="1"/>
          </p:cNvSpPr>
          <p:nvPr>
            <p:ph type="body" idx="1"/>
          </p:nvPr>
        </p:nvSpPr>
        <p:spPr>
          <a:xfrm>
            <a:off x="301625" y="1371600"/>
            <a:ext cx="8504238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70"/>
              <a:buChar char="⚫"/>
            </a:pPr>
            <a:r>
              <a:rPr lang="en-US" sz="2200"/>
              <a:t>A trademark refers to any symbol or sign or letters or numerals or label used on a product to differentiate the owner from other competitors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1870"/>
              <a:buChar char="⚫"/>
            </a:pPr>
            <a:r>
              <a:rPr lang="en-US" sz="2200"/>
              <a:t>Any organization or individual can register for the trademark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1870"/>
              <a:buChar char="⚫"/>
            </a:pPr>
            <a:r>
              <a:rPr lang="en-US" sz="2200"/>
              <a:t>The laws of trademark is governed by Trademark Act 1999.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1870"/>
              <a:buChar char="⚫"/>
            </a:pPr>
            <a:r>
              <a:rPr lang="en-US" sz="2200"/>
              <a:t>The trademark is granted by Indian Trademark Registry(Office) located in Chennai, Mumbai, New Delhi and Kolkata.</a:t>
            </a:r>
            <a:endParaRPr/>
          </a:p>
          <a:p>
            <a:pPr marL="273050" lvl="0" indent="-273050" algn="just" rtl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1870"/>
              <a:buChar char="⚫"/>
            </a:pPr>
            <a:r>
              <a:rPr lang="en-US" sz="2200"/>
              <a:t>A trademark is valid for a period of 10 years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43434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spcBef>
                <a:spcPts val="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Distinctiveness</a:t>
            </a:r>
            <a:endParaRPr/>
          </a:p>
          <a:p>
            <a:pPr marL="273050" lvl="0" indent="-273050" algn="l" rtl="0"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lang="en-US" sz="2000"/>
              <a:t>     (Eg  Uber, Ola)</a:t>
            </a:r>
            <a:endParaRPr/>
          </a:p>
          <a:p>
            <a:pPr marL="273050" lvl="0" indent="-273050" algn="l" rtl="0">
              <a:spcBef>
                <a:spcPts val="280"/>
              </a:spcBef>
              <a:spcAft>
                <a:spcPts val="0"/>
              </a:spcAft>
              <a:buSzPts val="1190"/>
              <a:buFont typeface="Noto Sans Symbols"/>
              <a:buNone/>
            </a:pPr>
            <a:endParaRPr sz="1400"/>
          </a:p>
          <a:p>
            <a:pPr marL="273050" lvl="0" indent="-273050" algn="l" rtl="0"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Absence of phonetic similarity</a:t>
            </a:r>
            <a:endParaRPr/>
          </a:p>
          <a:p>
            <a:pPr marL="273050" lvl="0" indent="-273050" algn="l" rtl="0"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lang="en-US" sz="2000"/>
              <a:t>     (Eg   Glucovita</a:t>
            </a:r>
            <a:endParaRPr sz="2000"/>
          </a:p>
          <a:p>
            <a:pPr marL="273050" lvl="0" indent="-273050" algn="l" rtl="0"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lang="en-US" sz="2000"/>
              <a:t>		Glukoveta)</a:t>
            </a:r>
            <a:endParaRPr/>
          </a:p>
          <a:p>
            <a:pPr marL="273050" lvl="0" indent="-273050" algn="l" rtl="0">
              <a:spcBef>
                <a:spcPts val="160"/>
              </a:spcBef>
              <a:spcAft>
                <a:spcPts val="0"/>
              </a:spcAft>
              <a:buSzPts val="680"/>
              <a:buFont typeface="Noto Sans Symbols"/>
              <a:buNone/>
            </a:pPr>
            <a:endParaRPr sz="800"/>
          </a:p>
          <a:p>
            <a:pPr marL="273050" lvl="0" indent="-2730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Absence of visual similarity</a:t>
            </a:r>
            <a:endParaRPr/>
          </a:p>
          <a:p>
            <a:pPr marL="273050" lvl="0" indent="-273050" algn="l" rtl="0">
              <a:lnSpc>
                <a:spcPct val="150000"/>
              </a:lnSpc>
              <a:spcBef>
                <a:spcPts val="120"/>
              </a:spcBef>
              <a:spcAft>
                <a:spcPts val="0"/>
              </a:spcAft>
              <a:buSzPts val="510"/>
              <a:buFont typeface="Noto Sans Symbols"/>
              <a:buNone/>
            </a:pPr>
            <a:endParaRPr sz="600"/>
          </a:p>
          <a:p>
            <a:pPr marL="273050" lvl="0" indent="-2730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Should not be name of a location  (Eg  Ooty, Chennai)	</a:t>
            </a:r>
            <a:endParaRPr/>
          </a:p>
        </p:txBody>
      </p:sp>
      <p:sp>
        <p:nvSpPr>
          <p:cNvPr id="255" name="Google Shape;255;p11"/>
          <p:cNvSpPr txBox="1">
            <a:spLocks noGrp="1"/>
          </p:cNvSpPr>
          <p:nvPr>
            <p:ph type="body" idx="2"/>
          </p:nvPr>
        </p:nvSpPr>
        <p:spPr>
          <a:xfrm>
            <a:off x="4800600" y="137160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spcBef>
                <a:spcPts val="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Should not be surname of a person </a:t>
            </a:r>
            <a:endParaRPr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US" sz="2000"/>
              <a:t>		Eg  Dhoni, Tendulkar</a:t>
            </a:r>
            <a:endParaRPr sz="2000"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endParaRPr sz="2000"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Should not be nature of a product</a:t>
            </a:r>
            <a:endParaRPr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US" sz="2000"/>
              <a:t>		Eg   Soap, Tea, Fan</a:t>
            </a:r>
            <a:endParaRPr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US" sz="2000"/>
              <a:t>	(However it can be Hamam Soap,  Assam Tea, Usha Fan)</a:t>
            </a:r>
            <a:endParaRPr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endParaRPr sz="2000"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US" sz="2000"/>
              <a:t>Should not be a work describing quality of product</a:t>
            </a:r>
            <a:endParaRPr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US" sz="2000"/>
              <a:t>		(Eg   Excellent, Superb)</a:t>
            </a:r>
            <a:endParaRPr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endParaRPr sz="2000"/>
          </a:p>
        </p:txBody>
      </p:sp>
      <p:sp>
        <p:nvSpPr>
          <p:cNvPr id="256" name="Google Shape;256;p11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534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>CRITERIA FOR FILING TRADEMARK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3600">
                <a:solidFill>
                  <a:schemeClr val="dk1"/>
                </a:solidFill>
              </a:rPr>
              <a:t> Typical Trademarks</a:t>
            </a:r>
            <a:endParaRPr sz="3600"/>
          </a:p>
        </p:txBody>
      </p:sp>
      <p:pic>
        <p:nvPicPr>
          <p:cNvPr id="262" name="Google Shape;262;p12" descr="images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828800"/>
            <a:ext cx="16002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2" descr="starbucksimage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1400" y="1905000"/>
            <a:ext cx="16002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2" descr="hinduimages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1200" y="1828800"/>
            <a:ext cx="2981325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2" descr="AU downloa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0600" y="3962400"/>
            <a:ext cx="17526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2" descr="downloa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05200" y="3962401"/>
            <a:ext cx="1752600" cy="169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 descr="downloadggg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1200" y="3962400"/>
            <a:ext cx="2743200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Procedure for registering Trademark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3" name="Google Shape;273;p13"/>
          <p:cNvSpPr txBox="1">
            <a:spLocks noGrp="1"/>
          </p:cNvSpPr>
          <p:nvPr>
            <p:ph type="body" idx="1"/>
          </p:nvPr>
        </p:nvSpPr>
        <p:spPr>
          <a:xfrm>
            <a:off x="0" y="1371600"/>
            <a:ext cx="8653272" cy="479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spcBef>
                <a:spcPts val="0"/>
              </a:spcBef>
              <a:spcAft>
                <a:spcPts val="0"/>
              </a:spcAft>
              <a:buSzPts val="2295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3124200" y="1524000"/>
            <a:ext cx="3200400" cy="4572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Filing the Application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3124200" y="2286000"/>
            <a:ext cx="3200400" cy="4572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Issuance of Receipt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200400" y="3048000"/>
            <a:ext cx="3124200" cy="914400"/>
          </a:xfrm>
          <a:prstGeom prst="diamond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Examination Report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13"/>
          <p:cNvCxnSpPr>
            <a:stCxn id="274" idx="2"/>
            <a:endCxn id="275" idx="0"/>
          </p:cNvCxnSpPr>
          <p:nvPr/>
        </p:nvCxnSpPr>
        <p:spPr>
          <a:xfrm>
            <a:off x="4724400" y="1981200"/>
            <a:ext cx="0" cy="304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78" name="Google Shape;278;p13"/>
          <p:cNvCxnSpPr/>
          <p:nvPr/>
        </p:nvCxnSpPr>
        <p:spPr>
          <a:xfrm rot="5400000">
            <a:off x="4572794" y="2894806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9" name="Google Shape;279;p13"/>
          <p:cNvSpPr/>
          <p:nvPr/>
        </p:nvSpPr>
        <p:spPr>
          <a:xfrm>
            <a:off x="228600" y="3810000"/>
            <a:ext cx="3200400" cy="6096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Publication in Trademark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Journal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609600" y="4724400"/>
            <a:ext cx="2590800" cy="838200"/>
          </a:xfrm>
          <a:prstGeom prst="diamond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of opposition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304800" y="5791200"/>
            <a:ext cx="3200400" cy="4572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Registration (For 10 Years)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400800" y="3810000"/>
            <a:ext cx="2514600" cy="5334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Reply to Examination Report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6400800" y="4572000"/>
            <a:ext cx="2514600" cy="4572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Hearing / Discussion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6400800" y="5257800"/>
            <a:ext cx="2514600" cy="4572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Refused / With draw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400800" y="5943600"/>
            <a:ext cx="2514600" cy="4572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Appellate Board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13"/>
          <p:cNvCxnSpPr/>
          <p:nvPr/>
        </p:nvCxnSpPr>
        <p:spPr>
          <a:xfrm rot="5400000">
            <a:off x="1753394" y="4571206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7" name="Google Shape;287;p13"/>
          <p:cNvCxnSpPr>
            <a:endCxn id="281" idx="0"/>
          </p:cNvCxnSpPr>
          <p:nvPr/>
        </p:nvCxnSpPr>
        <p:spPr>
          <a:xfrm flipH="1">
            <a:off x="1905000" y="5562600"/>
            <a:ext cx="1500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8" name="Google Shape;288;p13"/>
          <p:cNvCxnSpPr/>
          <p:nvPr/>
        </p:nvCxnSpPr>
        <p:spPr>
          <a:xfrm rot="5400000">
            <a:off x="7506494" y="5142706"/>
            <a:ext cx="2286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89" name="Google Shape;289;p13"/>
          <p:cNvCxnSpPr/>
          <p:nvPr/>
        </p:nvCxnSpPr>
        <p:spPr>
          <a:xfrm rot="5400000">
            <a:off x="7506494" y="4456906"/>
            <a:ext cx="2286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0" name="Google Shape;290;p13"/>
          <p:cNvCxnSpPr/>
          <p:nvPr/>
        </p:nvCxnSpPr>
        <p:spPr>
          <a:xfrm rot="5400000">
            <a:off x="7506494" y="5828506"/>
            <a:ext cx="2286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1" name="Google Shape;291;p13"/>
          <p:cNvCxnSpPr>
            <a:endCxn id="276" idx="1"/>
          </p:cNvCxnSpPr>
          <p:nvPr/>
        </p:nvCxnSpPr>
        <p:spPr>
          <a:xfrm>
            <a:off x="1905000" y="3503700"/>
            <a:ext cx="12954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2" name="Google Shape;292;p13"/>
          <p:cNvCxnSpPr/>
          <p:nvPr/>
        </p:nvCxnSpPr>
        <p:spPr>
          <a:xfrm rot="5400000">
            <a:off x="1753394" y="3656806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3" name="Google Shape;293;p13"/>
          <p:cNvCxnSpPr/>
          <p:nvPr/>
        </p:nvCxnSpPr>
        <p:spPr>
          <a:xfrm>
            <a:off x="6324600" y="3505200"/>
            <a:ext cx="129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" name="Google Shape;294;p13"/>
          <p:cNvCxnSpPr/>
          <p:nvPr/>
        </p:nvCxnSpPr>
        <p:spPr>
          <a:xfrm rot="5400000">
            <a:off x="7506494" y="3618706"/>
            <a:ext cx="227806" cy="7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5" name="Google Shape;295;p13"/>
          <p:cNvSpPr/>
          <p:nvPr/>
        </p:nvSpPr>
        <p:spPr>
          <a:xfrm>
            <a:off x="4114800" y="4038600"/>
            <a:ext cx="1600200" cy="4572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Accepted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3886200" y="5562600"/>
            <a:ext cx="1981200" cy="7620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Renewal within 1 year from date of exp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13"/>
          <p:cNvCxnSpPr/>
          <p:nvPr/>
        </p:nvCxnSpPr>
        <p:spPr>
          <a:xfrm>
            <a:off x="3505200" y="6019800"/>
            <a:ext cx="3810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8" name="Google Shape;298;p13"/>
          <p:cNvSpPr/>
          <p:nvPr/>
        </p:nvSpPr>
        <p:spPr>
          <a:xfrm>
            <a:off x="3886200" y="4800600"/>
            <a:ext cx="1828800" cy="609600"/>
          </a:xfrm>
          <a:prstGeom prst="rect">
            <a:avLst/>
          </a:prstGeom>
          <a:solidFill>
            <a:schemeClr val="lt1"/>
          </a:solidFill>
          <a:ln w="114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Objection Proceedings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13"/>
          <p:cNvCxnSpPr/>
          <p:nvPr/>
        </p:nvCxnSpPr>
        <p:spPr>
          <a:xfrm rot="10800000">
            <a:off x="3429000" y="4267200"/>
            <a:ext cx="6858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00" name="Google Shape;300;p13"/>
          <p:cNvCxnSpPr/>
          <p:nvPr/>
        </p:nvCxnSpPr>
        <p:spPr>
          <a:xfrm rot="10800000">
            <a:off x="5715000" y="4267200"/>
            <a:ext cx="3048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01" name="Google Shape;301;p13"/>
          <p:cNvCxnSpPr/>
          <p:nvPr/>
        </p:nvCxnSpPr>
        <p:spPr>
          <a:xfrm rot="5400000">
            <a:off x="5068094" y="5218906"/>
            <a:ext cx="19050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" name="Google Shape;302;p13"/>
          <p:cNvCxnSpPr/>
          <p:nvPr/>
        </p:nvCxnSpPr>
        <p:spPr>
          <a:xfrm>
            <a:off x="6019800" y="6172200"/>
            <a:ext cx="3810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3" name="Google Shape;303;p13"/>
          <p:cNvCxnSpPr>
            <a:stCxn id="280" idx="3"/>
          </p:cNvCxnSpPr>
          <p:nvPr/>
        </p:nvCxnSpPr>
        <p:spPr>
          <a:xfrm>
            <a:off x="3200400" y="5143500"/>
            <a:ext cx="685800" cy="3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04" name="Google Shape;304;p13"/>
          <p:cNvSpPr txBox="1"/>
          <p:nvPr/>
        </p:nvSpPr>
        <p:spPr>
          <a:xfrm>
            <a:off x="1905000" y="3200400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Accepted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6324600" y="3200400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 txBox="1"/>
          <p:nvPr/>
        </p:nvSpPr>
        <p:spPr>
          <a:xfrm>
            <a:off x="3124200" y="4800600"/>
            <a:ext cx="68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 txBox="1"/>
          <p:nvPr/>
        </p:nvSpPr>
        <p:spPr>
          <a:xfrm>
            <a:off x="1981200" y="5486400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"/>
          <p:cNvSpPr txBox="1">
            <a:spLocks noGrp="1"/>
          </p:cNvSpPr>
          <p:nvPr>
            <p:ph type="title"/>
          </p:nvPr>
        </p:nvSpPr>
        <p:spPr>
          <a:xfrm>
            <a:off x="0" y="228600"/>
            <a:ext cx="9296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SERVICE MARK/COLLECTIVE MARK/CERTIFICATION MARK</a:t>
            </a:r>
            <a:endParaRPr sz="2300"/>
          </a:p>
        </p:txBody>
      </p:sp>
      <p:sp>
        <p:nvSpPr>
          <p:cNvPr id="313" name="Google Shape;313;p14"/>
          <p:cNvSpPr txBox="1">
            <a:spLocks noGrp="1"/>
          </p:cNvSpPr>
          <p:nvPr>
            <p:ph type="body" idx="1"/>
          </p:nvPr>
        </p:nvSpPr>
        <p:spPr>
          <a:xfrm>
            <a:off x="301625" y="1371600"/>
            <a:ext cx="8504238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spcBef>
                <a:spcPts val="0"/>
              </a:spcBef>
              <a:spcAft>
                <a:spcPts val="0"/>
              </a:spcAft>
              <a:buSzPts val="1785"/>
              <a:buNone/>
            </a:pPr>
            <a:r>
              <a:rPr lang="en-US" sz="2100"/>
              <a:t>Service Mark :</a:t>
            </a:r>
            <a:endParaRPr/>
          </a:p>
          <a:p>
            <a:pPr marL="273050" lvl="0" indent="-273050" algn="just" rtl="0">
              <a:spcBef>
                <a:spcPts val="420"/>
              </a:spcBef>
              <a:spcAft>
                <a:spcPts val="0"/>
              </a:spcAft>
              <a:buSzPts val="1785"/>
              <a:buFont typeface="Arial"/>
              <a:buChar char="•"/>
            </a:pPr>
            <a:r>
              <a:rPr lang="en-US" sz="2100"/>
              <a:t>Service Mark is a trademark used to identify a service rather than a product.</a:t>
            </a:r>
            <a:endParaRPr/>
          </a:p>
          <a:p>
            <a:pPr marL="273050" lvl="0" indent="-273050" algn="just" rtl="0">
              <a:spcBef>
                <a:spcPts val="420"/>
              </a:spcBef>
              <a:spcAft>
                <a:spcPts val="0"/>
              </a:spcAft>
              <a:buSzPts val="1785"/>
              <a:buFont typeface="Arial"/>
              <a:buChar char="•"/>
            </a:pPr>
            <a:r>
              <a:rPr lang="en-US" sz="2100"/>
              <a:t>It can be in the form of a word or phrase or symbol or combination of there elements</a:t>
            </a:r>
            <a:endParaRPr/>
          </a:p>
          <a:p>
            <a:pPr marL="273050" lvl="0" indent="-273050" algn="just" rtl="0">
              <a:spcBef>
                <a:spcPts val="420"/>
              </a:spcBef>
              <a:spcAft>
                <a:spcPts val="0"/>
              </a:spcAft>
              <a:buSzPts val="1785"/>
              <a:buNone/>
            </a:pPr>
            <a:r>
              <a:rPr lang="en-US" sz="2100"/>
              <a:t>Collective Mark : </a:t>
            </a:r>
            <a:endParaRPr/>
          </a:p>
          <a:p>
            <a:pPr marL="273050" lvl="0" indent="-273050" algn="just" rtl="0">
              <a:spcBef>
                <a:spcPts val="420"/>
              </a:spcBef>
              <a:spcAft>
                <a:spcPts val="0"/>
              </a:spcAft>
              <a:buSzPts val="1785"/>
              <a:buNone/>
            </a:pPr>
            <a:r>
              <a:rPr lang="en-US" sz="2100"/>
              <a:t>	It is owned by an association or a professional body</a:t>
            </a:r>
            <a:endParaRPr/>
          </a:p>
          <a:p>
            <a:pPr marL="273050" lvl="0" indent="-273050" algn="just" rtl="0">
              <a:spcBef>
                <a:spcPts val="420"/>
              </a:spcBef>
              <a:spcAft>
                <a:spcPts val="0"/>
              </a:spcAft>
              <a:buSzPts val="1785"/>
              <a:buNone/>
            </a:pPr>
            <a:r>
              <a:rPr lang="en-US" sz="2100"/>
              <a:t>	For eg : Elsevier, IEEE</a:t>
            </a:r>
            <a:endParaRPr/>
          </a:p>
          <a:p>
            <a:pPr marL="273050" lvl="0" indent="-273050" algn="just" rtl="0">
              <a:spcBef>
                <a:spcPts val="420"/>
              </a:spcBef>
              <a:spcAft>
                <a:spcPts val="0"/>
              </a:spcAft>
              <a:buSzPts val="1785"/>
              <a:buNone/>
            </a:pPr>
            <a:r>
              <a:rPr lang="en-US" sz="2100"/>
              <a:t>Certification Marks : </a:t>
            </a:r>
            <a:endParaRPr/>
          </a:p>
          <a:p>
            <a:pPr marL="273050" lvl="0" indent="-273050" algn="just" rtl="0">
              <a:spcBef>
                <a:spcPts val="420"/>
              </a:spcBef>
              <a:spcAft>
                <a:spcPts val="0"/>
              </a:spcAft>
              <a:buSzPts val="1785"/>
              <a:buNone/>
            </a:pPr>
            <a:r>
              <a:rPr lang="en-US" sz="2100"/>
              <a:t>	The certification mark is based on the standards of the good.</a:t>
            </a:r>
            <a:endParaRPr/>
          </a:p>
          <a:p>
            <a:pPr marL="273050" lvl="0" indent="-273050" algn="just" rtl="0">
              <a:spcBef>
                <a:spcPts val="420"/>
              </a:spcBef>
              <a:spcAft>
                <a:spcPts val="0"/>
              </a:spcAft>
              <a:buSzPts val="1785"/>
              <a:buNone/>
            </a:pPr>
            <a:r>
              <a:rPr lang="en-US" sz="2100"/>
              <a:t>	For eg : ISI, Agmark</a:t>
            </a:r>
            <a:endParaRPr sz="2100"/>
          </a:p>
          <a:p>
            <a:pPr marL="273050" lvl="0" indent="-2730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</a:pPr>
            <a:endParaRPr sz="2000"/>
          </a:p>
          <a:p>
            <a:pPr marL="273050" lvl="0" indent="-2730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</a:pP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43434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000"/>
              <a:t> </a:t>
            </a:r>
            <a:endParaRPr/>
          </a:p>
        </p:txBody>
      </p:sp>
      <p:pic>
        <p:nvPicPr>
          <p:cNvPr id="320" name="Google Shape;320;p15" descr="isi-mark-certification-for-electric-hot-plate-500x500.png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1981200"/>
            <a:ext cx="1676400" cy="150205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534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> COLLECTIVE MARK / CERTIFICATION MARK</a:t>
            </a:r>
            <a:endParaRPr sz="2800"/>
          </a:p>
        </p:txBody>
      </p:sp>
      <p:pic>
        <p:nvPicPr>
          <p:cNvPr id="322" name="Google Shape;322;p15" descr="Woolmark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0400" y="1981200"/>
            <a:ext cx="177292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5" descr="download (1)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1200" y="381000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5" descr="download (1)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4800" y="2057400"/>
            <a:ext cx="1676400" cy="1857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5" descr="springer_logo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48407" y="2438400"/>
            <a:ext cx="2071193" cy="990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5" descr="download (2)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95400" y="4495800"/>
            <a:ext cx="2586634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43434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spcBef>
                <a:spcPts val="0"/>
              </a:spcBef>
              <a:spcAft>
                <a:spcPts val="0"/>
              </a:spcAft>
              <a:buSzPts val="1785"/>
              <a:buChar char="⚫"/>
            </a:pPr>
            <a:r>
              <a:rPr lang="en-US" sz="2100"/>
              <a:t>Industrial design is expressed in the form of shapes, patterns, lines, colours etc.,</a:t>
            </a:r>
            <a:endParaRPr/>
          </a:p>
          <a:p>
            <a:pPr marL="273050" lvl="0" indent="-273050" algn="l" rtl="0">
              <a:spcBef>
                <a:spcPts val="420"/>
              </a:spcBef>
              <a:spcAft>
                <a:spcPts val="0"/>
              </a:spcAft>
              <a:buSzPts val="1785"/>
              <a:buChar char="⚫"/>
            </a:pPr>
            <a:r>
              <a:rPr lang="en-US" sz="2100"/>
              <a:t>It prevents other manufacturers from producing similar articles with similar design</a:t>
            </a:r>
            <a:endParaRPr/>
          </a:p>
          <a:p>
            <a:pPr marL="273050" lvl="0" indent="-273050" algn="l" rtl="0">
              <a:spcBef>
                <a:spcPts val="420"/>
              </a:spcBef>
              <a:spcAft>
                <a:spcPts val="0"/>
              </a:spcAft>
              <a:buSzPts val="1785"/>
              <a:buChar char="⚫"/>
            </a:pPr>
            <a:r>
              <a:rPr lang="en-US" sz="2100"/>
              <a:t>The laws of industrial design is governed by Industrial Design Act 2000</a:t>
            </a:r>
            <a:endParaRPr/>
          </a:p>
          <a:p>
            <a:pPr marL="273050" lvl="0" indent="-273050" algn="l" rtl="0">
              <a:spcBef>
                <a:spcPts val="420"/>
              </a:spcBef>
              <a:spcAft>
                <a:spcPts val="0"/>
              </a:spcAft>
              <a:buSzPts val="1785"/>
              <a:buChar char="⚫"/>
            </a:pPr>
            <a:r>
              <a:rPr lang="en-US" sz="2100"/>
              <a:t>It is valid for 10 years and can be renewed for every 5 years</a:t>
            </a:r>
            <a:endParaRPr/>
          </a:p>
          <a:p>
            <a:pPr marL="273050" lvl="0" indent="-273050" algn="l" rtl="0">
              <a:spcBef>
                <a:spcPts val="420"/>
              </a:spcBef>
              <a:spcAft>
                <a:spcPts val="0"/>
              </a:spcAft>
              <a:buSzPts val="1785"/>
              <a:buChar char="⚫"/>
            </a:pPr>
            <a:r>
              <a:rPr lang="en-US" sz="2100"/>
              <a:t>Head office is in Kolkata </a:t>
            </a:r>
            <a:endParaRPr/>
          </a:p>
          <a:p>
            <a:pPr marL="273050" lvl="0" indent="-273050" algn="l" rtl="0">
              <a:spcBef>
                <a:spcPts val="420"/>
              </a:spcBef>
              <a:spcAft>
                <a:spcPts val="0"/>
              </a:spcAft>
              <a:buSzPts val="1785"/>
              <a:buChar char="⚫"/>
            </a:pPr>
            <a:r>
              <a:rPr lang="en-US" sz="2100"/>
              <a:t>Can be filed in Chennai, Delhi and Mumbai</a:t>
            </a:r>
            <a:endParaRPr/>
          </a:p>
          <a:p>
            <a:pPr marL="273050" lvl="0" indent="-165100" algn="l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endParaRPr sz="2000"/>
          </a:p>
        </p:txBody>
      </p:sp>
      <p:sp>
        <p:nvSpPr>
          <p:cNvPr id="332" name="Google Shape;332;p16"/>
          <p:cNvSpPr txBox="1">
            <a:spLocks noGrp="1"/>
          </p:cNvSpPr>
          <p:nvPr>
            <p:ph type="body" idx="2"/>
          </p:nvPr>
        </p:nvSpPr>
        <p:spPr>
          <a:xfrm>
            <a:off x="4800600" y="137160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000"/>
              <a:t>Examples of Registered Industrial</a:t>
            </a:r>
            <a:endParaRPr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lang="en-US" sz="2000"/>
              <a:t>Designs</a:t>
            </a:r>
            <a:endParaRPr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endParaRPr sz="2000"/>
          </a:p>
          <a:p>
            <a:pPr marL="273050" lvl="0" indent="-273050" algn="just" rtl="0">
              <a:spcBef>
                <a:spcPts val="400"/>
              </a:spcBef>
              <a:spcAft>
                <a:spcPts val="0"/>
              </a:spcAft>
              <a:buSzPts val="1700"/>
              <a:buNone/>
            </a:pPr>
            <a:endParaRPr sz="2000"/>
          </a:p>
        </p:txBody>
      </p:sp>
      <p:sp>
        <p:nvSpPr>
          <p:cNvPr id="333" name="Google Shape;333;p16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534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>INDUSTRIAL DESIGN</a:t>
            </a:r>
            <a:endParaRPr sz="2800"/>
          </a:p>
        </p:txBody>
      </p:sp>
      <p:pic>
        <p:nvPicPr>
          <p:cNvPr id="334" name="Google Shape;334;p16" descr="250ml_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5800" y="2133600"/>
            <a:ext cx="1613504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6" descr="d55129f933ec26519f2bb07e235d87e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7600" y="2286000"/>
            <a:ext cx="990600" cy="1721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6" descr="images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8200" y="426720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6" descr="bailley-mineral-water-500x500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62800" y="4267200"/>
            <a:ext cx="16002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"/>
          <p:cNvSpPr txBox="1">
            <a:spLocks noGrp="1"/>
          </p:cNvSpPr>
          <p:nvPr>
            <p:ph type="title"/>
          </p:nvPr>
        </p:nvSpPr>
        <p:spPr>
          <a:xfrm>
            <a:off x="0" y="228600"/>
            <a:ext cx="9296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/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Procedure of Grant of Industrial Design</a:t>
            </a:r>
            <a:endParaRPr sz="2300"/>
          </a:p>
        </p:txBody>
      </p:sp>
      <p:pic>
        <p:nvPicPr>
          <p:cNvPr id="343" name="Google Shape;343;p17" descr="20191121165208_00001.jp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600200"/>
            <a:ext cx="8023981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"/>
          <p:cNvSpPr txBox="1">
            <a:spLocks noGrp="1"/>
          </p:cNvSpPr>
          <p:nvPr>
            <p:ph type="title"/>
          </p:nvPr>
        </p:nvSpPr>
        <p:spPr>
          <a:xfrm>
            <a:off x="301624" y="228600"/>
            <a:ext cx="8689975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Difference between Copyright and Trademark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49" name="Google Shape;349;p18"/>
          <p:cNvGraphicFramePr/>
          <p:nvPr/>
        </p:nvGraphicFramePr>
        <p:xfrm>
          <a:off x="309480" y="1676400"/>
          <a:ext cx="8529725" cy="3709675"/>
        </p:xfrm>
        <a:graphic>
          <a:graphicData uri="http://schemas.openxmlformats.org/drawingml/2006/table">
            <a:tbl>
              <a:tblPr firstRow="1" bandRow="1">
                <a:noFill/>
                <a:tableStyleId>{645BDDF4-624B-406F-B226-89C4BFB2F0DC}</a:tableStyleId>
              </a:tblPr>
              <a:tblGrid>
                <a:gridCol w="4338725"/>
                <a:gridCol w="4191000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Copyright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Trademark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139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Registration of copyright is </a:t>
                      </a:r>
                      <a:r>
                        <a:rPr lang="en-US" sz="1800" b="1" u="none" strike="noStrike" cap="none"/>
                        <a:t>not mandatory</a:t>
                      </a:r>
                      <a:r>
                        <a:rPr lang="en-US" sz="1800" u="none" strike="noStrike" cap="none"/>
                        <a:t> before public use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Registration of industrial design is </a:t>
                      </a:r>
                      <a:r>
                        <a:rPr lang="en-US" sz="1800" b="1"/>
                        <a:t>mandatory</a:t>
                      </a:r>
                      <a:r>
                        <a:rPr lang="en-US" sz="1800"/>
                        <a:t> before public use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15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Copyright protection is provided until life of author plus sixty years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Industrial design protection is generally for a short period of time (10 years) and extended further to a period of </a:t>
                      </a:r>
                      <a:r>
                        <a:rPr lang="en-US" sz="1800" b="1"/>
                        <a:t>5 years.</a:t>
                      </a:r>
                      <a:endParaRPr sz="1800" b="1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Trade Secret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55" name="Google Shape;355;p19"/>
          <p:cNvSpPr txBox="1">
            <a:spLocks noGrp="1"/>
          </p:cNvSpPr>
          <p:nvPr>
            <p:ph type="body" idx="1"/>
          </p:nvPr>
        </p:nvSpPr>
        <p:spPr>
          <a:xfrm>
            <a:off x="301752" y="1527048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just" rtl="0">
              <a:spcBef>
                <a:spcPts val="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Trade secret is a formula, practice, process, commercial method or compilation of information in a product or process not generally known to public or reasonably ascertainable by others by which a business obtain an economical advantage over competitors.</a:t>
            </a:r>
            <a:endParaRPr/>
          </a:p>
          <a:p>
            <a:pPr marL="273050" lvl="0" indent="-273050" algn="just" rtl="0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Eg: Tirunelveli Halwa, Coco-cola, Tirupathi Laddu, KFC, Google</a:t>
            </a:r>
            <a:endParaRPr/>
          </a:p>
          <a:p>
            <a:pPr marL="273050" lvl="0" indent="-273050" algn="just" rtl="0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Unauthorised use of trade secret by any person in any office is regarded as an unfair practice and it is a violation of the company agreement.</a:t>
            </a:r>
            <a:endParaRPr/>
          </a:p>
          <a:p>
            <a:pPr marL="273050" lvl="0" indent="-273050" algn="just" rtl="0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Trade secrets are protected without any registration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Conditions for Trade Secret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1" name="Google Shape;361;p20"/>
          <p:cNvSpPr txBox="1">
            <a:spLocks noGrp="1"/>
          </p:cNvSpPr>
          <p:nvPr>
            <p:ph type="body" idx="1"/>
          </p:nvPr>
        </p:nvSpPr>
        <p:spPr>
          <a:xfrm>
            <a:off x="301752" y="1536475"/>
            <a:ext cx="850392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273050" algn="l" rtl="0">
              <a:spcBef>
                <a:spcPts val="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Information must be secret</a:t>
            </a:r>
            <a:endParaRPr/>
          </a:p>
          <a:p>
            <a:pPr marL="273050" lvl="0" indent="-273050" algn="l" rtl="0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It must have commercial value</a:t>
            </a:r>
            <a:endParaRPr/>
          </a:p>
          <a:p>
            <a:pPr marL="273050" lvl="0" indent="-273050" algn="l" rtl="0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It must have subject to reasonable steps by rightful holder of the information to be kept as secret through confidentiality agreements</a:t>
            </a:r>
            <a:endParaRPr/>
          </a:p>
          <a:p>
            <a:pPr marL="273050" lvl="0" indent="-14351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"/>
          <p:cNvSpPr txBox="1"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Comparsion of different IPR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67" name="Google Shape;367;p21"/>
          <p:cNvGraphicFramePr/>
          <p:nvPr/>
        </p:nvGraphicFramePr>
        <p:xfrm>
          <a:off x="301623" y="1527175"/>
          <a:ext cx="8385200" cy="4921305"/>
        </p:xfrm>
        <a:graphic>
          <a:graphicData uri="http://schemas.openxmlformats.org/drawingml/2006/table">
            <a:tbl>
              <a:tblPr firstRow="1" bandRow="1">
                <a:noFill/>
                <a:tableStyleId>{645BDDF4-624B-406F-B226-89C4BFB2F0DC}</a:tableStyleId>
              </a:tblPr>
              <a:tblGrid>
                <a:gridCol w="2096300"/>
                <a:gridCol w="2096300"/>
                <a:gridCol w="2096300"/>
                <a:gridCol w="2096300"/>
              </a:tblGrid>
              <a:tr h="72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IPR Type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Protect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Term or Period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Comparative Costs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72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Patent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Functional Aspects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 Years upon filing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Expensive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873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Industrial Design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Ornamental Features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 years upon filing + renewal every 5 years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Moderate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873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Trademark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Brands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 years upon filing +Renewal every 10 years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Inexpensive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726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Copyrights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Works of Authorship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Life Plus 60 years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eorgia"/>
                        <a:buNone/>
                      </a:pPr>
                      <a:r>
                        <a:rPr lang="en-US" sz="1800"/>
                        <a:t>Inexpensive</a:t>
                      </a: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</a:tr>
              <a:tr h="873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Trade Secrets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Information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Potentially Indefinite limited by secrecy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Depends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ivic">
  <a:themeElements>
    <a:clrScheme name="Civic">
      <a:dk1>
        <a:srgbClr val="000000"/>
      </a:dk1>
      <a:lt1>
        <a:srgbClr val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</Words>
  <PresentationFormat>On-screen Show (4:3)</PresentationFormat>
  <Paragraphs>188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Civic</vt:lpstr>
      <vt:lpstr>Slide 1</vt:lpstr>
      <vt:lpstr>Classification of Property</vt:lpstr>
      <vt:lpstr>     Classification of Intellectual Property</vt:lpstr>
      <vt:lpstr>     What is a Patent?</vt:lpstr>
      <vt:lpstr>     What is the use of a patent (for the applicant)?</vt:lpstr>
      <vt:lpstr>     Patent Law</vt:lpstr>
      <vt:lpstr>     Copyright</vt:lpstr>
      <vt:lpstr>     Typical examples of Copyright</vt:lpstr>
      <vt:lpstr>     Forms of Copyright</vt:lpstr>
      <vt:lpstr>      TRADEMARK(TM)</vt:lpstr>
      <vt:lpstr>     CRITERIA FOR FILING TRADEMARK</vt:lpstr>
      <vt:lpstr>      Typical Trademarks</vt:lpstr>
      <vt:lpstr>Procedure for registering Trademark</vt:lpstr>
      <vt:lpstr>     SERVICE MARK/COLLECTIVE MARK/CERTIFICATION MARK</vt:lpstr>
      <vt:lpstr>      COLLECTIVE MARK / CERTIFICATION MARK</vt:lpstr>
      <vt:lpstr>     INDUSTRIAL DESIGN</vt:lpstr>
      <vt:lpstr>     Procedure of Grant of Industrial Design</vt:lpstr>
      <vt:lpstr>Difference between Copyright and Trademark</vt:lpstr>
      <vt:lpstr>Trade Secret</vt:lpstr>
      <vt:lpstr>Conditions for Trade Secret</vt:lpstr>
      <vt:lpstr>Comparsion of different IPR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fathima</dc:creator>
  <cp:lastModifiedBy>A</cp:lastModifiedBy>
  <cp:revision>1</cp:revision>
  <dcterms:created xsi:type="dcterms:W3CDTF">2019-09-26T04:27:16Z</dcterms:created>
  <dcterms:modified xsi:type="dcterms:W3CDTF">2025-11-12T22:49:18Z</dcterms:modified>
</cp:coreProperties>
</file>