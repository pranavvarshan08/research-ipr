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48" r:id="rId1"/>
  </p:sldMasterIdLst>
  <p:notesMasterIdLst>
    <p:notesMasterId r:id="rId21"/>
  </p:notesMasterIdLst>
  <p:sldIdLst>
    <p:sldId id="284" r:id="rId2"/>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298" r:id="rId16"/>
    <p:sldId id="299" r:id="rId17"/>
    <p:sldId id="300" r:id="rId18"/>
    <p:sldId id="301" r:id="rId19"/>
    <p:sldId id="302" r:id="rId20"/>
  </p:sldIdLst>
  <p:sldSz cx="9144000" cy="5143500" type="screen16x9"/>
  <p:notesSz cx="6858000" cy="9144000"/>
  <p:defaultTex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86" d="100"/>
          <a:sy n="86" d="100"/>
        </p:scale>
        <p:origin x="-810" y="-78"/>
      </p:cViewPr>
      <p:guideLst>
        <p:guide orient="horz" pos="162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20" name="Google Shape;3;n"/>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a:noFill/>
          <a:ln w="9525" cap="flat" cmpd="sng">
            <a:solidFill>
              <a:srgbClr val="000000">
                <a:alpha val="100000"/>
              </a:srgbClr>
            </a:solidFill>
            <a:prstDash val="solid"/>
            <a:round/>
          </a:ln>
        </p:spPr>
        <p:txBody>
          <a:bodyPr vert="horz" lIns="91440" tIns="45720" rIns="91440" bIns="45720" anchor="t"/>
          <a:lstStyle/>
          <a:p>
            <a:endParaRPr/>
          </a:p>
        </p:txBody>
      </p:sp>
      <p:sp>
        <p:nvSpPr>
          <p:cNvPr id="1048821" name="Google Shape;4;n"/>
          <p:cNvSpPr txBox="1">
            <a:spLocks noGrp="1"/>
          </p:cNvSpPr>
          <p:nvPr>
            <p:ph type="body" idx="1"/>
          </p:nvPr>
        </p:nvSpPr>
        <p:spPr>
          <a:xfrm>
            <a:off x="685800" y="4343400"/>
            <a:ext cx="5486400" cy="4114800"/>
          </a:xfrm>
          <a:prstGeom prst="rect">
            <a:avLst/>
          </a:prstGeom>
          <a:noFill/>
          <a:ln>
            <a:noFill/>
          </a:ln>
        </p:spPr>
        <p:txBody>
          <a:bodyPr vert="horz" lIns="91425" tIns="91425" rIns="91425" bIns="91425" anchor="t"/>
          <a:lstStyle/>
          <a:p>
            <a:endParaRPr/>
          </a:p>
        </p:txBody>
      </p:sp>
    </p:spTree>
  </p:cSld>
  <p:clrMap bg1="dk1" tx1="dk1" bg2="dk1" tx2="dk1" accent1="dk1" accent2="dk1" accent3="dk1" accent4="dk1" accent5="dk1" accent6="dk1" hlink="dk1" folHlink="dk1"/>
  <p:notesStyle>
    <a:lvl1pPr marL="457200" indent="-29845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742950" indent="-28575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1143000" indent="-22860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600200" indent="-22860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2057400" indent="-22860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8" name="Google Shape;228;g25e81df0189_0_192: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689" name="Google Shape;229;g25e81df0189_0_192: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2" name="Google Shape;235;g25e81df0189_0_197: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693" name="Google Shape;236;g25e81df0189_0_197: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6" name="Google Shape;241;g25e81df0189_0_202: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697" name="Google Shape;242;g25e81df0189_0_202: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0" name="Google Shape;247;g25e81df0189_0_285: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01" name="Google Shape;248;g25e81df0189_0_285: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Google Shape;253;g25e81df0189_0_296: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05" name="Google Shape;254;g25e81df0189_0_296: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8" name="Google Shape;259;g25e81df0189_0_301: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09" name="Google Shape;260;g25e81df0189_0_301: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2" name="Google Shape;265;g25e81df0189_0_306: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13" name="Google Shape;266;g25e81df0189_0_306: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6" name="Google Shape;271;g25e81df0189_0_311: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17" name="Google Shape;272;g25e81df0189_0_311: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Google Shape;277;g25e81df0189_0_316: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21" name="Google Shape;278;g25e81df0189_0_316: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4" name="Google Shape;283;g25e81df0189_0_321: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25" name="Google Shape;284;g25e81df0189_0_321: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8" name="Google Shape;289;g25e81df0189_0_326: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29" name="Google Shape;290;g25e81df0189_0_326: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2" name="Google Shape;297;g25e81df0189_0_331: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33" name="Google Shape;298;g25e81df0189_0_331: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6" name="Google Shape;303;g25e81df0189_0_336: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37" name="Google Shape;304;g25e81df0189_0_336: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0" name="Google Shape;309;g25e81df0189_0_353: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41" name="Google Shape;310;g25e81df0189_0_353: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4" name="Google Shape;315;g25e81df0189_0_358: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45" name="Google Shape;316;g25e81df0189_0_358: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8" name="Google Shape;321;g25e81df0189_0_363: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49" name="Google Shape;322;g25e81df0189_0_363: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2" name="Google Shape;327;g25e81df0189_0_368: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53" name="Google Shape;328;g25e81df0189_0_368: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6" name="Google Shape;333;g25e81df0189_0_373: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57" name="Google Shape;334;g25e81df0189_0_373: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0" name="Google Shape;339;g25e81df0189_0_391:notes"/>
          <p:cNvSpPr>
            <a:spLocks noGrp="1" noRot="1" noChangeAspect="1"/>
          </p:cNvSpPr>
          <p:nvPr>
            <p:ph type="sldImg" idx="2"/>
          </p:nvPr>
        </p:nvSpPr>
        <p:spPr>
          <a:xfrm>
            <a:off x="381000" y="685800"/>
            <a:ext cx="6096000" cy="3429000"/>
          </a:xfrm>
          <a:custGeom>
            <a:avLst/>
            <a:gdLst>
              <a:gd name="l" fmla="*/ 0 w 120000"/>
              <a:gd name="t" fmla="*/ 0 h 120000"/>
              <a:gd name="r" fmla="*/ 120000 w 120000"/>
              <a:gd name="b" fmla="*/ 120000 h 120000"/>
            </a:gdLst>
            <a:ahLst/>
            <a:cxnLst/>
            <a:rect l="l" t="t" r="r" b="b"/>
            <a:pathLst>
              <a:path w="120000" h="120000">
                <a:moveTo>
                  <a:pt x="0" y="0"/>
                </a:moveTo>
                <a:lnTo>
                  <a:pt x="120000" y="0"/>
                </a:lnTo>
                <a:lnTo>
                  <a:pt x="120000" y="120000"/>
                </a:lnTo>
                <a:lnTo>
                  <a:pt x="0" y="120000"/>
                </a:lnTo>
              </a:path>
            </a:pathLst>
          </a:custGeom>
        </p:spPr>
        <p:txBody>
          <a:bodyPr vert="horz" lIns="91440" tIns="45720" rIns="91440" bIns="45720" anchor="t"/>
          <a:lstStyle/>
          <a:p>
            <a:endParaRPr/>
          </a:p>
        </p:txBody>
      </p:sp>
      <p:sp>
        <p:nvSpPr>
          <p:cNvPr id="1048761" name="Google Shape;340;g25e81df0189_0_391:notes"/>
          <p:cNvSpPr txBox="1">
            <a:spLocks noGrp="1"/>
          </p:cNvSpPr>
          <p:nvPr>
            <p:ph type="body" idx="1"/>
          </p:nvPr>
        </p:nvSpPr>
        <p:spPr>
          <a:xfrm>
            <a:off x="685800" y="4343400"/>
            <a:ext cx="5486400" cy="4114800"/>
          </a:xfrm>
          <a:prstGeom prst="rect">
            <a:avLst/>
          </a:prstGeom>
          <a:ln>
            <a:noFill/>
          </a:ln>
        </p:spPr>
        <p:txBody>
          <a:bodyPr vert="horz" lIns="91425" tIns="91425" rIns="91425" bIns="91425" anchor="t"/>
          <a:lstStyle/>
          <a:p>
            <a:pPr marL="0" lvl="0" indent="0" eaLnBrk="1" hangingPunct="1">
              <a:buNone/>
            </a:pPr>
            <a:endParaRPr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048809"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04858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lvl1pPr>
            <a:lvl2pPr lvl="1">
              <a:spcBef>
                <a:spcPts val="0"/>
              </a:spcBef>
              <a:spcAft>
                <a:spcPts val="0"/>
              </a:spcAft>
              <a:buSzPts val="2800"/>
              <a:buNone/>
            </a:lvl2pPr>
            <a:lvl3pPr lvl="2">
              <a:spcBef>
                <a:spcPts val="0"/>
              </a:spcBef>
              <a:spcAft>
                <a:spcPts val="0"/>
              </a:spcAft>
              <a:buSzPts val="2800"/>
              <a:buNone/>
            </a:lvl3pPr>
            <a:lvl4pPr lvl="3">
              <a:spcBef>
                <a:spcPts val="0"/>
              </a:spcBef>
              <a:spcAft>
                <a:spcPts val="0"/>
              </a:spcAft>
              <a:buSzPts val="2800"/>
              <a:buNone/>
            </a:lvl4pPr>
            <a:lvl5pPr lvl="4">
              <a:spcBef>
                <a:spcPts val="0"/>
              </a:spcBef>
              <a:spcAft>
                <a:spcPts val="0"/>
              </a:spcAft>
              <a:buSzPts val="2800"/>
              <a:buNone/>
            </a:lvl5pPr>
            <a:lvl6pPr lvl="5">
              <a:spcBef>
                <a:spcPts val="0"/>
              </a:spcBef>
              <a:spcAft>
                <a:spcPts val="0"/>
              </a:spcAft>
              <a:buSzPts val="2800"/>
              <a:buNone/>
            </a:lvl6pPr>
            <a:lvl7pPr lvl="6">
              <a:spcBef>
                <a:spcPts val="0"/>
              </a:spcBef>
              <a:spcAft>
                <a:spcPts val="0"/>
              </a:spcAft>
              <a:buSzPts val="2800"/>
              <a:buNone/>
            </a:lvl7pPr>
            <a:lvl8pPr lvl="7">
              <a:spcBef>
                <a:spcPts val="0"/>
              </a:spcBef>
              <a:spcAft>
                <a:spcPts val="0"/>
              </a:spcAft>
              <a:buSzPts val="2800"/>
              <a:buNone/>
            </a:lvl8pPr>
            <a:lvl9pPr lvl="8">
              <a:spcBef>
                <a:spcPts val="0"/>
              </a:spcBef>
              <a:spcAft>
                <a:spcPts val="0"/>
              </a:spcAft>
              <a:buSzPts val="2800"/>
              <a:buNone/>
            </a:lvl9pPr>
          </a:lstStyle>
          <a:p>
            <a:endParaRPr/>
          </a:p>
        </p:txBody>
      </p:sp>
      <p:sp>
        <p:nvSpPr>
          <p:cNvPr id="104858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lvl1pPr>
            <a:lvl2pPr marL="914400" lvl="1" indent="-317500">
              <a:spcBef>
                <a:spcPts val="0"/>
              </a:spcBef>
              <a:spcAft>
                <a:spcPts val="0"/>
              </a:spcAft>
              <a:buSzPts val="1400"/>
              <a:buChar char="○"/>
            </a:lvl2pPr>
            <a:lvl3pPr marL="1371600" lvl="2" indent="-317500">
              <a:spcBef>
                <a:spcPts val="0"/>
              </a:spcBef>
              <a:spcAft>
                <a:spcPts val="0"/>
              </a:spcAft>
              <a:buSzPts val="1400"/>
              <a:buChar char="■"/>
            </a:lvl3pPr>
            <a:lvl4pPr marL="1828800" lvl="3" indent="-317500">
              <a:spcBef>
                <a:spcPts val="0"/>
              </a:spcBef>
              <a:spcAft>
                <a:spcPts val="0"/>
              </a:spcAft>
              <a:buSzPts val="1400"/>
              <a:buChar char="●"/>
            </a:lvl4pPr>
            <a:lvl5pPr marL="2286000" lvl="4" indent="-317500">
              <a:spcBef>
                <a:spcPts val="0"/>
              </a:spcBef>
              <a:spcAft>
                <a:spcPts val="0"/>
              </a:spcAft>
              <a:buSzPts val="1400"/>
              <a:buChar char="○"/>
            </a:lvl5pPr>
            <a:lvl6pPr marL="2743200" lvl="5" indent="-317500">
              <a:spcBef>
                <a:spcPts val="0"/>
              </a:spcBef>
              <a:spcAft>
                <a:spcPts val="0"/>
              </a:spcAft>
              <a:buSzPts val="1400"/>
              <a:buChar char="■"/>
            </a:lvl6pPr>
            <a:lvl7pPr marL="3200400" lvl="6" indent="-317500">
              <a:spcBef>
                <a:spcPts val="0"/>
              </a:spcBef>
              <a:spcAft>
                <a:spcPts val="0"/>
              </a:spcAft>
              <a:buSzPts val="1400"/>
              <a:buChar char="●"/>
            </a:lvl7pPr>
            <a:lvl8pPr marL="3657600" lvl="7" indent="-317500">
              <a:spcBef>
                <a:spcPts val="0"/>
              </a:spcBef>
              <a:spcAft>
                <a:spcPts val="0"/>
              </a:spcAft>
              <a:buSzPts val="1400"/>
              <a:buChar char="○"/>
            </a:lvl8pPr>
            <a:lvl9pPr marL="4114800" lvl="8" indent="-317500">
              <a:spcBef>
                <a:spcPts val="0"/>
              </a:spcBef>
              <a:spcAft>
                <a:spcPts val="0"/>
              </a:spcAft>
              <a:buSzPts val="1400"/>
              <a:buChar char="■"/>
            </a:lvl9pPr>
          </a:lstStyle>
          <a:p>
            <a:endParaRPr/>
          </a:p>
        </p:txBody>
      </p:sp>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1048810"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lvl1pPr>
            <a:lvl2pPr lvl="1">
              <a:spcBef>
                <a:spcPts val="0"/>
              </a:spcBef>
              <a:spcAft>
                <a:spcPts val="0"/>
              </a:spcAft>
              <a:buSzPts val="2800"/>
              <a:buNone/>
            </a:lvl2pPr>
            <a:lvl3pPr lvl="2">
              <a:spcBef>
                <a:spcPts val="0"/>
              </a:spcBef>
              <a:spcAft>
                <a:spcPts val="0"/>
              </a:spcAft>
              <a:buSzPts val="2800"/>
              <a:buNone/>
            </a:lvl3pPr>
            <a:lvl4pPr lvl="3">
              <a:spcBef>
                <a:spcPts val="0"/>
              </a:spcBef>
              <a:spcAft>
                <a:spcPts val="0"/>
              </a:spcAft>
              <a:buSzPts val="2800"/>
              <a:buNone/>
            </a:lvl4pPr>
            <a:lvl5pPr lvl="4">
              <a:spcBef>
                <a:spcPts val="0"/>
              </a:spcBef>
              <a:spcAft>
                <a:spcPts val="0"/>
              </a:spcAft>
              <a:buSzPts val="2800"/>
              <a:buNone/>
            </a:lvl5pPr>
            <a:lvl6pPr lvl="5">
              <a:spcBef>
                <a:spcPts val="0"/>
              </a:spcBef>
              <a:spcAft>
                <a:spcPts val="0"/>
              </a:spcAft>
              <a:buSzPts val="2800"/>
              <a:buNone/>
            </a:lvl6pPr>
            <a:lvl7pPr lvl="6">
              <a:spcBef>
                <a:spcPts val="0"/>
              </a:spcBef>
              <a:spcAft>
                <a:spcPts val="0"/>
              </a:spcAft>
              <a:buSzPts val="2800"/>
              <a:buNone/>
            </a:lvl7pPr>
            <a:lvl8pPr lvl="7">
              <a:spcBef>
                <a:spcPts val="0"/>
              </a:spcBef>
              <a:spcAft>
                <a:spcPts val="0"/>
              </a:spcAft>
              <a:buSzPts val="2800"/>
              <a:buNone/>
            </a:lvl8pPr>
            <a:lvl9pPr lvl="8">
              <a:spcBef>
                <a:spcPts val="0"/>
              </a:spcBef>
              <a:spcAft>
                <a:spcPts val="0"/>
              </a:spcAft>
              <a:buSzPts val="2800"/>
              <a:buNone/>
            </a:lvl9pPr>
          </a:lstStyle>
          <a:p>
            <a:endParaRPr/>
          </a:p>
        </p:txBody>
      </p:sp>
      <p:sp>
        <p:nvSpPr>
          <p:cNvPr id="1048811"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48812"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1048813"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lvl1pPr>
            <a:lvl2pPr lvl="1">
              <a:spcBef>
                <a:spcPts val="0"/>
              </a:spcBef>
              <a:spcAft>
                <a:spcPts val="0"/>
              </a:spcAft>
              <a:buSzPts val="2800"/>
              <a:buNone/>
            </a:lvl2pPr>
            <a:lvl3pPr lvl="2">
              <a:spcBef>
                <a:spcPts val="0"/>
              </a:spcBef>
              <a:spcAft>
                <a:spcPts val="0"/>
              </a:spcAft>
              <a:buSzPts val="2800"/>
              <a:buNone/>
            </a:lvl3pPr>
            <a:lvl4pPr lvl="3">
              <a:spcBef>
                <a:spcPts val="0"/>
              </a:spcBef>
              <a:spcAft>
                <a:spcPts val="0"/>
              </a:spcAft>
              <a:buSzPts val="2800"/>
              <a:buNone/>
            </a:lvl4pPr>
            <a:lvl5pPr lvl="4">
              <a:spcBef>
                <a:spcPts val="0"/>
              </a:spcBef>
              <a:spcAft>
                <a:spcPts val="0"/>
              </a:spcAft>
              <a:buSzPts val="2800"/>
              <a:buNone/>
            </a:lvl5pPr>
            <a:lvl6pPr lvl="5">
              <a:spcBef>
                <a:spcPts val="0"/>
              </a:spcBef>
              <a:spcAft>
                <a:spcPts val="0"/>
              </a:spcAft>
              <a:buSzPts val="2800"/>
              <a:buNone/>
            </a:lvl6pPr>
            <a:lvl7pPr lvl="6">
              <a:spcBef>
                <a:spcPts val="0"/>
              </a:spcBef>
              <a:spcAft>
                <a:spcPts val="0"/>
              </a:spcAft>
              <a:buSzPts val="2800"/>
              <a:buNone/>
            </a:lvl7pPr>
            <a:lvl8pPr lvl="7">
              <a:spcBef>
                <a:spcPts val="0"/>
              </a:spcBef>
              <a:spcAft>
                <a:spcPts val="0"/>
              </a:spcAft>
              <a:buSzPts val="2800"/>
              <a:buNone/>
            </a:lvl8pPr>
            <a:lvl9pPr lvl="8">
              <a:spcBef>
                <a:spcPts val="0"/>
              </a:spcBef>
              <a:spcAft>
                <a:spcPts val="0"/>
              </a:spcAft>
              <a:buSzPts val="2800"/>
              <a:buNone/>
            </a:lvl9pPr>
          </a:lstStyle>
          <a:p>
            <a:endParaRPr/>
          </a:p>
        </p:txBody>
      </p:sp>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1048814"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48815"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1048816"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802" name="Google Shape;36;p9"/>
          <p:cNvSpPr/>
          <p:nvPr/>
        </p:nvSpPr>
        <p:spPr>
          <a:xfrm>
            <a:off x="4572000" y="0"/>
            <a:ext cx="4572000" cy="5143500"/>
          </a:xfrm>
          <a:prstGeom prst="rect">
            <a:avLst/>
          </a:prstGeom>
          <a:solidFill>
            <a:schemeClr val="lt2"/>
          </a:solid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eaLnBrk="1" hangingPunct="1"/>
            <a:endParaRPr/>
          </a:p>
        </p:txBody>
      </p:sp>
      <p:sp>
        <p:nvSpPr>
          <p:cNvPr id="1048805" name="Google Shape;40;p9"/>
          <p:cNvSpPr txBox="1">
            <a:spLocks noGrp="1"/>
          </p:cNvSpPr>
          <p:nvPr>
            <p:ph type="sldNum" idx="4"/>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
        <p:nvSpPr>
          <p:cNvPr id="1048808"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lvl1pPr>
            <a:lvl2pPr marL="914400" lvl="1" indent="-317500">
              <a:spcBef>
                <a:spcPts val="0"/>
              </a:spcBef>
              <a:spcAft>
                <a:spcPts val="0"/>
              </a:spcAft>
              <a:buSzPts val="1400"/>
              <a:buChar char="○"/>
            </a:lvl2pPr>
            <a:lvl3pPr marL="1371600" lvl="2" indent="-317500">
              <a:spcBef>
                <a:spcPts val="0"/>
              </a:spcBef>
              <a:spcAft>
                <a:spcPts val="0"/>
              </a:spcAft>
              <a:buSzPts val="1400"/>
              <a:buChar char="■"/>
            </a:lvl3pPr>
            <a:lvl4pPr marL="1828800" lvl="3" indent="-317500">
              <a:spcBef>
                <a:spcPts val="0"/>
              </a:spcBef>
              <a:spcAft>
                <a:spcPts val="0"/>
              </a:spcAft>
              <a:buSzPts val="1400"/>
              <a:buChar char="●"/>
            </a:lvl4pPr>
            <a:lvl5pPr marL="2286000" lvl="4" indent="-317500">
              <a:spcBef>
                <a:spcPts val="0"/>
              </a:spcBef>
              <a:spcAft>
                <a:spcPts val="0"/>
              </a:spcAft>
              <a:buSzPts val="1400"/>
              <a:buChar char="○"/>
            </a:lvl5pPr>
            <a:lvl6pPr marL="2743200" lvl="5" indent="-317500">
              <a:spcBef>
                <a:spcPts val="0"/>
              </a:spcBef>
              <a:spcAft>
                <a:spcPts val="0"/>
              </a:spcAft>
              <a:buSzPts val="1400"/>
              <a:buChar char="■"/>
            </a:lvl6pPr>
            <a:lvl7pPr marL="3200400" lvl="6" indent="-317500">
              <a:spcBef>
                <a:spcPts val="0"/>
              </a:spcBef>
              <a:spcAft>
                <a:spcPts val="0"/>
              </a:spcAft>
              <a:buSzPts val="1400"/>
              <a:buChar char="●"/>
            </a:lvl7pPr>
            <a:lvl8pPr marL="3657600" lvl="7" indent="-317500">
              <a:spcBef>
                <a:spcPts val="0"/>
              </a:spcBef>
              <a:spcAft>
                <a:spcPts val="0"/>
              </a:spcAft>
              <a:buSzPts val="1400"/>
              <a:buChar char="○"/>
            </a:lvl8pPr>
            <a:lvl9pPr marL="4114800" lvl="8" indent="-317500">
              <a:spcBef>
                <a:spcPts val="0"/>
              </a:spcBef>
              <a:spcAft>
                <a:spcPts val="0"/>
              </a:spcAft>
              <a:buSzPts val="1400"/>
              <a:buChar char="■"/>
            </a:lvl9pPr>
          </a:lstStyle>
          <a:p>
            <a:endParaRPr/>
          </a:p>
        </p:txBody>
      </p:sp>
      <p:sp>
        <p:nvSpPr>
          <p:cNvPr id="1048807"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048806"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1048817"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lvl1pPr>
          </a:lstStyle>
          <a:p>
            <a:endParaRPr/>
          </a:p>
        </p:txBody>
      </p:sp>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1048818" name="Google Shape;45;p11"/>
          <p:cNvSpPr txBox="1">
            <a:spLocks noGrp="1"/>
          </p:cNvSpPr>
          <p:nvPr>
            <p:ph type="title"/>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rPr lang="en-US" smtClean="0"/>
              <a:t>Click to edit Master title style</a:t>
            </a:r>
          </a:p>
        </p:txBody>
      </p:sp>
      <p:sp>
        <p:nvSpPr>
          <p:cNvPr id="1048819"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lvl1pPr>
            <a:lvl2pPr marL="914400" lvl="1" indent="-317500" algn="ctr">
              <a:spcBef>
                <a:spcPts val="0"/>
              </a:spcBef>
              <a:spcAft>
                <a:spcPts val="0"/>
              </a:spcAft>
              <a:buSzPts val="1400"/>
              <a:buChar char="○"/>
            </a:lvl2pPr>
            <a:lvl3pPr marL="1371600" lvl="2" indent="-317500" algn="ctr">
              <a:spcBef>
                <a:spcPts val="0"/>
              </a:spcBef>
              <a:spcAft>
                <a:spcPts val="0"/>
              </a:spcAft>
              <a:buSzPts val="1400"/>
              <a:buChar char="■"/>
            </a:lvl3pPr>
            <a:lvl4pPr marL="1828800" lvl="3" indent="-317500" algn="ctr">
              <a:spcBef>
                <a:spcPts val="0"/>
              </a:spcBef>
              <a:spcAft>
                <a:spcPts val="0"/>
              </a:spcAft>
              <a:buSzPts val="1400"/>
              <a:buChar char="●"/>
            </a:lvl4pPr>
            <a:lvl5pPr marL="2286000" lvl="4" indent="-317500" algn="ctr">
              <a:spcBef>
                <a:spcPts val="0"/>
              </a:spcBef>
              <a:spcAft>
                <a:spcPts val="0"/>
              </a:spcAft>
              <a:buSzPts val="1400"/>
              <a:buChar char="○"/>
            </a:lvl5pPr>
            <a:lvl6pPr marL="2743200" lvl="5" indent="-317500" algn="ctr">
              <a:spcBef>
                <a:spcPts val="0"/>
              </a:spcBef>
              <a:spcAft>
                <a:spcPts val="0"/>
              </a:spcAft>
              <a:buSzPts val="1400"/>
              <a:buChar char="■"/>
            </a:lvl6pPr>
            <a:lvl7pPr marL="3200400" lvl="6" indent="-317500" algn="ctr">
              <a:spcBef>
                <a:spcPts val="0"/>
              </a:spcBef>
              <a:spcAft>
                <a:spcPts val="0"/>
              </a:spcAft>
              <a:buSzPts val="1400"/>
              <a:buChar char="●"/>
            </a:lvl7pPr>
            <a:lvl8pPr marL="3657600" lvl="7" indent="-317500" algn="ctr">
              <a:spcBef>
                <a:spcPts val="0"/>
              </a:spcBef>
              <a:spcAft>
                <a:spcPts val="0"/>
              </a:spcAft>
              <a:buSzPts val="1400"/>
              <a:buChar char="○"/>
            </a:lvl8pPr>
            <a:lvl9pPr marL="4114800" lvl="8" indent="-317500" algn="ctr">
              <a:spcBef>
                <a:spcPts val="0"/>
              </a:spcBef>
              <a:spcAft>
                <a:spcPts val="0"/>
              </a:spcAft>
              <a:buSzPts val="1400"/>
              <a:buChar char="■"/>
            </a:lvl9pPr>
          </a:lstStyle>
          <a:p>
            <a:endParaRPr/>
          </a:p>
        </p:txBody>
      </p:sp>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48576" name="Google Shape;6;p1"/>
          <p:cNvSpPr txBox="1">
            <a:spLocks noGrp="1"/>
          </p:cNvSpPr>
          <p:nvPr>
            <p:ph type="title"/>
          </p:nvPr>
        </p:nvSpPr>
        <p:spPr>
          <a:xfrm>
            <a:off x="311150" y="444500"/>
            <a:ext cx="8521700" cy="573087"/>
          </a:xfrm>
          <a:prstGeom prst="rect">
            <a:avLst/>
          </a:prstGeom>
          <a:noFill/>
          <a:ln>
            <a:noFill/>
          </a:ln>
        </p:spPr>
        <p:txBody>
          <a:bodyPr vert="horz" lIns="91425" tIns="91425" rIns="91425" bIns="91425" anchor="t"/>
          <a:lstStyle/>
          <a:p>
            <a:endParaRPr/>
          </a:p>
        </p:txBody>
      </p:sp>
      <p:sp>
        <p:nvSpPr>
          <p:cNvPr id="1048577" name="Google Shape;7;p1"/>
          <p:cNvSpPr txBox="1">
            <a:spLocks noGrp="1"/>
          </p:cNvSpPr>
          <p:nvPr>
            <p:ph type="body" idx="1"/>
          </p:nvPr>
        </p:nvSpPr>
        <p:spPr>
          <a:xfrm>
            <a:off x="311150" y="1152525"/>
            <a:ext cx="8521700" cy="3416300"/>
          </a:xfrm>
          <a:prstGeom prst="rect">
            <a:avLst/>
          </a:prstGeom>
          <a:noFill/>
          <a:ln>
            <a:noFill/>
          </a:ln>
        </p:spPr>
        <p:txBody>
          <a:bodyPr vert="horz" lIns="91425" tIns="91425" rIns="91425" bIns="91425" anchor="t"/>
          <a:lstStyle/>
          <a:p>
            <a:endParaRPr/>
          </a:p>
        </p:txBody>
      </p:sp>
      <p:sp>
        <p:nvSpPr>
          <p:cNvPr id="1048578" name="Google Shape;8;p1"/>
          <p:cNvSpPr txBox="1">
            <a:spLocks noGrp="1"/>
          </p:cNvSpPr>
          <p:nvPr>
            <p:ph type="sldNum" idx="12"/>
          </p:nvPr>
        </p:nvSpPr>
        <p:spPr>
          <a:xfrm>
            <a:off x="8472488" y="4662487"/>
            <a:ext cx="549275" cy="393700"/>
          </a:xfrm>
          <a:prstGeom prst="rect">
            <a:avLst/>
          </a:prstGeom>
          <a:noFill/>
          <a:ln>
            <a:noFill/>
          </a:ln>
        </p:spPr>
        <p:txBody>
          <a:bodyPr vert="horz" lIns="91425" tIns="91425" rIns="91425" bIns="91425" anchor="ctr"/>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r" eaLnBrk="1" hangingPunct="1"/>
            <a:fld id="{566ABCEB-ACFC-4714-9973-3DA970169C29}" type="slidenum">
              <a:rPr lang="zh-CN" altLang="en-US" sz="1000">
                <a:solidFill>
                  <a:srgbClr val="595959"/>
                </a:solidFill>
              </a:rPr>
              <a:pPr lvl="0" algn="r" eaLnBrk="1" hangingPunct="1"/>
              <a:t>‹#›</a:t>
            </a:fld>
            <a:endParaRPr lang="zh-CN" altLang="en-US" sz="1000">
              <a:solidFill>
                <a:srgbClr val="595959"/>
              </a:solidFill>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6" name="Google Shape;231;p40"/>
          <p:cNvSpPr txBox="1">
            <a:spLocks noGrp="1"/>
          </p:cNvSpPr>
          <p:nvPr>
            <p:ph type="title" idx="4294967295"/>
          </p:nvPr>
        </p:nvSpPr>
        <p:spPr>
          <a:xfrm>
            <a:off x="2295640" y="0"/>
            <a:ext cx="2772119" cy="38559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1800" b="1" dirty="0"/>
              <a:t>Applicability of IPR</a:t>
            </a:r>
          </a:p>
        </p:txBody>
      </p:sp>
      <p:sp>
        <p:nvSpPr>
          <p:cNvPr id="1048687" name="Google Shape;232;p40"/>
          <p:cNvSpPr txBox="1"/>
          <p:nvPr/>
        </p:nvSpPr>
        <p:spPr>
          <a:xfrm>
            <a:off x="187325" y="965200"/>
            <a:ext cx="8755062" cy="4067175"/>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eaLnBrk="1" hangingPunct="1"/>
            <a:endParaRPr/>
          </a:p>
        </p:txBody>
      </p:sp>
      <p:pic>
        <p:nvPicPr>
          <p:cNvPr id="2097172" name="Google Shape;233;p40"/>
          <p:cNvPicPr>
            <a:picLocks/>
          </p:cNvPicPr>
          <p:nvPr/>
        </p:nvPicPr>
        <p:blipFill>
          <a:blip r:embed="rId3"/>
          <a:srcRect/>
          <a:stretch>
            <a:fillRect/>
          </a:stretch>
        </p:blipFill>
        <p:spPr>
          <a:xfrm>
            <a:off x="473725" y="418641"/>
            <a:ext cx="7877061" cy="4724859"/>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0" name="Google Shape;238;p41"/>
          <p:cNvSpPr txBox="1">
            <a:spLocks noGrp="1"/>
          </p:cNvSpPr>
          <p:nvPr>
            <p:ph type="title" idx="4294967295"/>
          </p:nvPr>
        </p:nvSpPr>
        <p:spPr>
          <a:xfrm>
            <a:off x="114300" y="157162"/>
            <a:ext cx="8520112" cy="57150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500" b="1"/>
              <a:t>IPR and Biodiversity</a:t>
            </a:r>
          </a:p>
        </p:txBody>
      </p:sp>
      <p:sp>
        <p:nvSpPr>
          <p:cNvPr id="1048691" name="Google Shape;239;p41"/>
          <p:cNvSpPr txBox="1"/>
          <p:nvPr/>
        </p:nvSpPr>
        <p:spPr>
          <a:xfrm>
            <a:off x="187325" y="661987"/>
            <a:ext cx="8755062" cy="43703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eaLnBrk="1" hangingPunct="1"/>
            <a:r>
              <a:rPr lang="zh-CN" altLang="en-US" sz="1500" b="1" u="sng" dirty="0"/>
              <a:t>Protection of Genetic Resources:</a:t>
            </a:r>
          </a:p>
          <a:p>
            <a:pPr lvl="0" algn="just" eaLnBrk="1" hangingPunct="1">
              <a:buFont typeface="Arial" pitchFamily="34" charset="0"/>
              <a:buChar char="•"/>
            </a:pPr>
            <a:r>
              <a:rPr lang="zh-CN" altLang="en-US" sz="1500" dirty="0"/>
              <a:t>IPR, particularly patents and plant breeders' rights, can be applied to protect genetic resources derived from biodiversity. This includes plant varieties, animal breeds, and microorganisms used in agriculture, medicine, and biotechnology.</a:t>
            </a:r>
          </a:p>
          <a:p>
            <a:pPr lvl="0" algn="just" eaLnBrk="1" hangingPunct="1">
              <a:buFont typeface="Arial" pitchFamily="34" charset="0"/>
              <a:buChar char="•"/>
            </a:pPr>
            <a:r>
              <a:rPr lang="zh-CN" altLang="en-US" sz="1500" dirty="0"/>
              <a:t>Access and Benefit-Sharing (ABS) agreements aim to ensure that the benefits of commercial use of genetic resources are shared fairly with the countries and communities that provide those resources.</a:t>
            </a:r>
          </a:p>
          <a:p>
            <a:pPr lvl="0" algn="just" eaLnBrk="1" hangingPunct="1">
              <a:buNone/>
            </a:pPr>
            <a:endParaRPr lang="zh-CN" altLang="en-US" sz="1500" dirty="0"/>
          </a:p>
          <a:p>
            <a:pPr lvl="0" algn="just" eaLnBrk="1" hangingPunct="1"/>
            <a:r>
              <a:rPr lang="zh-CN" altLang="en-US" sz="1500" b="1" u="sng" dirty="0"/>
              <a:t>Traditional Knowledge:</a:t>
            </a:r>
          </a:p>
          <a:p>
            <a:pPr lvl="0" algn="just" eaLnBrk="1" hangingPunct="1">
              <a:buFont typeface="Arial" pitchFamily="34" charset="0"/>
              <a:buChar char="•"/>
            </a:pPr>
            <a:r>
              <a:rPr lang="zh-CN" altLang="en-US" sz="1500" dirty="0"/>
              <a:t>Biodiversity-rich regions often have indigenous and local communities with valuable traditional knowledge about the use of biodiversity resources for medicine, agriculture, and cultural practices.</a:t>
            </a:r>
          </a:p>
          <a:p>
            <a:pPr lvl="0" algn="just" eaLnBrk="1" hangingPunct="1">
              <a:buFont typeface="Arial" pitchFamily="34" charset="0"/>
              <a:buChar char="•"/>
            </a:pPr>
            <a:r>
              <a:rPr lang="zh-CN" altLang="en-US" sz="1500" dirty="0"/>
              <a:t>IPR can be used to protect traditional knowledge, and mechanisms like geographical indications and trademarks can be applied to preserve the authenticity and reputation of traditional products.</a:t>
            </a:r>
          </a:p>
          <a:p>
            <a:pPr lvl="0" algn="just" eaLnBrk="1" hangingPunct="1">
              <a:buNone/>
            </a:pPr>
            <a:endParaRPr lang="zh-CN" altLang="en-US" sz="1500" dirty="0"/>
          </a:p>
          <a:p>
            <a:pPr lvl="0" algn="just" eaLnBrk="1" hangingPunct="1"/>
            <a:r>
              <a:rPr lang="zh-CN" altLang="en-US" sz="1500" b="1" u="sng" dirty="0"/>
              <a:t>Biopiracy and Prior Informed Consent:</a:t>
            </a:r>
          </a:p>
          <a:p>
            <a:pPr lvl="0" algn="just" eaLnBrk="1" hangingPunct="1">
              <a:buFont typeface="Arial" pitchFamily="34" charset="0"/>
              <a:buChar char="•"/>
            </a:pPr>
            <a:r>
              <a:rPr lang="zh-CN" altLang="en-US" sz="1500" dirty="0"/>
              <a:t>Concerns about biopiracy arise when individuals or organizations exploit genetic resources or traditional knowledge without the informed consent of the source community or country.</a:t>
            </a:r>
          </a:p>
          <a:p>
            <a:pPr lvl="0" algn="just" eaLnBrk="1" hangingPunct="1">
              <a:buFont typeface="Arial" pitchFamily="34" charset="0"/>
              <a:buChar char="•"/>
            </a:pPr>
            <a:r>
              <a:rPr lang="zh-CN" altLang="en-US" sz="1500" dirty="0"/>
              <a:t>Legal mechanisms, including IPR and international agreements like the Nagoya Protocol, seek to prevent biopiracy by requiring prior informed consent and mutually agreed terms for access to genetic resources.</a:t>
            </a:r>
          </a:p>
          <a:p>
            <a:pPr lvl="0" eaLnBrk="1" hangingPunct="1">
              <a:buNone/>
            </a:pPr>
            <a:endParaRPr lang="zh-CN" altLang="en-US" sz="1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4" name="Google Shape;244;p42"/>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SzPct val="39000"/>
              <a:buNone/>
            </a:pPr>
            <a:r>
              <a:rPr lang="zh-CN" altLang="en-US" sz="2500" b="1"/>
              <a:t>IPR and Biodiversity</a:t>
            </a:r>
          </a:p>
        </p:txBody>
      </p:sp>
      <p:sp>
        <p:nvSpPr>
          <p:cNvPr id="1048695" name="Google Shape;245;p42"/>
          <p:cNvSpPr txBox="1"/>
          <p:nvPr/>
        </p:nvSpPr>
        <p:spPr>
          <a:xfrm>
            <a:off x="187325" y="573087"/>
            <a:ext cx="8755062" cy="44592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eaLnBrk="1" hangingPunct="1">
              <a:buNone/>
            </a:pPr>
            <a:r>
              <a:rPr lang="zh-CN" altLang="en-US" sz="1500" b="1" u="sng"/>
              <a:t>Conservation and Sustainable Use:</a:t>
            </a:r>
          </a:p>
          <a:p>
            <a:pPr lvl="0" eaLnBrk="1" hangingPunct="1">
              <a:buNone/>
            </a:pPr>
            <a:r>
              <a:rPr lang="zh-CN" altLang="en-US" sz="1500"/>
              <a:t>IPR can play a role in incentivizing the conservation and sustainable use of biodiversity. By providing legal protection and potential economic benefits, IPR can encourage efforts to protect endangered species and their habitats.</a:t>
            </a:r>
          </a:p>
          <a:p>
            <a:pPr lvl="0" eaLnBrk="1" hangingPunct="1">
              <a:buNone/>
            </a:pPr>
            <a:endParaRPr lang="zh-CN" altLang="en-US" sz="1500"/>
          </a:p>
          <a:p>
            <a:pPr lvl="0" eaLnBrk="1" hangingPunct="1">
              <a:buNone/>
            </a:pPr>
            <a:r>
              <a:rPr lang="zh-CN" altLang="en-US" sz="1500" b="1" u="sng"/>
              <a:t>Patents on Life Forms:</a:t>
            </a:r>
          </a:p>
          <a:p>
            <a:pPr lvl="0" eaLnBrk="1" hangingPunct="1">
              <a:buNone/>
            </a:pPr>
            <a:r>
              <a:rPr lang="zh-CN" altLang="en-US" sz="1500"/>
              <a:t>The grant of patents on life forms, such as genetically modified organisms (GMOs), has raised ethical and environmental concerns. Critics argue that patents on certain life forms may incentivize practices that are detrimental to biodiversity and traditional agriculture.</a:t>
            </a:r>
          </a:p>
          <a:p>
            <a:pPr lvl="0" eaLnBrk="1" hangingPunct="1">
              <a:buNone/>
            </a:pPr>
            <a:endParaRPr lang="zh-CN" altLang="en-US" sz="1500"/>
          </a:p>
          <a:p>
            <a:pPr lvl="0" eaLnBrk="1" hangingPunct="1">
              <a:buNone/>
            </a:pPr>
            <a:r>
              <a:rPr lang="zh-CN" altLang="en-US" sz="1500" b="1" u="sng"/>
              <a:t>Medicinal Plants and Traditional Medicine:</a:t>
            </a:r>
          </a:p>
          <a:p>
            <a:pPr lvl="0" eaLnBrk="1" hangingPunct="1">
              <a:buNone/>
            </a:pPr>
            <a:r>
              <a:rPr lang="zh-CN" altLang="en-US" sz="1500"/>
              <a:t>Many medicinal plants and herbal remedies are derived from biodiversity-rich ecosystems. The protection of IPR can influence the accessibility and affordability of traditional medicines and remedies.</a:t>
            </a:r>
          </a:p>
          <a:p>
            <a:pPr lvl="0" eaLnBrk="1" hangingPunct="1">
              <a:buNone/>
            </a:pPr>
            <a:endParaRPr lang="zh-CN" altLang="en-US" sz="1500"/>
          </a:p>
          <a:p>
            <a:pPr lvl="0" eaLnBrk="1" hangingPunct="1">
              <a:buNone/>
            </a:pPr>
            <a:r>
              <a:rPr lang="zh-CN" altLang="en-US" sz="1500" b="1" u="sng"/>
              <a:t>Conservation Agreements:</a:t>
            </a:r>
          </a:p>
          <a:p>
            <a:pPr lvl="0" eaLnBrk="1" hangingPunct="1">
              <a:buNone/>
            </a:pPr>
            <a:r>
              <a:rPr lang="zh-CN" altLang="en-US" sz="1500"/>
              <a:t>Conservation organizations and governments may enter into agreements with indigenous and local communities to protect and conserve biodiversity, often involving the sharing of benefits from IPR-related activities.</a:t>
            </a:r>
          </a:p>
          <a:p>
            <a:pPr lvl="0" eaLnBrk="1" hangingPunct="1">
              <a:buNone/>
            </a:pPr>
            <a:endParaRPr lang="zh-CN" altLang="en-US" sz="12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Google Shape;250;p43"/>
          <p:cNvSpPr txBox="1">
            <a:spLocks noGrp="1"/>
          </p:cNvSpPr>
          <p:nvPr>
            <p:ph type="title" idx="4294967295"/>
          </p:nvPr>
        </p:nvSpPr>
        <p:spPr>
          <a:xfrm>
            <a:off x="114300" y="157162"/>
            <a:ext cx="8520112" cy="57150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SzPct val="39000"/>
              <a:buNone/>
            </a:pPr>
            <a:r>
              <a:rPr lang="zh-CN" altLang="en-US" sz="2500" b="1"/>
              <a:t>IPR and Biodiversity</a:t>
            </a:r>
          </a:p>
        </p:txBody>
      </p:sp>
      <p:sp>
        <p:nvSpPr>
          <p:cNvPr id="1048699" name="Google Shape;251;p43"/>
          <p:cNvSpPr txBox="1"/>
          <p:nvPr/>
        </p:nvSpPr>
        <p:spPr>
          <a:xfrm>
            <a:off x="217487" y="860425"/>
            <a:ext cx="8678862" cy="4081462"/>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eaLnBrk="1" hangingPunct="1">
              <a:buNone/>
            </a:pPr>
            <a:r>
              <a:rPr lang="zh-CN" altLang="en-US" sz="1700" b="1" u="sng"/>
              <a:t>Global and National Policies:</a:t>
            </a:r>
          </a:p>
          <a:p>
            <a:pPr lvl="0" eaLnBrk="1" hangingPunct="1">
              <a:buNone/>
            </a:pPr>
            <a:r>
              <a:rPr lang="zh-CN" altLang="en-US" sz="1700"/>
              <a:t>International agreements, such as the Convention on Biological Diversity (CBD), provide a framework for addressing the relationship between IPR and biodiversity.</a:t>
            </a:r>
          </a:p>
          <a:p>
            <a:pPr lvl="0" eaLnBrk="1" hangingPunct="1">
              <a:buNone/>
            </a:pPr>
            <a:r>
              <a:rPr lang="zh-CN" altLang="en-US" sz="1700"/>
              <a:t>National laws and policies may also establish guidelines for the use of biodiversity resources and traditional knowledge.</a:t>
            </a:r>
          </a:p>
          <a:p>
            <a:pPr lvl="0" eaLnBrk="1" hangingPunct="1">
              <a:buNone/>
            </a:pPr>
            <a:endParaRPr lang="zh-CN" altLang="en-US" sz="1700"/>
          </a:p>
          <a:p>
            <a:pPr lvl="0" eaLnBrk="1" hangingPunct="1">
              <a:buNone/>
            </a:pPr>
            <a:r>
              <a:rPr lang="zh-CN" altLang="en-US" sz="1700" b="1" u="sng"/>
              <a:t>Biotechnological Innovations:</a:t>
            </a:r>
          </a:p>
          <a:p>
            <a:pPr lvl="0" eaLnBrk="1" hangingPunct="1">
              <a:buNone/>
            </a:pPr>
            <a:r>
              <a:rPr lang="zh-CN" altLang="en-US" sz="1700"/>
              <a:t>Biotechnology and genetic engineering, protected by IPR, have applications in agriculture and medicine that can affect biodiversity through the introduction of genetically modified organisms.</a:t>
            </a:r>
          </a:p>
          <a:p>
            <a:pPr lvl="0" eaLnBrk="1" hangingPunct="1">
              <a:buNone/>
            </a:pPr>
            <a:endParaRPr lang="zh-CN" altLang="en-US" sz="1700"/>
          </a:p>
          <a:p>
            <a:pPr lvl="0" eaLnBrk="1" hangingPunct="1">
              <a:buNone/>
            </a:pPr>
            <a:r>
              <a:rPr lang="zh-CN" altLang="en-US" sz="1700"/>
              <a:t>Balancing the interests of protecting biodiversity and the rights of indigenous and local communities with the potential for technological innovation and economic development is a complex challenge. Legal frameworks, international agreements, and ongoing discussions within the scientific and policy communities aim to address these complex issues.</a:t>
            </a:r>
          </a:p>
          <a:p>
            <a:pPr lvl="0" eaLnBrk="1" hangingPunct="1">
              <a:buNone/>
            </a:pP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2" name="Google Shape;256;p44"/>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500" b="1"/>
              <a:t>IPR development process</a:t>
            </a:r>
          </a:p>
        </p:txBody>
      </p:sp>
      <p:sp>
        <p:nvSpPr>
          <p:cNvPr id="1048703" name="Google Shape;257;p44"/>
          <p:cNvSpPr txBox="1"/>
          <p:nvPr/>
        </p:nvSpPr>
        <p:spPr>
          <a:xfrm>
            <a:off x="217487" y="573087"/>
            <a:ext cx="8678862" cy="436880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1700" dirty="0"/>
              <a:t>The development process for Intellectual Property Rights (IPR) involves several key steps and considerations. Here's an overview of the typical IPR development process:</a:t>
            </a:r>
          </a:p>
          <a:p>
            <a:pPr lvl="0" algn="just" eaLnBrk="1" hangingPunct="1">
              <a:buNone/>
            </a:pPr>
            <a:endParaRPr lang="zh-CN" altLang="en-US" sz="1700" dirty="0"/>
          </a:p>
          <a:p>
            <a:pPr lvl="0" algn="just" eaLnBrk="1" hangingPunct="1">
              <a:buNone/>
            </a:pPr>
            <a:r>
              <a:rPr lang="zh-CN" altLang="en-US" sz="1700" b="1" u="sng" dirty="0"/>
              <a:t>Identification of Intellectual Property:</a:t>
            </a:r>
          </a:p>
          <a:p>
            <a:pPr lvl="0" algn="just" eaLnBrk="1" hangingPunct="1">
              <a:buNone/>
            </a:pPr>
            <a:r>
              <a:rPr lang="zh-CN" altLang="en-US" sz="1700" dirty="0"/>
              <a:t>The process begins with identifying intellectual property within an organization or as a result of individual creativity. This can include inventions, creative works, trademarks, trade secrets, and more.</a:t>
            </a:r>
          </a:p>
          <a:p>
            <a:pPr lvl="0" algn="just" eaLnBrk="1" hangingPunct="1">
              <a:buNone/>
            </a:pPr>
            <a:endParaRPr lang="zh-CN" altLang="en-US" sz="1700" dirty="0"/>
          </a:p>
          <a:p>
            <a:pPr lvl="0" algn="just" eaLnBrk="1" hangingPunct="1">
              <a:buNone/>
            </a:pPr>
            <a:r>
              <a:rPr lang="zh-CN" altLang="en-US" sz="1700" b="1" u="sng" dirty="0"/>
              <a:t>Documentation and Recordkeeping:</a:t>
            </a:r>
          </a:p>
          <a:p>
            <a:pPr lvl="0" algn="just" eaLnBrk="1" hangingPunct="1">
              <a:buNone/>
            </a:pPr>
            <a:r>
              <a:rPr lang="zh-CN" altLang="en-US" sz="1700" dirty="0"/>
              <a:t>Proper documentation is essential. Inventors, authors, and creators should maintain records that detail the creation, development, and ownership of the intellectual property.</a:t>
            </a:r>
          </a:p>
          <a:p>
            <a:pPr lvl="0" algn="just" eaLnBrk="1" hangingPunct="1">
              <a:buNone/>
            </a:pPr>
            <a:endParaRPr lang="zh-CN" altLang="en-US" sz="1700" dirty="0"/>
          </a:p>
          <a:p>
            <a:pPr lvl="0" algn="just" eaLnBrk="1" hangingPunct="1">
              <a:buNone/>
            </a:pPr>
            <a:r>
              <a:rPr lang="zh-CN" altLang="en-US" sz="1700" b="1" u="sng" dirty="0"/>
              <a:t>Assessment and Evaluation:</a:t>
            </a:r>
          </a:p>
          <a:p>
            <a:pPr lvl="0" algn="just" eaLnBrk="1" hangingPunct="1">
              <a:buNone/>
            </a:pPr>
            <a:r>
              <a:rPr lang="zh-CN" altLang="en-US" sz="1700" dirty="0"/>
              <a:t>Organizations and individuals should assess the potential value of the intellectual property. Factors to consider include market demand, uniqueness, competitive advantages, and potential for commercialization.</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6" name="Google Shape;262;p45"/>
          <p:cNvSpPr txBox="1">
            <a:spLocks noGrp="1"/>
          </p:cNvSpPr>
          <p:nvPr>
            <p:ph type="title" idx="4294967295"/>
          </p:nvPr>
        </p:nvSpPr>
        <p:spPr>
          <a:xfrm>
            <a:off x="114300" y="157162"/>
            <a:ext cx="8520112" cy="57150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500" b="1"/>
              <a:t>IPR development process</a:t>
            </a:r>
          </a:p>
        </p:txBody>
      </p:sp>
      <p:sp>
        <p:nvSpPr>
          <p:cNvPr id="1048707" name="Google Shape;263;p45"/>
          <p:cNvSpPr txBox="1"/>
          <p:nvPr/>
        </p:nvSpPr>
        <p:spPr>
          <a:xfrm>
            <a:off x="217487" y="860425"/>
            <a:ext cx="8678862" cy="4081462"/>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eaLnBrk="1" hangingPunct="1">
              <a:buNone/>
            </a:pPr>
            <a:r>
              <a:rPr lang="zh-CN" altLang="en-US" sz="1900" b="1" u="sng"/>
              <a:t>Legal Counsel and Expert Advice:</a:t>
            </a:r>
          </a:p>
          <a:p>
            <a:pPr lvl="0" eaLnBrk="1" hangingPunct="1">
              <a:buNone/>
            </a:pPr>
            <a:r>
              <a:rPr lang="zh-CN" altLang="en-US" sz="1900"/>
              <a:t>Seek legal advice from intellectual property attorneys and experts who can guide you through the process and help determine the appropriate type of protection (e.g., patents, copyrights, trademarks, trade secrets).</a:t>
            </a:r>
          </a:p>
          <a:p>
            <a:pPr lvl="0" eaLnBrk="1" hangingPunct="1">
              <a:buNone/>
            </a:pPr>
            <a:endParaRPr lang="zh-CN" altLang="en-US" sz="1900"/>
          </a:p>
          <a:p>
            <a:pPr lvl="0" eaLnBrk="1" hangingPunct="1">
              <a:buNone/>
            </a:pPr>
            <a:r>
              <a:rPr lang="zh-CN" altLang="en-US" sz="1900" b="1" u="sng"/>
              <a:t>Protection and Registration:</a:t>
            </a:r>
          </a:p>
          <a:p>
            <a:pPr lvl="0" eaLnBrk="1" hangingPunct="1">
              <a:buNone/>
            </a:pPr>
            <a:r>
              <a:rPr lang="zh-CN" altLang="en-US" sz="1900"/>
              <a:t>Depending on the type of intellectual property, register or apply for the relevant protection. This may involve filing patent applications, copyright registrations, trademark applications, or implementing security measures for trade secrets.</a:t>
            </a:r>
          </a:p>
          <a:p>
            <a:pPr lvl="0" eaLnBrk="1" hangingPunct="1">
              <a:buNone/>
            </a:pPr>
            <a:endParaRPr lang="zh-CN" altLang="en-US" sz="1900"/>
          </a:p>
          <a:p>
            <a:pPr lvl="0" eaLnBrk="1" hangingPunct="1">
              <a:buNone/>
            </a:pPr>
            <a:r>
              <a:rPr lang="zh-CN" altLang="en-US" sz="1900" b="1" u="sng"/>
              <a:t>Commercialization and Licensing:</a:t>
            </a:r>
          </a:p>
          <a:p>
            <a:pPr lvl="0" eaLnBrk="1" hangingPunct="1">
              <a:buNone/>
            </a:pPr>
            <a:r>
              <a:rPr lang="zh-CN" altLang="en-US" sz="1900"/>
              <a:t>Develop strategies for commercializing the intellectual property. This could involve licensing the rights to others, selling the IP, or using it for internal business purposes.</a:t>
            </a:r>
          </a:p>
          <a:p>
            <a:pPr lvl="0" eaLnBrk="1" hangingPunct="1">
              <a:buNone/>
            </a:pPr>
            <a:endParaRPr lang="zh-CN" alt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0" name="Google Shape;268;p46"/>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SzPct val="39000"/>
              <a:buNone/>
            </a:pPr>
            <a:r>
              <a:rPr lang="zh-CN" altLang="en-US" sz="2500" b="1"/>
              <a:t>IPR development process</a:t>
            </a:r>
          </a:p>
        </p:txBody>
      </p:sp>
      <p:sp>
        <p:nvSpPr>
          <p:cNvPr id="1048711" name="Google Shape;269;p46"/>
          <p:cNvSpPr txBox="1"/>
          <p:nvPr/>
        </p:nvSpPr>
        <p:spPr>
          <a:xfrm>
            <a:off x="217487" y="573087"/>
            <a:ext cx="8678862" cy="448945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1700" b="1" u="sng" dirty="0"/>
              <a:t>Enforcement and Protection:</a:t>
            </a:r>
          </a:p>
          <a:p>
            <a:pPr lvl="0" algn="just" eaLnBrk="1" hangingPunct="1">
              <a:buNone/>
            </a:pPr>
            <a:r>
              <a:rPr lang="zh-CN" altLang="en-US" sz="1700" dirty="0"/>
              <a:t>Monitor and enforce the intellectual property rights to prevent unauthorized use or infringement. This may require legal action, cease and desist notices, or negotiations with infringing parties.</a:t>
            </a:r>
          </a:p>
          <a:p>
            <a:pPr lvl="0" algn="just" eaLnBrk="1" hangingPunct="1">
              <a:buNone/>
            </a:pPr>
            <a:endParaRPr lang="zh-CN" altLang="en-US" sz="1700" dirty="0"/>
          </a:p>
          <a:p>
            <a:pPr lvl="0" algn="just" eaLnBrk="1" hangingPunct="1">
              <a:buNone/>
            </a:pPr>
            <a:r>
              <a:rPr lang="zh-CN" altLang="en-US" sz="1700" b="1" u="sng" dirty="0"/>
              <a:t>Maintenance and Renewal:</a:t>
            </a:r>
          </a:p>
          <a:p>
            <a:pPr lvl="0" algn="just" eaLnBrk="1" hangingPunct="1">
              <a:buNone/>
            </a:pPr>
            <a:r>
              <a:rPr lang="zh-CN" altLang="en-US" sz="1700" dirty="0"/>
              <a:t>For certain types of IP, such as patents and trademarks, regular maintenance and renewal are necessary to keep the protection in force. This includes paying renewal fees and meeting regulatory requirements.</a:t>
            </a:r>
          </a:p>
          <a:p>
            <a:pPr lvl="0" algn="just" eaLnBrk="1" hangingPunct="1">
              <a:buNone/>
            </a:pPr>
            <a:endParaRPr lang="zh-CN" altLang="en-US" sz="1700" dirty="0"/>
          </a:p>
          <a:p>
            <a:pPr lvl="0" algn="just" eaLnBrk="1" hangingPunct="1">
              <a:buNone/>
            </a:pPr>
            <a:r>
              <a:rPr lang="zh-CN" altLang="en-US" sz="1700" b="1" u="sng" dirty="0"/>
              <a:t>Documentation of Agreements:</a:t>
            </a:r>
          </a:p>
          <a:p>
            <a:pPr lvl="0" algn="just" eaLnBrk="1" hangingPunct="1">
              <a:buNone/>
            </a:pPr>
            <a:r>
              <a:rPr lang="zh-CN" altLang="en-US" sz="1700" dirty="0"/>
              <a:t>If the IP is licensed or transferred, ensure that all agreements are properly documented and legally binding.</a:t>
            </a:r>
          </a:p>
          <a:p>
            <a:pPr lvl="0" algn="just" eaLnBrk="1" hangingPunct="1">
              <a:buNone/>
            </a:pPr>
            <a:endParaRPr lang="zh-CN" altLang="en-US" sz="1700" dirty="0"/>
          </a:p>
          <a:p>
            <a:pPr lvl="0" algn="just" eaLnBrk="1" hangingPunct="1">
              <a:buNone/>
            </a:pPr>
            <a:r>
              <a:rPr lang="zh-CN" altLang="en-US" sz="1700" b="1" u="sng" dirty="0"/>
              <a:t>International Considerations:</a:t>
            </a:r>
          </a:p>
          <a:p>
            <a:pPr lvl="0" algn="just" eaLnBrk="1" hangingPunct="1">
              <a:buNone/>
            </a:pPr>
            <a:r>
              <a:rPr lang="zh-CN" altLang="en-US" sz="1700" dirty="0"/>
              <a:t>If applicable, consider international protection for IP rights through mechanisms like the Madrid Protocol (for trademarks) or the Patent Cooperation Treaty (PCT) for patents.</a:t>
            </a:r>
          </a:p>
          <a:p>
            <a:pPr lvl="0" eaLnBrk="1" hangingPunct="1">
              <a:buNone/>
            </a:pPr>
            <a:endParaRPr lang="zh-CN" alt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4" name="Google Shape;274;p47"/>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SzPct val="39000"/>
              <a:buNone/>
            </a:pPr>
            <a:r>
              <a:rPr lang="zh-CN" altLang="en-US" sz="2500" b="1"/>
              <a:t>IPR development process</a:t>
            </a:r>
          </a:p>
        </p:txBody>
      </p:sp>
      <p:sp>
        <p:nvSpPr>
          <p:cNvPr id="1048715" name="Google Shape;275;p47"/>
          <p:cNvSpPr txBox="1"/>
          <p:nvPr/>
        </p:nvSpPr>
        <p:spPr>
          <a:xfrm>
            <a:off x="217487" y="573087"/>
            <a:ext cx="8678862" cy="44592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1500" b="1" u="sng" dirty="0"/>
              <a:t>Monitoring Changes in Law:</a:t>
            </a:r>
          </a:p>
          <a:p>
            <a:pPr lvl="0" algn="just" eaLnBrk="1" hangingPunct="1">
              <a:buNone/>
            </a:pPr>
            <a:r>
              <a:rPr lang="zh-CN" altLang="en-US" sz="1500" dirty="0"/>
              <a:t>Stay informed about changes in intellectual property law, as regulations and requirements may evolve over time.</a:t>
            </a:r>
          </a:p>
          <a:p>
            <a:pPr lvl="0" algn="just" eaLnBrk="1" hangingPunct="1">
              <a:buNone/>
            </a:pPr>
            <a:endParaRPr lang="zh-CN" altLang="en-US" sz="1500" dirty="0"/>
          </a:p>
          <a:p>
            <a:pPr lvl="0" algn="just" eaLnBrk="1" hangingPunct="1">
              <a:buNone/>
            </a:pPr>
            <a:r>
              <a:rPr lang="zh-CN" altLang="en-US" sz="1500" b="1" u="sng" dirty="0"/>
              <a:t>Record of Use:</a:t>
            </a:r>
          </a:p>
          <a:p>
            <a:pPr lvl="0" algn="just" eaLnBrk="1" hangingPunct="1">
              <a:buNone/>
            </a:pPr>
            <a:r>
              <a:rPr lang="zh-CN" altLang="en-US" sz="1500" dirty="0"/>
              <a:t>For trademarks, maintaining a record of use can be important to prove continuous and </a:t>
            </a:r>
            <a:r>
              <a:rPr lang="zh-CN" altLang="en-US" sz="1500" dirty="0" smtClean="0"/>
              <a:t>bonafide </a:t>
            </a:r>
            <a:r>
              <a:rPr lang="zh-CN" altLang="en-US" sz="1500" dirty="0"/>
              <a:t>use of the mark.</a:t>
            </a:r>
          </a:p>
          <a:p>
            <a:pPr lvl="0" algn="just" eaLnBrk="1" hangingPunct="1">
              <a:buNone/>
            </a:pPr>
            <a:endParaRPr lang="zh-CN" altLang="en-US" sz="1500" dirty="0"/>
          </a:p>
          <a:p>
            <a:pPr lvl="0" algn="just" eaLnBrk="1" hangingPunct="1">
              <a:buNone/>
            </a:pPr>
            <a:r>
              <a:rPr lang="zh-CN" altLang="en-US" sz="1500" b="1" u="sng" dirty="0"/>
              <a:t>Strategic Portfolio Management:</a:t>
            </a:r>
          </a:p>
          <a:p>
            <a:pPr lvl="0" algn="just" eaLnBrk="1" hangingPunct="1">
              <a:buNone/>
            </a:pPr>
            <a:r>
              <a:rPr lang="zh-CN" altLang="en-US" sz="1500" dirty="0"/>
              <a:t>Manage your intellectual property portfolio strategically, ensuring that it aligns with your business goals and objectives.</a:t>
            </a:r>
          </a:p>
          <a:p>
            <a:pPr lvl="0" algn="just" eaLnBrk="1" hangingPunct="1">
              <a:buNone/>
            </a:pPr>
            <a:endParaRPr lang="zh-CN" altLang="en-US" sz="1500" dirty="0"/>
          </a:p>
          <a:p>
            <a:pPr lvl="0" algn="just" eaLnBrk="1" hangingPunct="1">
              <a:buNone/>
            </a:pPr>
            <a:r>
              <a:rPr lang="zh-CN" altLang="en-US" sz="1500" b="1" u="sng" dirty="0"/>
              <a:t>Collaboration and Partnerships:</a:t>
            </a:r>
          </a:p>
          <a:p>
            <a:pPr lvl="0" algn="just" eaLnBrk="1" hangingPunct="1">
              <a:buNone/>
            </a:pPr>
            <a:r>
              <a:rPr lang="zh-CN" altLang="en-US" sz="1500" dirty="0"/>
              <a:t>In some cases, collaborations and partnerships may be beneficial for developing and utilizing intellectual property. Careful consideration of IP ownership and rights is essential in such cases.</a:t>
            </a:r>
          </a:p>
          <a:p>
            <a:pPr lvl="0" algn="just" eaLnBrk="1" hangingPunct="1">
              <a:buNone/>
            </a:pPr>
            <a:endParaRPr lang="zh-CN" altLang="en-US" sz="1500" dirty="0"/>
          </a:p>
          <a:p>
            <a:pPr lvl="0" algn="just" eaLnBrk="1" hangingPunct="1">
              <a:buNone/>
            </a:pPr>
            <a:r>
              <a:rPr lang="zh-CN" altLang="en-US" sz="1500" b="1" u="sng" dirty="0"/>
              <a:t>Dispute Resolution:</a:t>
            </a:r>
          </a:p>
          <a:p>
            <a:pPr lvl="0" algn="just" eaLnBrk="1" hangingPunct="1">
              <a:buNone/>
            </a:pPr>
            <a:r>
              <a:rPr lang="zh-CN" altLang="en-US" sz="1500" dirty="0"/>
              <a:t>Be prepared to address disputes or challenges related to intellectual property. This may involve negotiation, alternative dispute resolution, or legal action.</a:t>
            </a:r>
          </a:p>
          <a:p>
            <a:pPr lvl="0" eaLnBrk="1" hangingPunct="1">
              <a:buNone/>
            </a:pPr>
            <a:endParaRPr lang="zh-CN" altLang="en-US" sz="12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8" name="Google Shape;280;p48"/>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500" b="1"/>
              <a:t>WIPO</a:t>
            </a:r>
          </a:p>
        </p:txBody>
      </p:sp>
      <p:sp>
        <p:nvSpPr>
          <p:cNvPr id="1048719" name="Google Shape;281;p48"/>
          <p:cNvSpPr txBox="1"/>
          <p:nvPr/>
        </p:nvSpPr>
        <p:spPr>
          <a:xfrm>
            <a:off x="114300" y="530225"/>
            <a:ext cx="8678862" cy="4532312"/>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1800" dirty="0"/>
              <a:t>WIPO stands for the </a:t>
            </a:r>
            <a:r>
              <a:rPr lang="zh-CN" altLang="en-US" sz="1800" b="1" dirty="0"/>
              <a:t>World Intellectual Property Organization</a:t>
            </a:r>
            <a:r>
              <a:rPr lang="zh-CN" altLang="en-US" sz="1800" dirty="0"/>
              <a:t>. It is a specialized agency of the United Nations responsible for promoting and </a:t>
            </a:r>
            <a:r>
              <a:rPr lang="zh-CN" altLang="en-US" sz="1800" b="1" dirty="0"/>
              <a:t>protecting intellectual property (IP) rights worldwide</a:t>
            </a:r>
            <a:r>
              <a:rPr lang="zh-CN" altLang="en-US" sz="1800" dirty="0"/>
              <a:t>. WIPO serves as a global forum for IP services, policy development, information dissemination, and cooperation among its member states. Here are key aspects of WIPO:</a:t>
            </a:r>
          </a:p>
          <a:p>
            <a:pPr lvl="0" algn="just" eaLnBrk="1" hangingPunct="1">
              <a:buNone/>
            </a:pPr>
            <a:endParaRPr lang="zh-CN" altLang="en-US" sz="1800" dirty="0"/>
          </a:p>
          <a:p>
            <a:pPr lvl="0" algn="just" eaLnBrk="1" hangingPunct="1">
              <a:buNone/>
            </a:pPr>
            <a:r>
              <a:rPr lang="zh-CN" altLang="en-US" sz="1800" b="1" dirty="0"/>
              <a:t>Establishment:</a:t>
            </a:r>
            <a:r>
              <a:rPr lang="zh-CN" altLang="en-US" sz="1800" dirty="0"/>
              <a:t> WIPO was established in 1967 and became a specialized agency of the United Nations in 1974. Its headquarters are located in Geneva, Switzerland.</a:t>
            </a:r>
          </a:p>
          <a:p>
            <a:pPr lvl="0" algn="just" eaLnBrk="1" hangingPunct="1">
              <a:buNone/>
            </a:pPr>
            <a:endParaRPr lang="zh-CN" altLang="en-US" sz="1800" dirty="0"/>
          </a:p>
          <a:p>
            <a:pPr lvl="0" algn="just" eaLnBrk="1" hangingPunct="1">
              <a:buNone/>
            </a:pPr>
            <a:r>
              <a:rPr lang="zh-CN" altLang="en-US" sz="1800" b="1" dirty="0"/>
              <a:t>Mission: </a:t>
            </a:r>
            <a:r>
              <a:rPr lang="zh-CN" altLang="en-US" sz="1800" dirty="0"/>
              <a:t>The primary mission of WIPO is to encourage and facilitate the use and protection of intellectual property around the world. It aims to balance the interests of creators and innovators with the broader public interest.</a:t>
            </a:r>
          </a:p>
          <a:p>
            <a:pPr lvl="0" algn="just" eaLnBrk="1" hangingPunct="1">
              <a:buNone/>
            </a:pPr>
            <a:endParaRPr lang="zh-CN" altLang="en-US" sz="1800" dirty="0"/>
          </a:p>
          <a:p>
            <a:pPr lvl="0" algn="just" eaLnBrk="1" hangingPunct="1">
              <a:buNone/>
            </a:pPr>
            <a:r>
              <a:rPr lang="zh-CN" altLang="en-US" sz="1800" b="1" dirty="0"/>
              <a:t>Member States:</a:t>
            </a:r>
            <a:r>
              <a:rPr lang="zh-CN" altLang="en-US" sz="1800" dirty="0"/>
              <a:t> WIPO has a large and diverse membership of countries, currently numbering over 190 member states. Member states work together to develop international treaties, agreements, and policies related to intellectual property.</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2" name="Google Shape;286;p49"/>
          <p:cNvSpPr txBox="1">
            <a:spLocks noGrp="1"/>
          </p:cNvSpPr>
          <p:nvPr>
            <p:ph type="title" idx="4294967295"/>
          </p:nvPr>
        </p:nvSpPr>
        <p:spPr>
          <a:xfrm>
            <a:off x="114300" y="157162"/>
            <a:ext cx="8520112" cy="57150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500" b="1"/>
              <a:t>Core functions of WIPO</a:t>
            </a:r>
          </a:p>
        </p:txBody>
      </p:sp>
      <p:sp>
        <p:nvSpPr>
          <p:cNvPr id="1048723" name="Google Shape;287;p49"/>
          <p:cNvSpPr txBox="1"/>
          <p:nvPr/>
        </p:nvSpPr>
        <p:spPr>
          <a:xfrm>
            <a:off x="217487" y="860425"/>
            <a:ext cx="8678862" cy="4081462"/>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Font typeface="Arial" pitchFamily="34" charset="0"/>
              <a:buChar char="•"/>
            </a:pPr>
            <a:r>
              <a:rPr lang="zh-CN" altLang="en-US" sz="2200" dirty="0"/>
              <a:t>WIPO primarily functions to promote and protect intellectual property (IP) globally. </a:t>
            </a:r>
            <a:endParaRPr lang="en-US" altLang="zh-CN" sz="2200" dirty="0" smtClean="0"/>
          </a:p>
          <a:p>
            <a:pPr lvl="0" algn="just" eaLnBrk="1" hangingPunct="1">
              <a:buFont typeface="Arial" pitchFamily="34" charset="0"/>
              <a:buChar char="•"/>
            </a:pPr>
            <a:r>
              <a:rPr lang="zh-CN" altLang="en-US" sz="2200" dirty="0" smtClean="0"/>
              <a:t>It </a:t>
            </a:r>
            <a:r>
              <a:rPr lang="zh-CN" altLang="en-US" sz="2200" dirty="0"/>
              <a:t>fosters innovation and creativity by setting international IP standards, offering services for IP registration and protection, and resolving IP disputes. </a:t>
            </a:r>
            <a:endParaRPr lang="en-US" altLang="zh-CN" sz="2200" dirty="0" smtClean="0"/>
          </a:p>
          <a:p>
            <a:pPr lvl="0" algn="just" eaLnBrk="1" hangingPunct="1">
              <a:buFont typeface="Arial" pitchFamily="34" charset="0"/>
              <a:buChar char="•"/>
            </a:pPr>
            <a:r>
              <a:rPr lang="zh-CN" altLang="en-US" sz="2200" dirty="0" smtClean="0"/>
              <a:t>WIPO </a:t>
            </a:r>
            <a:r>
              <a:rPr lang="zh-CN" altLang="en-US" sz="2200" dirty="0"/>
              <a:t>also plays a crucial role in building IP capacity in developing countries, maintains extensive IP data and information resources, and administers international IP treaties and agreements. </a:t>
            </a:r>
            <a:endParaRPr lang="en-US" altLang="zh-CN" sz="2200" dirty="0" smtClean="0"/>
          </a:p>
          <a:p>
            <a:pPr lvl="0" algn="just" eaLnBrk="1" hangingPunct="1">
              <a:buFont typeface="Arial" pitchFamily="34" charset="0"/>
              <a:buChar char="•"/>
            </a:pPr>
            <a:r>
              <a:rPr lang="zh-CN" altLang="en-US" sz="2200" dirty="0" smtClean="0"/>
              <a:t>Through </a:t>
            </a:r>
            <a:r>
              <a:rPr lang="zh-CN" altLang="en-US" sz="2200" dirty="0"/>
              <a:t>its activities, WIPO facilitates international cooperation, coordinates efforts, raises public awareness about IP, and supports technical assistance and policy development, contributing to the advancement of IP and innovation on a global scale.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6" name="Google Shape;292;p50"/>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500" b="1"/>
              <a:t>WTO </a:t>
            </a:r>
          </a:p>
        </p:txBody>
      </p:sp>
      <p:sp>
        <p:nvSpPr>
          <p:cNvPr id="1048727" name="Google Shape;293;p50"/>
          <p:cNvSpPr txBox="1"/>
          <p:nvPr/>
        </p:nvSpPr>
        <p:spPr>
          <a:xfrm>
            <a:off x="217487" y="495300"/>
            <a:ext cx="8678862" cy="44465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2000"/>
              <a:t>The </a:t>
            </a:r>
            <a:r>
              <a:rPr lang="zh-CN" altLang="en-US" sz="2000" b="1"/>
              <a:t>World Trade Organization</a:t>
            </a:r>
            <a:r>
              <a:rPr lang="zh-CN" altLang="en-US" sz="2000"/>
              <a:t> (WTO) is an international organization that deals with the global rules of trade between nations. It was established on January 1, 1995, and is headquartered in Geneva, Switzerland. The WTO is the only global international organization that deals with the global rules of trade between nations.</a:t>
            </a:r>
          </a:p>
          <a:p>
            <a:pPr lvl="0" eaLnBrk="1" hangingPunct="1">
              <a:buNone/>
            </a:pPr>
            <a:endParaRPr lang="zh-CN" altLang="en-US"/>
          </a:p>
        </p:txBody>
      </p:sp>
      <p:pic>
        <p:nvPicPr>
          <p:cNvPr id="2097173" name="Google Shape;294;p50"/>
          <p:cNvPicPr>
            <a:picLocks/>
          </p:cNvPicPr>
          <p:nvPr/>
        </p:nvPicPr>
        <p:blipFill>
          <a:blip r:embed="rId3"/>
          <a:srcRect/>
          <a:stretch>
            <a:fillRect/>
          </a:stretch>
        </p:blipFill>
        <p:spPr>
          <a:xfrm>
            <a:off x="4687887" y="2401887"/>
            <a:ext cx="4208462" cy="2368550"/>
          </a:xfrm>
          <a:prstGeom prst="rect">
            <a:avLst/>
          </a:prstGeom>
          <a:noFill/>
          <a:ln>
            <a:noFill/>
          </a:ln>
        </p:spPr>
      </p:pic>
      <p:pic>
        <p:nvPicPr>
          <p:cNvPr id="2097174" name="Google Shape;295;p50"/>
          <p:cNvPicPr>
            <a:picLocks/>
          </p:cNvPicPr>
          <p:nvPr/>
        </p:nvPicPr>
        <p:blipFill>
          <a:blip r:embed="rId4"/>
          <a:srcRect/>
          <a:stretch>
            <a:fillRect/>
          </a:stretch>
        </p:blipFill>
        <p:spPr>
          <a:xfrm>
            <a:off x="730250" y="2482850"/>
            <a:ext cx="2368550" cy="2368550"/>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0" name="Google Shape;300;p51"/>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500" b="1"/>
              <a:t>Key aspects of the WTO</a:t>
            </a:r>
          </a:p>
        </p:txBody>
      </p:sp>
      <p:sp>
        <p:nvSpPr>
          <p:cNvPr id="1048731" name="Google Shape;301;p51"/>
          <p:cNvSpPr txBox="1"/>
          <p:nvPr/>
        </p:nvSpPr>
        <p:spPr>
          <a:xfrm>
            <a:off x="217487" y="573087"/>
            <a:ext cx="8678862" cy="436880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2000" b="1"/>
              <a:t>Trade Agreements: </a:t>
            </a:r>
            <a:r>
              <a:rPr lang="zh-CN" altLang="en-US" sz="2000"/>
              <a:t>The primary goal of the WTO is to facilitate and regulate international trade. It does so by negotiating and implementing trade agreements between its member countries. These agreements cover a wide range of trade-related issues, including tariffs, non-tariff barriers, trade in services, intellectual property, and dispute resolution.</a:t>
            </a:r>
          </a:p>
          <a:p>
            <a:pPr lvl="0" algn="just" eaLnBrk="1" hangingPunct="1">
              <a:buNone/>
            </a:pPr>
            <a:endParaRPr lang="zh-CN" altLang="en-US" sz="2000"/>
          </a:p>
          <a:p>
            <a:pPr lvl="0" algn="just" eaLnBrk="1" hangingPunct="1">
              <a:buNone/>
            </a:pPr>
            <a:r>
              <a:rPr lang="zh-CN" altLang="en-US" sz="2000" b="1"/>
              <a:t>Multilateral Trade System:</a:t>
            </a:r>
            <a:r>
              <a:rPr lang="zh-CN" altLang="en-US" sz="2000"/>
              <a:t> The WTO operates on the basis of the most-favored-nation principle, which means that countries treat each other equally in trade. This principle encourages nondiscriminatory trade policies.</a:t>
            </a:r>
          </a:p>
          <a:p>
            <a:pPr lvl="0" algn="just" eaLnBrk="1" hangingPunct="1">
              <a:buNone/>
            </a:pPr>
            <a:endParaRPr lang="zh-CN" altLang="en-US" sz="2000"/>
          </a:p>
          <a:p>
            <a:pPr lvl="0" algn="just" eaLnBrk="1" hangingPunct="1">
              <a:buNone/>
            </a:pPr>
            <a:r>
              <a:rPr lang="zh-CN" altLang="en-US" sz="2000" b="1"/>
              <a:t>Non-Discrimination:</a:t>
            </a:r>
            <a:r>
              <a:rPr lang="zh-CN" altLang="en-US" sz="2000"/>
              <a:t> The WTO also upholds the principle of national treatment, which requires member countries to treat imported and domestically produced goods and services in the same way, without discrimination.</a:t>
            </a:r>
          </a:p>
          <a:p>
            <a:pPr lvl="0" eaLnBrk="1" hangingPunct="1">
              <a:buNone/>
            </a:pP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4" name="Google Shape;306;p52"/>
          <p:cNvSpPr txBox="1">
            <a:spLocks noGrp="1"/>
          </p:cNvSpPr>
          <p:nvPr>
            <p:ph type="title" idx="4294967295"/>
          </p:nvPr>
        </p:nvSpPr>
        <p:spPr>
          <a:xfrm>
            <a:off x="0" y="65087"/>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500" b="1"/>
              <a:t>Key aspects of the WTO</a:t>
            </a:r>
          </a:p>
        </p:txBody>
      </p:sp>
      <p:sp>
        <p:nvSpPr>
          <p:cNvPr id="1048735" name="Google Shape;307;p52"/>
          <p:cNvSpPr txBox="1"/>
          <p:nvPr/>
        </p:nvSpPr>
        <p:spPr>
          <a:xfrm>
            <a:off x="217487" y="571500"/>
            <a:ext cx="8678862" cy="457200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1800" b="1"/>
              <a:t>Trade Facilitation: </a:t>
            </a:r>
            <a:r>
              <a:rPr lang="zh-CN" altLang="en-US" sz="1800"/>
              <a:t>The WTO promotes the simplification and harmonization of customs procedures to facilitate trade. It encourages transparency and predictability in trade regulations.</a:t>
            </a:r>
          </a:p>
          <a:p>
            <a:pPr lvl="0" algn="just" eaLnBrk="1" hangingPunct="1">
              <a:buNone/>
            </a:pPr>
            <a:endParaRPr lang="zh-CN" altLang="en-US" sz="1800"/>
          </a:p>
          <a:p>
            <a:pPr lvl="0" algn="just" eaLnBrk="1" hangingPunct="1">
              <a:buNone/>
            </a:pPr>
            <a:r>
              <a:rPr lang="zh-CN" altLang="en-US" sz="1800" b="1"/>
              <a:t>Market Access:</a:t>
            </a:r>
            <a:r>
              <a:rPr lang="zh-CN" altLang="en-US" sz="1800"/>
              <a:t> The organization aims to reduce trade barriers, including tariffs and quotas, to provide market access to goods and services from other member countries.</a:t>
            </a:r>
          </a:p>
          <a:p>
            <a:pPr lvl="0" algn="just" eaLnBrk="1" hangingPunct="1">
              <a:buNone/>
            </a:pPr>
            <a:endParaRPr lang="zh-CN" altLang="en-US" sz="1800" b="1"/>
          </a:p>
          <a:p>
            <a:pPr lvl="0" algn="just" eaLnBrk="1" hangingPunct="1">
              <a:buNone/>
            </a:pPr>
            <a:r>
              <a:rPr lang="zh-CN" altLang="en-US" sz="1800" b="1"/>
              <a:t>Dispute Settlement:</a:t>
            </a:r>
            <a:r>
              <a:rPr lang="zh-CN" altLang="en-US" sz="1800"/>
              <a:t> The WTO has a dispute settlement mechanism to resolve trade disputes between member countries. This mechanism is designed to ensure a fair and impartial process for resolving disputes.</a:t>
            </a:r>
          </a:p>
          <a:p>
            <a:pPr lvl="0" algn="just" eaLnBrk="1" hangingPunct="1">
              <a:buNone/>
            </a:pPr>
            <a:endParaRPr lang="zh-CN" altLang="en-US" sz="1800"/>
          </a:p>
          <a:p>
            <a:pPr lvl="0" algn="just" eaLnBrk="1" hangingPunct="1">
              <a:buNone/>
            </a:pPr>
            <a:r>
              <a:rPr lang="zh-CN" altLang="en-US" sz="1800" b="1"/>
              <a:t>Intellectual Property:</a:t>
            </a:r>
            <a:r>
              <a:rPr lang="zh-CN" altLang="en-US" sz="1800"/>
              <a:t> The WTO's Agreement on Trade-Related Aspects of Intellectual Property Rights (TRIPS) establishes minimum standards for the protection of intellectual property rights, including patents, copyrights, trademarks, and trade secrets.</a:t>
            </a:r>
          </a:p>
          <a:p>
            <a:pPr lvl="0" eaLnBrk="1" hangingPunct="1">
              <a:buNone/>
            </a:pP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8" name="Google Shape;312;p53"/>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SzPct val="39000"/>
              <a:buNone/>
            </a:pPr>
            <a:r>
              <a:rPr lang="zh-CN" altLang="en-US" sz="2500" b="1"/>
              <a:t>Key aspects of the WTO</a:t>
            </a:r>
          </a:p>
        </p:txBody>
      </p:sp>
      <p:sp>
        <p:nvSpPr>
          <p:cNvPr id="1048739" name="Google Shape;313;p53"/>
          <p:cNvSpPr txBox="1"/>
          <p:nvPr/>
        </p:nvSpPr>
        <p:spPr>
          <a:xfrm>
            <a:off x="217487" y="511175"/>
            <a:ext cx="8678862" cy="4632325"/>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1500" b="1"/>
              <a:t>Development Focus:</a:t>
            </a:r>
            <a:r>
              <a:rPr lang="zh-CN" altLang="en-US" sz="1500"/>
              <a:t> The WTO recognizes the need for special and differential treatment for developing countries, taking into account their economic development needs.</a:t>
            </a:r>
          </a:p>
          <a:p>
            <a:pPr lvl="0" algn="just" eaLnBrk="1" hangingPunct="1">
              <a:buNone/>
            </a:pPr>
            <a:endParaRPr lang="zh-CN" altLang="en-US" sz="1500"/>
          </a:p>
          <a:p>
            <a:pPr lvl="0" algn="just" eaLnBrk="1" hangingPunct="1">
              <a:buNone/>
            </a:pPr>
            <a:r>
              <a:rPr lang="zh-CN" altLang="en-US" sz="1500" b="1"/>
              <a:t>Transparency and Notifications: </a:t>
            </a:r>
            <a:r>
              <a:rPr lang="zh-CN" altLang="en-US" sz="1500"/>
              <a:t>Member countries are required to notify the WTO about their trade-related policies and activities to ensure transparency and compliance with WTO rules.</a:t>
            </a:r>
          </a:p>
          <a:p>
            <a:pPr lvl="0" algn="just" eaLnBrk="1" hangingPunct="1">
              <a:buNone/>
            </a:pPr>
            <a:endParaRPr lang="zh-CN" altLang="en-US" sz="1500" b="1"/>
          </a:p>
          <a:p>
            <a:pPr lvl="0" algn="just" eaLnBrk="1" hangingPunct="1">
              <a:buNone/>
            </a:pPr>
            <a:r>
              <a:rPr lang="zh-CN" altLang="en-US" sz="1500" b="1"/>
              <a:t>Trade Policy Reviews:</a:t>
            </a:r>
            <a:r>
              <a:rPr lang="zh-CN" altLang="en-US" sz="1500"/>
              <a:t> The WTO conducts periodic reviews of member countries' trade policies to evaluate their compliance with WTO rules.</a:t>
            </a:r>
          </a:p>
          <a:p>
            <a:pPr lvl="0" algn="just" eaLnBrk="1" hangingPunct="1">
              <a:buNone/>
            </a:pPr>
            <a:endParaRPr lang="zh-CN" altLang="en-US" sz="1500"/>
          </a:p>
          <a:p>
            <a:pPr lvl="0" algn="just" eaLnBrk="1" hangingPunct="1">
              <a:buNone/>
            </a:pPr>
            <a:r>
              <a:rPr lang="zh-CN" altLang="en-US" sz="1500" b="1"/>
              <a:t>Ministerial Conferences:</a:t>
            </a:r>
            <a:r>
              <a:rPr lang="zh-CN" altLang="en-US" sz="1500"/>
              <a:t> The highest decision-making body of the WTO is the Ministerial Conference, which meets approximately every two years to make decisions on various trade-related issues.</a:t>
            </a:r>
          </a:p>
          <a:p>
            <a:pPr lvl="0" algn="just" eaLnBrk="1" hangingPunct="1">
              <a:buNone/>
            </a:pPr>
            <a:endParaRPr lang="zh-CN" altLang="en-US" sz="1500"/>
          </a:p>
          <a:p>
            <a:pPr lvl="0" algn="just" eaLnBrk="1" hangingPunct="1">
              <a:buNone/>
            </a:pPr>
            <a:r>
              <a:rPr lang="zh-CN" altLang="en-US" sz="1500" b="1"/>
              <a:t>Director-General:</a:t>
            </a:r>
            <a:r>
              <a:rPr lang="zh-CN" altLang="en-US" sz="1500"/>
              <a:t> The WTO is led by a Director-General who is responsible for the organization's day-to-day operations and administration.</a:t>
            </a:r>
          </a:p>
          <a:p>
            <a:pPr lvl="0" algn="just" eaLnBrk="1" hangingPunct="1">
              <a:buNone/>
            </a:pPr>
            <a:endParaRPr lang="zh-CN" altLang="en-US" sz="1500"/>
          </a:p>
          <a:p>
            <a:pPr lvl="0" algn="just" eaLnBrk="1" hangingPunct="1">
              <a:buNone/>
            </a:pPr>
            <a:r>
              <a:rPr lang="zh-CN" altLang="en-US" sz="1500" b="1"/>
              <a:t>Members: </a:t>
            </a:r>
            <a:r>
              <a:rPr lang="zh-CN" altLang="en-US" sz="1500"/>
              <a:t>The WTO has over 160 member countries, making it one of the largest international organizations. Member countries represent a significant portion of the global economy.</a:t>
            </a:r>
          </a:p>
          <a:p>
            <a:pPr lvl="0" eaLnBrk="1" hangingPunct="1">
              <a:buNone/>
            </a:pPr>
            <a:endParaRPr lang="zh-CN" altLang="en-US" sz="15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2" name="Google Shape;318;p54"/>
          <p:cNvSpPr txBox="1">
            <a:spLocks noGrp="1"/>
          </p:cNvSpPr>
          <p:nvPr>
            <p:ph type="title" idx="4294967295"/>
          </p:nvPr>
        </p:nvSpPr>
        <p:spPr>
          <a:xfrm>
            <a:off x="68262" y="0"/>
            <a:ext cx="8521700"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500" b="1"/>
              <a:t>WIPO and WTO</a:t>
            </a:r>
          </a:p>
        </p:txBody>
      </p:sp>
      <p:sp>
        <p:nvSpPr>
          <p:cNvPr id="1048743" name="Google Shape;319;p54"/>
          <p:cNvSpPr txBox="1"/>
          <p:nvPr/>
        </p:nvSpPr>
        <p:spPr>
          <a:xfrm>
            <a:off x="217487" y="573087"/>
            <a:ext cx="8678862" cy="436880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1500" dirty="0"/>
              <a:t>The World Trade Organization (WTO) and the World Intellectual Property Organization (WIPO) are two distinct international organizations with separate mandates, but they share a connection through their focus on </a:t>
            </a:r>
            <a:r>
              <a:rPr lang="zh-CN" altLang="en-US" sz="1500" b="1" dirty="0"/>
              <a:t>international trade and intellectual property rights (IPR).</a:t>
            </a:r>
            <a:r>
              <a:rPr lang="zh-CN" altLang="en-US" sz="1500" dirty="0"/>
              <a:t> </a:t>
            </a:r>
          </a:p>
          <a:p>
            <a:pPr lvl="0" algn="just" eaLnBrk="1" hangingPunct="1">
              <a:buNone/>
            </a:pPr>
            <a:endParaRPr lang="zh-CN" altLang="en-US" sz="1500" dirty="0"/>
          </a:p>
          <a:p>
            <a:pPr lvl="0" algn="just" eaLnBrk="1" hangingPunct="1">
              <a:buNone/>
            </a:pPr>
            <a:r>
              <a:rPr lang="zh-CN" altLang="en-US" sz="1500" b="1" dirty="0"/>
              <a:t>Distinct Organizations:</a:t>
            </a:r>
          </a:p>
          <a:p>
            <a:pPr lvl="0" algn="just" eaLnBrk="1" hangingPunct="1">
              <a:buNone/>
            </a:pPr>
            <a:endParaRPr lang="zh-CN" altLang="en-US" sz="1500" dirty="0"/>
          </a:p>
          <a:p>
            <a:pPr lvl="0" algn="just" eaLnBrk="1" hangingPunct="1">
              <a:buNone/>
            </a:pPr>
            <a:r>
              <a:rPr lang="zh-CN" altLang="en-US" sz="1500" b="1" dirty="0"/>
              <a:t>WTO:</a:t>
            </a:r>
            <a:r>
              <a:rPr lang="zh-CN" altLang="en-US" sz="1500" dirty="0"/>
              <a:t> The WTO is primarily concerned with international trade and the regulation of trade between member countries. Its core mission is to establish and enforce global trade rules to facilitate the smooth flow of goods and services across international borders.</a:t>
            </a:r>
          </a:p>
          <a:p>
            <a:pPr lvl="0" algn="just" eaLnBrk="1" hangingPunct="1">
              <a:buNone/>
            </a:pPr>
            <a:r>
              <a:rPr lang="zh-CN" altLang="en-US" sz="1500" b="1" dirty="0"/>
              <a:t>WIPO: </a:t>
            </a:r>
            <a:r>
              <a:rPr lang="zh-CN" altLang="en-US" sz="1500" dirty="0"/>
              <a:t>WIPO, on the other hand, is exclusively dedicated to intellectual property rights. Its mission is to promote and protect intellectual property rights, including patents, copyrights, trademarks, industrial designs, and more, on a global scale.</a:t>
            </a:r>
          </a:p>
          <a:p>
            <a:pPr lvl="0" algn="just" eaLnBrk="1" hangingPunct="1">
              <a:buNone/>
            </a:pPr>
            <a:r>
              <a:rPr lang="zh-CN" altLang="en-US" sz="1500" dirty="0"/>
              <a:t>Overlapping Interests:</a:t>
            </a:r>
          </a:p>
          <a:p>
            <a:pPr lvl="0" algn="just" eaLnBrk="1" hangingPunct="1">
              <a:buNone/>
            </a:pPr>
            <a:endParaRPr lang="zh-CN" altLang="en-US" sz="1500" dirty="0"/>
          </a:p>
          <a:p>
            <a:pPr lvl="0" algn="just" eaLnBrk="1" hangingPunct="1">
              <a:buNone/>
            </a:pPr>
            <a:r>
              <a:rPr lang="zh-CN" altLang="en-US" sz="1500" dirty="0"/>
              <a:t>While the primary mandates of WTO and WIPO differ, there is an overlap in their interests, particularly with respect to the Trade-Related Aspects of Intellectual Property Rights (TRIPS) Agreement. TRIPS is an international agreement administered by the WTO, and it sets minimum standards for the protection of intellectual property. The agreement covers various aspects of intellectual property, such as patents, copyrights, trademarks, and trade secrets.</a:t>
            </a:r>
          </a:p>
          <a:p>
            <a:pPr lvl="0" eaLnBrk="1" hangingPunct="1">
              <a:buNone/>
            </a:pP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6" name="Google Shape;324;p55"/>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SzPct val="39000"/>
              <a:buNone/>
            </a:pPr>
            <a:r>
              <a:rPr lang="zh-CN" altLang="en-US" sz="2500" b="1"/>
              <a:t>WIPO and WTO</a:t>
            </a:r>
          </a:p>
        </p:txBody>
      </p:sp>
      <p:sp>
        <p:nvSpPr>
          <p:cNvPr id="1048747" name="Google Shape;325;p55"/>
          <p:cNvSpPr txBox="1"/>
          <p:nvPr/>
        </p:nvSpPr>
        <p:spPr>
          <a:xfrm>
            <a:off x="217487" y="573087"/>
            <a:ext cx="8678862" cy="4570412"/>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eaLnBrk="1" hangingPunct="1">
              <a:buNone/>
            </a:pPr>
            <a:r>
              <a:rPr lang="zh-CN" altLang="en-US" sz="1500" b="1" u="sng"/>
              <a:t>TRIPS Agreement:</a:t>
            </a:r>
          </a:p>
          <a:p>
            <a:pPr lvl="0" eaLnBrk="1" hangingPunct="1">
              <a:buNone/>
            </a:pPr>
            <a:endParaRPr lang="zh-CN" altLang="en-US" sz="1500"/>
          </a:p>
          <a:p>
            <a:pPr lvl="0" eaLnBrk="1" hangingPunct="1">
              <a:buNone/>
            </a:pPr>
            <a:r>
              <a:rPr lang="zh-CN" altLang="en-US" sz="1500"/>
              <a:t>The TRIPS Agreement is a pivotal connection between the two organizations. It was negotiated under the auspices of the General Agreement on Tariffs and Trade (GATT) and later incorporated into the WTO when the WTO was established in 1995. This agreement obliges WTO member countries to adopt and enforce certain intellectual property protection standards within their national legal systems.</a:t>
            </a:r>
          </a:p>
          <a:p>
            <a:pPr lvl="0" eaLnBrk="1" hangingPunct="1">
              <a:buNone/>
            </a:pPr>
            <a:endParaRPr lang="zh-CN" altLang="en-US" sz="1500"/>
          </a:p>
          <a:p>
            <a:pPr lvl="0" eaLnBrk="1" hangingPunct="1">
              <a:buNone/>
            </a:pPr>
            <a:r>
              <a:rPr lang="zh-CN" altLang="en-US" sz="1500" b="1" u="sng"/>
              <a:t>Cooperation and Dialogue:</a:t>
            </a:r>
          </a:p>
          <a:p>
            <a:pPr lvl="0" eaLnBrk="1" hangingPunct="1">
              <a:buNone/>
            </a:pPr>
            <a:r>
              <a:rPr lang="zh-CN" altLang="en-US" sz="1500"/>
              <a:t>WTO and WIPO maintain a cooperative relationship and engage in dialogue on matters related to international trade and intellectual property. They collaborate to ensure that the TRIPS Agreement is effectively implemented and that intellectual property rights are protected and enforced in the context of international trade.</a:t>
            </a:r>
          </a:p>
          <a:p>
            <a:pPr lvl="0" eaLnBrk="1" hangingPunct="1">
              <a:buNone/>
            </a:pPr>
            <a:endParaRPr lang="zh-CN" altLang="en-US" sz="1500"/>
          </a:p>
          <a:p>
            <a:pPr lvl="0" eaLnBrk="1" hangingPunct="1">
              <a:buNone/>
            </a:pPr>
            <a:r>
              <a:rPr lang="zh-CN" altLang="en-US" sz="1500" b="1" u="sng"/>
              <a:t>Policy Coordination:</a:t>
            </a:r>
          </a:p>
          <a:p>
            <a:pPr lvl="0" eaLnBrk="1" hangingPunct="1">
              <a:buNone/>
            </a:pPr>
            <a:r>
              <a:rPr lang="zh-CN" altLang="en-US" sz="1500"/>
              <a:t>WTO member countries and WIPO member states work together to harmonize their trade and intellectual property policies. This coordination is essential to address issues related to the intersection of trade and intellectual property, including access to medicines, technology transfer, and the protection of traditional knowledge and genetic resources.</a:t>
            </a:r>
          </a:p>
          <a:p>
            <a:pPr lvl="0" eaLnBrk="1" hangingPunct="1">
              <a:buNone/>
            </a:pPr>
            <a:endParaRPr lang="zh-CN" alt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0" name="Google Shape;330;p56"/>
          <p:cNvSpPr txBox="1">
            <a:spLocks noGrp="1"/>
          </p:cNvSpPr>
          <p:nvPr>
            <p:ph type="title" idx="4294967295"/>
          </p:nvPr>
        </p:nvSpPr>
        <p:spPr>
          <a:xfrm>
            <a:off x="0" y="0"/>
            <a:ext cx="8782050" cy="809625"/>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100" b="1"/>
              <a:t>Common rules and principles of Intellectual Property Rights (IPR)</a:t>
            </a:r>
          </a:p>
        </p:txBody>
      </p:sp>
      <p:sp>
        <p:nvSpPr>
          <p:cNvPr id="1048751" name="Google Shape;331;p56"/>
          <p:cNvSpPr txBox="1"/>
          <p:nvPr/>
        </p:nvSpPr>
        <p:spPr>
          <a:xfrm>
            <a:off x="50800" y="439737"/>
            <a:ext cx="8678862" cy="4532312"/>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algn="just" eaLnBrk="1" hangingPunct="1">
              <a:buNone/>
            </a:pPr>
            <a:r>
              <a:rPr lang="zh-CN" altLang="en-US" sz="1700" b="1"/>
              <a:t>Non-Discrimination: </a:t>
            </a:r>
            <a:r>
              <a:rPr lang="zh-CN" altLang="en-US" sz="1700"/>
              <a:t>IPR should be administered without discrimination, meaning that foreign and domestic entities should be treated equally. This principle is often referred to as "national treatment" and applies to various forms of IPR, such as patents, trademarks, and copyrights.</a:t>
            </a:r>
          </a:p>
          <a:p>
            <a:pPr lvl="0" algn="just" eaLnBrk="1" hangingPunct="1">
              <a:buNone/>
            </a:pPr>
            <a:endParaRPr lang="zh-CN" altLang="en-US" sz="1700"/>
          </a:p>
          <a:p>
            <a:pPr lvl="0" algn="just" eaLnBrk="1" hangingPunct="1">
              <a:buNone/>
            </a:pPr>
            <a:r>
              <a:rPr lang="zh-CN" altLang="en-US" sz="1700" b="1"/>
              <a:t>Most-Favored-Nation Treatment:</a:t>
            </a:r>
            <a:r>
              <a:rPr lang="zh-CN" altLang="en-US" sz="1700"/>
              <a:t> The principle of most-favored-nation (MFN) treatment means that a country should treat the nationals of all other member countries equally. This principle encourages non discriminatory trade practices in the context of IPR.</a:t>
            </a:r>
          </a:p>
          <a:p>
            <a:pPr lvl="0" algn="just" eaLnBrk="1" hangingPunct="1">
              <a:buNone/>
            </a:pPr>
            <a:endParaRPr lang="zh-CN" altLang="en-US" sz="1700"/>
          </a:p>
          <a:p>
            <a:pPr lvl="0" algn="just" eaLnBrk="1" hangingPunct="1">
              <a:buNone/>
            </a:pPr>
            <a:r>
              <a:rPr lang="zh-CN" altLang="en-US" sz="1700" b="1"/>
              <a:t>Minimum Standards: </a:t>
            </a:r>
            <a:r>
              <a:rPr lang="zh-CN" altLang="en-US" sz="1700"/>
              <a:t>International agreements often establish minimum standards for the protection of intellectual property. For example, the Trade-Related Aspects of Intellectual Property Rights (TRIPS) Agreement sets out minimum standards for the protection of patents, copyrights, trademarks, and other forms of IPR.</a:t>
            </a:r>
          </a:p>
          <a:p>
            <a:pPr lvl="0" algn="just" eaLnBrk="1" hangingPunct="1">
              <a:buNone/>
            </a:pPr>
            <a:endParaRPr lang="zh-CN" altLang="en-US" sz="1700"/>
          </a:p>
          <a:p>
            <a:pPr lvl="0" algn="just" eaLnBrk="1" hangingPunct="1">
              <a:buNone/>
            </a:pPr>
            <a:r>
              <a:rPr lang="zh-CN" altLang="en-US" sz="1700" b="1"/>
              <a:t>Public Disclosure:</a:t>
            </a:r>
            <a:r>
              <a:rPr lang="zh-CN" altLang="en-US" sz="1700"/>
              <a:t> Many forms of IPR require public disclosure. For example, patent applications typically involve disclosing detailed information about an invention in exchange for exclusive rights. This disclosure contributes to the dissemination of knowledge.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4" name="Google Shape;336;p57"/>
          <p:cNvSpPr txBox="1">
            <a:spLocks noGrp="1"/>
          </p:cNvSpPr>
          <p:nvPr>
            <p:ph type="title" idx="4294967295"/>
          </p:nvPr>
        </p:nvSpPr>
        <p:spPr>
          <a:xfrm>
            <a:off x="0" y="0"/>
            <a:ext cx="8520112" cy="573087"/>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000" b="1"/>
              <a:t>Common rules and principles of Intellectual Property Rights (IPR)</a:t>
            </a:r>
          </a:p>
        </p:txBody>
      </p:sp>
      <p:sp>
        <p:nvSpPr>
          <p:cNvPr id="1048755" name="Google Shape;337;p57"/>
          <p:cNvSpPr txBox="1"/>
          <p:nvPr/>
        </p:nvSpPr>
        <p:spPr>
          <a:xfrm>
            <a:off x="34925" y="481012"/>
            <a:ext cx="8678862" cy="4581525"/>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eaLnBrk="1" hangingPunct="1">
              <a:buNone/>
            </a:pPr>
            <a:r>
              <a:rPr lang="zh-CN" altLang="en-US" sz="1700" b="1"/>
              <a:t>Term of Protection: </a:t>
            </a:r>
            <a:r>
              <a:rPr lang="zh-CN" altLang="en-US" sz="1700"/>
              <a:t>IPR protection is typically time-limited. For example, copyright protection usually lasts for the lifetime of the author plus a certain number of years. Patents have a fixed term, after which the invention enters the public domain.</a:t>
            </a:r>
          </a:p>
          <a:p>
            <a:pPr lvl="0" eaLnBrk="1" hangingPunct="1">
              <a:buNone/>
            </a:pPr>
            <a:endParaRPr lang="zh-CN" altLang="en-US" sz="1700"/>
          </a:p>
          <a:p>
            <a:pPr lvl="0" eaLnBrk="1" hangingPunct="1">
              <a:buNone/>
            </a:pPr>
            <a:r>
              <a:rPr lang="zh-CN" altLang="en-US" sz="1700" b="1"/>
              <a:t>Fair Use and Exceptions: </a:t>
            </a:r>
            <a:r>
              <a:rPr lang="zh-CN" altLang="en-US" sz="1700"/>
              <a:t>Many national laws and international agreements include provisions for fair use or exceptions to IPR protection. These provisions allow for the limited use of copyrighted works for purposes such as education, research, and criticism without infringing on the rights of the creator.</a:t>
            </a:r>
          </a:p>
          <a:p>
            <a:pPr lvl="0" eaLnBrk="1" hangingPunct="1">
              <a:buNone/>
            </a:pPr>
            <a:endParaRPr lang="zh-CN" altLang="en-US" sz="1700"/>
          </a:p>
          <a:p>
            <a:pPr lvl="0" eaLnBrk="1" hangingPunct="1">
              <a:buNone/>
            </a:pPr>
            <a:r>
              <a:rPr lang="zh-CN" altLang="en-US" sz="1700" b="1"/>
              <a:t>Enforcement: </a:t>
            </a:r>
            <a:r>
              <a:rPr lang="zh-CN" altLang="en-US" sz="1700"/>
              <a:t>Effective enforcement mechanisms are crucial for protecting IPR. This includes legal procedures for addressing IPR violations, as well as the ability to seek remedies such as injunctions and damages.</a:t>
            </a:r>
          </a:p>
          <a:p>
            <a:pPr lvl="0" eaLnBrk="1" hangingPunct="1">
              <a:buNone/>
            </a:pPr>
            <a:endParaRPr lang="zh-CN" altLang="en-US" sz="1700"/>
          </a:p>
          <a:p>
            <a:pPr lvl="0" eaLnBrk="1" hangingPunct="1">
              <a:buNone/>
            </a:pPr>
            <a:r>
              <a:rPr lang="zh-CN" altLang="en-US" sz="1700" b="1"/>
              <a:t>International Cooperation: </a:t>
            </a:r>
            <a:r>
              <a:rPr lang="zh-CN" altLang="en-US" sz="1700"/>
              <a:t>Many IPR issues are global in nature, so international cooperation is vital. International organizations like the World Intellectual Property Organization (WIPO) and the World Trade Organization (WTO) facilitate cooperation and the development of international agreements.</a:t>
            </a:r>
          </a:p>
          <a:p>
            <a:pPr lvl="0" eaLnBrk="1" hangingPunct="1">
              <a:buNone/>
            </a:pP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8" name="Google Shape;342;p58"/>
          <p:cNvSpPr txBox="1">
            <a:spLocks noGrp="1"/>
          </p:cNvSpPr>
          <p:nvPr>
            <p:ph type="title" idx="4294967295"/>
          </p:nvPr>
        </p:nvSpPr>
        <p:spPr>
          <a:xfrm>
            <a:off x="114300" y="157162"/>
            <a:ext cx="8520112" cy="57150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stStyle>
          <a:p>
            <a:pPr lvl="0" eaLnBrk="1" hangingPunct="1">
              <a:buNone/>
            </a:pPr>
            <a:r>
              <a:rPr lang="zh-CN" altLang="en-US" sz="2000" b="1"/>
              <a:t>Common rules and principles of Intellectual Property Rights (IPR)</a:t>
            </a:r>
          </a:p>
        </p:txBody>
      </p:sp>
      <p:sp>
        <p:nvSpPr>
          <p:cNvPr id="1048759" name="Google Shape;343;p58"/>
          <p:cNvSpPr txBox="1"/>
          <p:nvPr/>
        </p:nvSpPr>
        <p:spPr>
          <a:xfrm>
            <a:off x="217487" y="617537"/>
            <a:ext cx="8678862" cy="4324350"/>
          </a:xfrm>
          <a:prstGeom prst="rect">
            <a:avLst/>
          </a:prstGeom>
          <a:noFill/>
          <a:ln>
            <a:noFill/>
          </a:ln>
        </p:spPr>
        <p:txBody>
          <a:bodyPr vert="horz" lIns="91425" tIns="91425" rIns="91425" bIns="91425" anchor="t"/>
          <a:lstStyle>
            <a:lvl1pPr marL="0" indent="0" algn="l" rtl="0" eaLnBrk="0" fontAlgn="base" latinLnBrk="0" hangingPunct="0">
              <a:lnSpc>
                <a:spcPct val="100000"/>
              </a:lnSpc>
              <a:spcBef>
                <a:spcPct val="0"/>
              </a:spcBef>
              <a:spcAft>
                <a:spcPct val="0"/>
              </a:spcAft>
              <a:buClr>
                <a:srgbClr val="000000"/>
              </a:buClr>
              <a:buFont typeface="Arial" charset="0"/>
              <a:buNone/>
              <a:defRPr sz="14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 typeface="Arial" charset="0"/>
              <a:buNone/>
              <a:defRPr sz="1400" b="0" i="0" u="none" baseline="0">
                <a:solidFill>
                  <a:srgbClr val="000000"/>
                </a:solidFill>
                <a:latin typeface="Arial" charset="0"/>
                <a:ea typeface="Arial" charset="0"/>
                <a:sym typeface="Arial" charset="0"/>
              </a:defRPr>
            </a:lvl5pPr>
          </a:lstStyle>
          <a:p>
            <a:pPr lvl="0" eaLnBrk="1" hangingPunct="1">
              <a:buNone/>
            </a:pPr>
            <a:r>
              <a:rPr lang="zh-CN" altLang="en-US" sz="1700" b="1"/>
              <a:t>Technology Transfer: </a:t>
            </a:r>
            <a:r>
              <a:rPr lang="zh-CN" altLang="en-US" sz="1700"/>
              <a:t>Encouraging the transfer of technology and knowledge across borders is an important IPR practice. Licensing agreements and technology transfer arrangements help disseminate innovations.</a:t>
            </a:r>
          </a:p>
          <a:p>
            <a:pPr lvl="0" eaLnBrk="1" hangingPunct="1">
              <a:buNone/>
            </a:pPr>
            <a:endParaRPr lang="zh-CN" altLang="en-US" sz="1700"/>
          </a:p>
          <a:p>
            <a:pPr lvl="0" eaLnBrk="1" hangingPunct="1">
              <a:buNone/>
            </a:pPr>
            <a:r>
              <a:rPr lang="zh-CN" altLang="en-US" sz="1700" b="1"/>
              <a:t>Protection of Traditional Knowledge and Genetic Resources: </a:t>
            </a:r>
            <a:r>
              <a:rPr lang="zh-CN" altLang="en-US" sz="1700"/>
              <a:t>In recent years, there has been a focus on protecting traditional knowledge and genetic resources, especially in the context of biodiversity and indigenous communities.</a:t>
            </a:r>
          </a:p>
          <a:p>
            <a:pPr lvl="0" eaLnBrk="1" hangingPunct="1">
              <a:buNone/>
            </a:pPr>
            <a:endParaRPr lang="zh-CN" altLang="en-US" sz="1700"/>
          </a:p>
          <a:p>
            <a:pPr lvl="0" eaLnBrk="1" hangingPunct="1">
              <a:buNone/>
            </a:pPr>
            <a:r>
              <a:rPr lang="zh-CN" altLang="en-US" sz="1700" b="1"/>
              <a:t>Balancing Interests:</a:t>
            </a:r>
            <a:r>
              <a:rPr lang="zh-CN" altLang="en-US" sz="1700"/>
              <a:t> IPR rules aim to strike a balance between the interests of creators and inventors and the broader public interest. This balance can be particularly important in areas such as access to essential medicines and cultural heritage preservation.</a:t>
            </a:r>
          </a:p>
          <a:p>
            <a:pPr lvl="0" eaLnBrk="1" hangingPunct="1">
              <a:buNone/>
            </a:pPr>
            <a:endParaRPr lang="zh-CN" altLang="en-US" sz="1700"/>
          </a:p>
          <a:p>
            <a:pPr lvl="0" eaLnBrk="1" hangingPunct="1">
              <a:buNone/>
            </a:pPr>
            <a:r>
              <a:rPr lang="zh-CN" altLang="en-US" sz="1700" b="1"/>
              <a:t>Deterrence of Misuse: </a:t>
            </a:r>
            <a:r>
              <a:rPr lang="zh-CN" altLang="en-US" sz="1700"/>
              <a:t>Rules against the misuse of IPR are essential to prevent practices like patent trolling and copyright infringement. Laws and regulations are in place to deter and penalize such activities.</a:t>
            </a:r>
          </a:p>
          <a:p>
            <a:pPr lvl="0" eaLnBrk="1" hangingPunct="1">
              <a:buNone/>
            </a:pPr>
            <a:endParaRPr lang="zh-CN" altLang="en-US"/>
          </a:p>
        </p:txBody>
      </p:sp>
    </p:spTree>
  </p:cSld>
  <p:clrMapOvr>
    <a:masterClrMapping/>
  </p:clrMapOvr>
</p:sld>
</file>

<file path=ppt/theme/theme1.xml><?xml version="1.0" encoding="utf-8"?>
<a:theme xmlns:a="http://schemas.openxmlformats.org/drawingml/2006/main" name="Office 主题">
  <a:themeElements>
    <a:clrScheme name="Default Color Scheme">
      <a:dk1>
        <a:srgbClr val="000000"/>
      </a:dk1>
      <a:lt1>
        <a:srgbClr val="FFFFFF"/>
      </a:lt1>
      <a:dk2>
        <a:srgbClr val="595959"/>
      </a:dk2>
      <a:lt2>
        <a:srgbClr val="EEEEEE"/>
      </a:lt2>
      <a:accent1>
        <a:srgbClr val="4285F4"/>
      </a:accent1>
      <a:accent2>
        <a:srgbClr val="212121"/>
      </a:accent2>
      <a:accent3>
        <a:srgbClr val="FFFFFF"/>
      </a:accent3>
      <a:accent4>
        <a:srgbClr val="000000"/>
      </a:accent4>
      <a:accent5>
        <a:srgbClr val="B0C3F8"/>
      </a:accent5>
      <a:accent6>
        <a:srgbClr val="1D1D1D"/>
      </a:accent6>
      <a:hlink>
        <a:srgbClr val="0097A7"/>
      </a:hlink>
      <a:folHlink>
        <a:srgbClr val="0097A7"/>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595959"/>
        </a:dk2>
        <a:lt2>
          <a:srgbClr val="EEEEEE"/>
        </a:lt2>
        <a:accent1>
          <a:srgbClr val="4285F4"/>
        </a:accent1>
        <a:accent2>
          <a:srgbClr val="212121"/>
        </a:accent2>
        <a:accent3>
          <a:srgbClr val="FFFFFF"/>
        </a:accent3>
        <a:accent4>
          <a:srgbClr val="000000"/>
        </a:accent4>
        <a:accent5>
          <a:srgbClr val="B0C3F8"/>
        </a:accent5>
        <a:accent6>
          <a:srgbClr val="1D1D1D"/>
        </a:accent6>
        <a:hlink>
          <a:srgbClr val="0097A7"/>
        </a:hlink>
        <a:folHlink>
          <a:srgbClr val="0097A7"/>
        </a:folHlink>
      </a:clrScheme>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2692</Words>
  <PresentationFormat>On-screen Show (16:9)</PresentationFormat>
  <Paragraphs>166</Paragraphs>
  <Slides>19</Slides>
  <Notes>19</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Office 主题</vt:lpstr>
      <vt:lpstr>Applicability of IPR</vt:lpstr>
      <vt:lpstr>IPR and Biodiversity</vt:lpstr>
      <vt:lpstr>IPR and Biodiversity</vt:lpstr>
      <vt:lpstr>IPR and Biodiversity</vt:lpstr>
      <vt:lpstr>IPR development process</vt:lpstr>
      <vt:lpstr>IPR development process</vt:lpstr>
      <vt:lpstr>IPR development process</vt:lpstr>
      <vt:lpstr>IPR development process</vt:lpstr>
      <vt:lpstr>WIPO</vt:lpstr>
      <vt:lpstr>Core functions of WIPO</vt:lpstr>
      <vt:lpstr>WTO </vt:lpstr>
      <vt:lpstr>Key aspects of the WTO</vt:lpstr>
      <vt:lpstr>Key aspects of the WTO</vt:lpstr>
      <vt:lpstr>Key aspects of the WTO</vt:lpstr>
      <vt:lpstr>WIPO and WTO</vt:lpstr>
      <vt:lpstr>WIPO and WTO</vt:lpstr>
      <vt:lpstr>Common rules and principles of Intellectual Property Rights (IPR)</vt:lpstr>
      <vt:lpstr>Common rules and principles of Intellectual Property Rights (IPR)</vt:lpstr>
      <vt:lpstr>Common rules and principles of Intellectual Property Rights (IPR)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INTELLECTUAL PROPERTY RIGHTS</dc:title>
  <dc:creator>audcse</dc:creator>
  <cp:lastModifiedBy>A</cp:lastModifiedBy>
  <cp:revision>6</cp:revision>
  <dcterms:created xsi:type="dcterms:W3CDTF">2025-11-12T08:41:55Z</dcterms:created>
  <dcterms:modified xsi:type="dcterms:W3CDTF">2025-11-25T18:27:45Z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80bbe58184ce4b60914427fefaef48c4</vt:lpwstr>
  </property>
</Properties>
</file>